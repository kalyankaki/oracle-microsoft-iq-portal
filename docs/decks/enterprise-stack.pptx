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41448" cy="109728"/>
          </a:xfrm>
          <a:prstGeom prst="rect">
            <a:avLst/>
          </a:prstGeom>
          <a:solidFill>
            <a:srgbClr val="0FA8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41448" y="0"/>
            <a:ext cx="2441448" cy="109728"/>
          </a:xfrm>
          <a:prstGeom prst="rect">
            <a:avLst/>
          </a:prstGeom>
          <a:solidFill>
            <a:srgbClr val="E0A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873752" y="0"/>
            <a:ext cx="2441448" cy="1097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0" y="0"/>
            <a:ext cx="2441448" cy="109728"/>
          </a:xfrm>
          <a:prstGeom prst="rect">
            <a:avLst/>
          </a:prstGeom>
          <a:solidFill>
            <a:srgbClr val="6A4C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56648" y="0"/>
            <a:ext cx="2441448" cy="109728"/>
          </a:xfrm>
          <a:prstGeom prst="rect">
            <a:avLst/>
          </a:prstGeom>
          <a:solidFill>
            <a:srgbClr val="C746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502920"/>
            <a:ext cx="10972800" cy="365760"/>
          </a:xfrm>
          <a:prstGeom prst="rect">
            <a:avLst/>
          </a:prstGeom>
          <a:noFill/>
        </p:spPr>
        <p:txBody>
          <a:bodyPr wrap="square" anchor="t" lIns="45720" rIns="45720" tIns="18288" bIns="18288">
            <a:spAutoFit/>
          </a:bodyPr>
          <a:lstStyle/>
          <a:p>
            <a:pPr algn="l"/>
            <a:r>
              <a:rPr sz="1100" b="0" i="0">
                <a:solidFill>
                  <a:srgbClr val="64748B"/>
                </a:solidFill>
                <a:latin typeface="Consolas"/>
              </a:rPr>
              <a:t>ENTERPRISE AGENTIC STACK  ·  ORACLE × MICROSOFT  ·  END-TO-END</a:t>
            </a:r>
          </a:p>
        </p:txBody>
      </p:sp>
      <p:sp>
        <p:nvSpPr>
          <p:cNvPr id="9" name="TextBox 8"/>
          <p:cNvSpPr txBox="1"/>
          <p:nvPr/>
        </p:nvSpPr>
        <p:spPr>
          <a:xfrm>
            <a:off x="548640" y="1097280"/>
            <a:ext cx="10972800" cy="2926080"/>
          </a:xfrm>
          <a:prstGeom prst="rect">
            <a:avLst/>
          </a:prstGeom>
          <a:noFill/>
        </p:spPr>
        <p:txBody>
          <a:bodyPr wrap="square" anchor="t" lIns="45720" rIns="45720" tIns="18288" bIns="18288">
            <a:spAutoFit/>
          </a:bodyPr>
          <a:lstStyle/>
          <a:p>
            <a:pPr algn="l"/>
            <a:r>
              <a:rPr sz="4200" b="1" i="0">
                <a:solidFill>
                  <a:srgbClr val="0B1220"/>
                </a:solidFill>
                <a:latin typeface="Calibri"/>
              </a:rPr>
              <a:t>The agentic stack from
worker to data — layer by layer.</a:t>
            </a:r>
          </a:p>
        </p:txBody>
      </p:sp>
      <p:sp>
        <p:nvSpPr>
          <p:cNvPr id="10" name="TextBox 9"/>
          <p:cNvSpPr txBox="1"/>
          <p:nvPr/>
        </p:nvSpPr>
        <p:spPr>
          <a:xfrm>
            <a:off x="548640" y="4023360"/>
            <a:ext cx="10972800" cy="1828800"/>
          </a:xfrm>
          <a:prstGeom prst="rect">
            <a:avLst/>
          </a:prstGeom>
          <a:noFill/>
        </p:spPr>
        <p:txBody>
          <a:bodyPr wrap="square" anchor="t" lIns="45720" rIns="45720" tIns="18288" bIns="18288">
            <a:spAutoFit/>
          </a:bodyPr>
          <a:lstStyle/>
          <a:p>
            <a:pPr algn="l"/>
            <a:r>
              <a:rPr sz="1700" b="0" i="0">
                <a:solidFill>
                  <a:srgbClr val="334155"/>
                </a:solidFill>
                <a:latin typeface="Calibri"/>
              </a:rPr>
              <a:t>Five layers and one AIOps foundation that together make Azure the best place to run Oracle workloads.
Microsoft Copilot at the worker surface. The IQ layer in the middle. Oracle data of record at the base. AIOps agents — distributed across Microsoft infra and Oracle infra — power the whole stack.</a:t>
            </a:r>
          </a:p>
        </p:txBody>
      </p:sp>
      <p:sp>
        <p:nvSpPr>
          <p:cNvPr id="11" name="Rectangle 10"/>
          <p:cNvSpPr/>
          <p:nvPr/>
        </p:nvSpPr>
        <p:spPr>
          <a:xfrm>
            <a:off x="0" y="6492240"/>
            <a:ext cx="12191695" cy="365760"/>
          </a:xfrm>
          <a:prstGeom prst="rect">
            <a:avLst/>
          </a:prstGeom>
          <a:solidFill>
            <a:srgbClr val="EF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537960"/>
            <a:ext cx="10972800" cy="292608"/>
          </a:xfrm>
          <a:prstGeom prst="rect">
            <a:avLst/>
          </a:prstGeom>
          <a:noFill/>
        </p:spPr>
        <p:txBody>
          <a:bodyPr wrap="square" anchor="t" lIns="45720" rIns="45720" tIns="18288" bIns="18288">
            <a:spAutoFit/>
          </a:bodyPr>
          <a:lstStyle/>
          <a:p>
            <a:pPr algn="l"/>
            <a:r>
              <a:rPr sz="1000" b="0" i="0">
                <a:solidFill>
                  <a:srgbClr val="64748B"/>
                </a:solidFill>
                <a:latin typeface="Consolas"/>
              </a:rPr>
              <a:t>Designed to drop into exec presentations on light slide masters.  ·  See companion slide for the full layer cake.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1247120" cy="292608"/>
          </a:xfrm>
          <a:prstGeom prst="rect">
            <a:avLst/>
          </a:prstGeom>
          <a:noFill/>
        </p:spPr>
        <p:txBody>
          <a:bodyPr wrap="square" anchor="t" lIns="45720" rIns="45720" tIns="18288" bIns="18288">
            <a:spAutoFit/>
          </a:bodyPr>
          <a:lstStyle/>
          <a:p>
            <a:pPr algn="l"/>
            <a:r>
              <a:rPr sz="1100" b="0" i="0">
                <a:solidFill>
                  <a:srgbClr val="64748B"/>
                </a:solidFill>
                <a:latin typeface="Consolas"/>
              </a:rPr>
              <a:t>ENTERPRISE AGENTIC STACK  ·  LAYER CAKE FROM WORKER TO DATA</a:t>
            </a:r>
          </a:p>
        </p:txBody>
      </p:sp>
      <p:sp>
        <p:nvSpPr>
          <p:cNvPr id="4" name="TextBox 3"/>
          <p:cNvSpPr txBox="1"/>
          <p:nvPr/>
        </p:nvSpPr>
        <p:spPr>
          <a:xfrm>
            <a:off x="457200" y="548640"/>
            <a:ext cx="11247120" cy="502920"/>
          </a:xfrm>
          <a:prstGeom prst="rect">
            <a:avLst/>
          </a:prstGeom>
          <a:noFill/>
        </p:spPr>
        <p:txBody>
          <a:bodyPr wrap="square" anchor="t" lIns="45720" rIns="45720" tIns="18288" bIns="18288">
            <a:spAutoFit/>
          </a:bodyPr>
          <a:lstStyle/>
          <a:p>
            <a:pPr algn="l"/>
            <a:r>
              <a:rPr sz="2200" b="1" i="0">
                <a:solidFill>
                  <a:srgbClr val="0B1220"/>
                </a:solidFill>
                <a:latin typeface="Calibri"/>
              </a:rPr>
              <a:t>The complete end-to-end stack — Oracle data, Microsoft agents.</a:t>
            </a:r>
          </a:p>
        </p:txBody>
      </p:sp>
      <p:sp>
        <p:nvSpPr>
          <p:cNvPr id="5" name="Rounded Rectangle 4"/>
          <p:cNvSpPr/>
          <p:nvPr/>
        </p:nvSpPr>
        <p:spPr>
          <a:xfrm>
            <a:off x="457200" y="1188720"/>
            <a:ext cx="11247120" cy="868680"/>
          </a:xfrm>
          <a:prstGeom prst="roundRect">
            <a:avLst>
              <a:gd name="adj" fmla="val 6000"/>
            </a:avLst>
          </a:prstGeom>
          <a:solidFill>
            <a:srgbClr val="0FA89B"/>
          </a:solidFill>
          <a:ln w="19050">
            <a:solidFill>
              <a:srgbClr val="0FA8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67512" y="1421892"/>
            <a:ext cx="402336" cy="402336"/>
          </a:xfrm>
          <a:prstGeom prst="ellipse">
            <a:avLst/>
          </a:prstGeom>
          <a:solidFill>
            <a:srgbClr val="0FA89B"/>
          </a:solidFill>
          <a:ln w="12700">
            <a:solidFill>
              <a:srgbClr val="0FA89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onsolas"/>
              </a:rPr>
              <a:t>1</a:t>
            </a:r>
          </a:p>
        </p:txBody>
      </p:sp>
      <p:sp>
        <p:nvSpPr>
          <p:cNvPr id="7" name="TextBox 6"/>
          <p:cNvSpPr txBox="1"/>
          <p:nvPr/>
        </p:nvSpPr>
        <p:spPr>
          <a:xfrm>
            <a:off x="1234440" y="1298448"/>
            <a:ext cx="2651760" cy="256032"/>
          </a:xfrm>
          <a:prstGeom prst="rect">
            <a:avLst/>
          </a:prstGeom>
          <a:noFill/>
        </p:spPr>
        <p:txBody>
          <a:bodyPr wrap="square" anchor="t" lIns="45720" rIns="45720" tIns="18288" bIns="18288">
            <a:spAutoFit/>
          </a:bodyPr>
          <a:lstStyle/>
          <a:p>
            <a:pPr algn="l"/>
            <a:r>
              <a:rPr sz="950" b="1" i="0">
                <a:solidFill>
                  <a:srgbClr val="0C7068"/>
                </a:solidFill>
                <a:latin typeface="Consolas"/>
              </a:rPr>
              <a:t>LAYER 1 · AGENTIC BUSINESS PROCESS</a:t>
            </a:r>
          </a:p>
        </p:txBody>
      </p:sp>
      <p:sp>
        <p:nvSpPr>
          <p:cNvPr id="8" name="TextBox 7"/>
          <p:cNvSpPr txBox="1"/>
          <p:nvPr/>
        </p:nvSpPr>
        <p:spPr>
          <a:xfrm>
            <a:off x="1234440" y="1554480"/>
            <a:ext cx="2651760" cy="502920"/>
          </a:xfrm>
          <a:prstGeom prst="rect">
            <a:avLst/>
          </a:prstGeom>
          <a:noFill/>
        </p:spPr>
        <p:txBody>
          <a:bodyPr wrap="square" anchor="t" lIns="45720" rIns="45720" tIns="18288" bIns="18288">
            <a:spAutoFit/>
          </a:bodyPr>
          <a:lstStyle/>
          <a:p>
            <a:pPr algn="l"/>
            <a:r>
              <a:rPr sz="1350" b="1" i="0">
                <a:solidFill>
                  <a:srgbClr val="0B1220"/>
                </a:solidFill>
                <a:latin typeface="Calibri"/>
              </a:rPr>
              <a:t>Microsoft Copilot + AI applications</a:t>
            </a:r>
          </a:p>
        </p:txBody>
      </p:sp>
      <p:sp>
        <p:nvSpPr>
          <p:cNvPr id="9" name="Rounded Rectangle 8"/>
          <p:cNvSpPr/>
          <p:nvPr/>
        </p:nvSpPr>
        <p:spPr>
          <a:xfrm>
            <a:off x="3703320" y="1458468"/>
            <a:ext cx="1485900" cy="329184"/>
          </a:xfrm>
          <a:prstGeom prst="roundRect">
            <a:avLst>
              <a:gd name="adj" fmla="val 50000"/>
            </a:avLst>
          </a:prstGeom>
          <a:solidFill>
            <a:srgbClr val="0FA89B"/>
          </a:solidFill>
          <a:ln w="9525">
            <a:solidFill>
              <a:srgbClr val="0FA89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Microsoft Copilot</a:t>
            </a:r>
          </a:p>
        </p:txBody>
      </p:sp>
      <p:sp>
        <p:nvSpPr>
          <p:cNvPr id="10" name="Rounded Rectangle 9"/>
          <p:cNvSpPr/>
          <p:nvPr/>
        </p:nvSpPr>
        <p:spPr>
          <a:xfrm>
            <a:off x="5280660" y="1458468"/>
            <a:ext cx="1252728" cy="329184"/>
          </a:xfrm>
          <a:prstGeom prst="roundRect">
            <a:avLst>
              <a:gd name="adj" fmla="val 50000"/>
            </a:avLst>
          </a:prstGeom>
          <a:solidFill>
            <a:srgbClr val="0FA89B"/>
          </a:solidFill>
          <a:ln w="9525">
            <a:solidFill>
              <a:srgbClr val="0FA89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Custom AI apps</a:t>
            </a:r>
          </a:p>
        </p:txBody>
      </p:sp>
      <p:sp>
        <p:nvSpPr>
          <p:cNvPr id="11" name="Rounded Rectangle 10"/>
          <p:cNvSpPr/>
          <p:nvPr/>
        </p:nvSpPr>
        <p:spPr>
          <a:xfrm>
            <a:off x="6624828" y="1458468"/>
            <a:ext cx="1563624" cy="329184"/>
          </a:xfrm>
          <a:prstGeom prst="roundRect">
            <a:avLst>
              <a:gd name="adj" fmla="val 50000"/>
            </a:avLst>
          </a:prstGeom>
          <a:solidFill>
            <a:srgbClr val="0FA89B"/>
          </a:solidFill>
          <a:ln w="9525">
            <a:solidFill>
              <a:srgbClr val="0FA89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Industry workflows</a:t>
            </a:r>
          </a:p>
        </p:txBody>
      </p:sp>
      <p:sp>
        <p:nvSpPr>
          <p:cNvPr id="12" name="Rounded Rectangle 11"/>
          <p:cNvSpPr/>
          <p:nvPr/>
        </p:nvSpPr>
        <p:spPr>
          <a:xfrm>
            <a:off x="8279892" y="1458468"/>
            <a:ext cx="1485900" cy="329184"/>
          </a:xfrm>
          <a:prstGeom prst="roundRect">
            <a:avLst>
              <a:gd name="adj" fmla="val 50000"/>
            </a:avLst>
          </a:prstGeom>
          <a:solidFill>
            <a:srgbClr val="0FA89B"/>
          </a:solidFill>
          <a:ln w="9525">
            <a:solidFill>
              <a:srgbClr val="0FA89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Field-worker apps</a:t>
            </a:r>
          </a:p>
        </p:txBody>
      </p:sp>
      <p:sp>
        <p:nvSpPr>
          <p:cNvPr id="13" name="Rounded Rectangle 12"/>
          <p:cNvSpPr/>
          <p:nvPr/>
        </p:nvSpPr>
        <p:spPr>
          <a:xfrm>
            <a:off x="9857232" y="1458468"/>
            <a:ext cx="1563624" cy="329184"/>
          </a:xfrm>
          <a:prstGeom prst="roundRect">
            <a:avLst>
              <a:gd name="adj" fmla="val 50000"/>
            </a:avLst>
          </a:prstGeom>
          <a:solidFill>
            <a:srgbClr val="0FA89B"/>
          </a:solidFill>
          <a:ln w="9525">
            <a:solidFill>
              <a:srgbClr val="0FA89B"/>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Copilot extensions</a:t>
            </a:r>
          </a:p>
        </p:txBody>
      </p:sp>
      <p:sp>
        <p:nvSpPr>
          <p:cNvPr id="14" name="Rounded Rectangle 13"/>
          <p:cNvSpPr/>
          <p:nvPr/>
        </p:nvSpPr>
        <p:spPr>
          <a:xfrm>
            <a:off x="457200" y="2130552"/>
            <a:ext cx="11247120" cy="868680"/>
          </a:xfrm>
          <a:prstGeom prst="roundRect">
            <a:avLst>
              <a:gd name="adj" fmla="val 6000"/>
            </a:avLst>
          </a:prstGeom>
          <a:solidFill>
            <a:srgbClr val="E0A800"/>
          </a:solidFill>
          <a:ln w="1905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67512" y="2363724"/>
            <a:ext cx="402336" cy="402336"/>
          </a:xfrm>
          <a:prstGeom prst="ellipse">
            <a:avLst/>
          </a:prstGeom>
          <a:solidFill>
            <a:srgbClr val="E0A800"/>
          </a:solidFill>
          <a:ln w="12700">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onsolas"/>
              </a:rPr>
              <a:t>2</a:t>
            </a:r>
          </a:p>
        </p:txBody>
      </p:sp>
      <p:sp>
        <p:nvSpPr>
          <p:cNvPr id="16" name="TextBox 15"/>
          <p:cNvSpPr txBox="1"/>
          <p:nvPr/>
        </p:nvSpPr>
        <p:spPr>
          <a:xfrm>
            <a:off x="1234440" y="2240280"/>
            <a:ext cx="2651760" cy="256032"/>
          </a:xfrm>
          <a:prstGeom prst="rect">
            <a:avLst/>
          </a:prstGeom>
          <a:noFill/>
        </p:spPr>
        <p:txBody>
          <a:bodyPr wrap="square" anchor="t" lIns="45720" rIns="45720" tIns="18288" bIns="18288">
            <a:spAutoFit/>
          </a:bodyPr>
          <a:lstStyle/>
          <a:p>
            <a:pPr algn="l"/>
            <a:r>
              <a:rPr sz="950" b="1" i="0">
                <a:solidFill>
                  <a:srgbClr val="9A7300"/>
                </a:solidFill>
                <a:latin typeface="Consolas"/>
              </a:rPr>
              <a:t>LAYER 2 · INTELLIGENCE</a:t>
            </a:r>
          </a:p>
        </p:txBody>
      </p:sp>
      <p:sp>
        <p:nvSpPr>
          <p:cNvPr id="17" name="TextBox 16"/>
          <p:cNvSpPr txBox="1"/>
          <p:nvPr/>
        </p:nvSpPr>
        <p:spPr>
          <a:xfrm>
            <a:off x="1234440" y="2496312"/>
            <a:ext cx="2651760" cy="502920"/>
          </a:xfrm>
          <a:prstGeom prst="rect">
            <a:avLst/>
          </a:prstGeom>
          <a:noFill/>
        </p:spPr>
        <p:txBody>
          <a:bodyPr wrap="square" anchor="t" lIns="45720" rIns="45720" tIns="18288" bIns="18288">
            <a:spAutoFit/>
          </a:bodyPr>
          <a:lstStyle/>
          <a:p>
            <a:pPr algn="l"/>
            <a:r>
              <a:rPr sz="1350" b="1" i="0">
                <a:solidFill>
                  <a:srgbClr val="0B1220"/>
                </a:solidFill>
                <a:latin typeface="Calibri"/>
              </a:rPr>
              <a:t>The IQ layer — Fabric IQ · Foundry IQ · Work IQ</a:t>
            </a:r>
          </a:p>
        </p:txBody>
      </p:sp>
      <p:sp>
        <p:nvSpPr>
          <p:cNvPr id="18" name="Rounded Rectangle 17"/>
          <p:cNvSpPr/>
          <p:nvPr/>
        </p:nvSpPr>
        <p:spPr>
          <a:xfrm>
            <a:off x="3703320" y="2400300"/>
            <a:ext cx="1582138" cy="329184"/>
          </a:xfrm>
          <a:prstGeom prst="roundRect">
            <a:avLst>
              <a:gd name="adj" fmla="val 50000"/>
            </a:avLst>
          </a:prstGeom>
          <a:solidFill>
            <a:srgbClr val="E0A800"/>
          </a:solidFill>
          <a:ln w="9525">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Fabric IQ · semantic</a:t>
            </a:r>
          </a:p>
        </p:txBody>
      </p:sp>
      <p:sp>
        <p:nvSpPr>
          <p:cNvPr id="19" name="Rounded Rectangle 18"/>
          <p:cNvSpPr/>
          <p:nvPr/>
        </p:nvSpPr>
        <p:spPr>
          <a:xfrm>
            <a:off x="5376898" y="2400300"/>
            <a:ext cx="1725204" cy="329184"/>
          </a:xfrm>
          <a:prstGeom prst="roundRect">
            <a:avLst>
              <a:gd name="adj" fmla="val 50000"/>
            </a:avLst>
          </a:prstGeom>
          <a:solidFill>
            <a:srgbClr val="E0A800"/>
          </a:solidFill>
          <a:ln w="9525">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Foundry IQ · reasoning</a:t>
            </a:r>
          </a:p>
        </p:txBody>
      </p:sp>
      <p:sp>
        <p:nvSpPr>
          <p:cNvPr id="20" name="Rounded Rectangle 19"/>
          <p:cNvSpPr/>
          <p:nvPr/>
        </p:nvSpPr>
        <p:spPr>
          <a:xfrm>
            <a:off x="7193542" y="2400300"/>
            <a:ext cx="1582138" cy="329184"/>
          </a:xfrm>
          <a:prstGeom prst="roundRect">
            <a:avLst>
              <a:gd name="adj" fmla="val 50000"/>
            </a:avLst>
          </a:prstGeom>
          <a:solidFill>
            <a:srgbClr val="E0A800"/>
          </a:solidFill>
          <a:ln w="9525">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Work IQ · M365 Graph</a:t>
            </a:r>
          </a:p>
        </p:txBody>
      </p:sp>
      <p:sp>
        <p:nvSpPr>
          <p:cNvPr id="21" name="Rounded Rectangle 20"/>
          <p:cNvSpPr/>
          <p:nvPr/>
        </p:nvSpPr>
        <p:spPr>
          <a:xfrm>
            <a:off x="8867120" y="2400300"/>
            <a:ext cx="1224474" cy="329184"/>
          </a:xfrm>
          <a:prstGeom prst="roundRect">
            <a:avLst>
              <a:gd name="adj" fmla="val 50000"/>
            </a:avLst>
          </a:prstGeom>
          <a:solidFill>
            <a:srgbClr val="E0A800"/>
          </a:solidFill>
          <a:ln w="9525">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Ontology Bridge</a:t>
            </a:r>
          </a:p>
        </p:txBody>
      </p:sp>
      <p:sp>
        <p:nvSpPr>
          <p:cNvPr id="22" name="Rounded Rectangle 21"/>
          <p:cNvSpPr/>
          <p:nvPr/>
        </p:nvSpPr>
        <p:spPr>
          <a:xfrm>
            <a:off x="10183034" y="2400300"/>
            <a:ext cx="1367539" cy="329184"/>
          </a:xfrm>
          <a:prstGeom prst="roundRect">
            <a:avLst>
              <a:gd name="adj" fmla="val 50000"/>
            </a:avLst>
          </a:prstGeom>
          <a:solidFill>
            <a:srgbClr val="E0A800"/>
          </a:solidFill>
          <a:ln w="9525">
            <a:solidFill>
              <a:srgbClr val="E0A800"/>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Governance Bridge</a:t>
            </a:r>
          </a:p>
        </p:txBody>
      </p:sp>
      <p:sp>
        <p:nvSpPr>
          <p:cNvPr id="23" name="Rounded Rectangle 22"/>
          <p:cNvSpPr/>
          <p:nvPr/>
        </p:nvSpPr>
        <p:spPr>
          <a:xfrm>
            <a:off x="457200" y="3072384"/>
            <a:ext cx="11247120" cy="868680"/>
          </a:xfrm>
          <a:prstGeom prst="roundRect">
            <a:avLst>
              <a:gd name="adj" fmla="val 6000"/>
            </a:avLst>
          </a:prstGeom>
          <a:solidFill>
            <a:srgbClr val="0078D4"/>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67512" y="3305556"/>
            <a:ext cx="402336" cy="402336"/>
          </a:xfrm>
          <a:prstGeom prst="ellipse">
            <a:avLst/>
          </a:prstGeom>
          <a:solidFill>
            <a:srgbClr val="0078D4"/>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onsolas"/>
              </a:rPr>
              <a:t>3</a:t>
            </a:r>
          </a:p>
        </p:txBody>
      </p:sp>
      <p:sp>
        <p:nvSpPr>
          <p:cNvPr id="25" name="TextBox 24"/>
          <p:cNvSpPr txBox="1"/>
          <p:nvPr/>
        </p:nvSpPr>
        <p:spPr>
          <a:xfrm>
            <a:off x="1234440" y="3182112"/>
            <a:ext cx="2651760" cy="256032"/>
          </a:xfrm>
          <a:prstGeom prst="rect">
            <a:avLst/>
          </a:prstGeom>
          <a:noFill/>
        </p:spPr>
        <p:txBody>
          <a:bodyPr wrap="square" anchor="t" lIns="45720" rIns="45720" tIns="18288" bIns="18288">
            <a:spAutoFit/>
          </a:bodyPr>
          <a:lstStyle/>
          <a:p>
            <a:pPr algn="l"/>
            <a:r>
              <a:rPr sz="950" b="1" i="0">
                <a:solidFill>
                  <a:srgbClr val="004F8B"/>
                </a:solidFill>
                <a:latin typeface="Consolas"/>
              </a:rPr>
              <a:t>LAYER 3 · IMPLEMENTATION</a:t>
            </a:r>
          </a:p>
        </p:txBody>
      </p:sp>
      <p:sp>
        <p:nvSpPr>
          <p:cNvPr id="26" name="TextBox 25"/>
          <p:cNvSpPr txBox="1"/>
          <p:nvPr/>
        </p:nvSpPr>
        <p:spPr>
          <a:xfrm>
            <a:off x="1234440" y="3438144"/>
            <a:ext cx="2651760" cy="502920"/>
          </a:xfrm>
          <a:prstGeom prst="rect">
            <a:avLst/>
          </a:prstGeom>
          <a:noFill/>
        </p:spPr>
        <p:txBody>
          <a:bodyPr wrap="square" anchor="t" lIns="45720" rIns="45720" tIns="18288" bIns="18288">
            <a:spAutoFit/>
          </a:bodyPr>
          <a:lstStyle/>
          <a:p>
            <a:pPr algn="l"/>
            <a:r>
              <a:rPr sz="1350" b="1" i="0">
                <a:solidFill>
                  <a:srgbClr val="0B1220"/>
                </a:solidFill>
                <a:latin typeface="Calibri"/>
              </a:rPr>
              <a:t>Microsoft AI + cloud services that power this</a:t>
            </a:r>
          </a:p>
        </p:txBody>
      </p:sp>
      <p:sp>
        <p:nvSpPr>
          <p:cNvPr id="27" name="Rounded Rectangle 26"/>
          <p:cNvSpPr/>
          <p:nvPr/>
        </p:nvSpPr>
        <p:spPr>
          <a:xfrm>
            <a:off x="3703320" y="3342132"/>
            <a:ext cx="1504865" cy="329184"/>
          </a:xfrm>
          <a:prstGeom prst="roundRect">
            <a:avLst>
              <a:gd name="adj" fmla="val 50000"/>
            </a:avLst>
          </a:prstGeom>
          <a:solidFill>
            <a:srgbClr val="0078D4"/>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Microsoft Agent Framework</a:t>
            </a:r>
          </a:p>
        </p:txBody>
      </p:sp>
      <p:sp>
        <p:nvSpPr>
          <p:cNvPr id="28" name="Rounded Rectangle 27"/>
          <p:cNvSpPr/>
          <p:nvPr/>
        </p:nvSpPr>
        <p:spPr>
          <a:xfrm>
            <a:off x="5299625" y="3342132"/>
            <a:ext cx="1005420" cy="329184"/>
          </a:xfrm>
          <a:prstGeom prst="roundRect">
            <a:avLst>
              <a:gd name="adj" fmla="val 50000"/>
            </a:avLst>
          </a:prstGeom>
          <a:solidFill>
            <a:srgbClr val="0078D4"/>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Azure AI Foundry</a:t>
            </a:r>
          </a:p>
        </p:txBody>
      </p:sp>
      <p:sp>
        <p:nvSpPr>
          <p:cNvPr id="29" name="Rounded Rectangle 28"/>
          <p:cNvSpPr/>
          <p:nvPr/>
        </p:nvSpPr>
        <p:spPr>
          <a:xfrm>
            <a:off x="6396485" y="3342132"/>
            <a:ext cx="1171901" cy="329184"/>
          </a:xfrm>
          <a:prstGeom prst="roundRect">
            <a:avLst>
              <a:gd name="adj" fmla="val 50000"/>
            </a:avLst>
          </a:prstGeom>
          <a:solidFill>
            <a:srgbClr val="0078D4"/>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Microsoft Agent 365</a:t>
            </a:r>
          </a:p>
        </p:txBody>
      </p:sp>
      <p:sp>
        <p:nvSpPr>
          <p:cNvPr id="30" name="Rounded Rectangle 29"/>
          <p:cNvSpPr/>
          <p:nvPr/>
        </p:nvSpPr>
        <p:spPr>
          <a:xfrm>
            <a:off x="7659826" y="3342132"/>
            <a:ext cx="894432" cy="329184"/>
          </a:xfrm>
          <a:prstGeom prst="roundRect">
            <a:avLst>
              <a:gd name="adj" fmla="val 50000"/>
            </a:avLst>
          </a:prstGeom>
          <a:solidFill>
            <a:srgbClr val="0078D4"/>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Copilot Studio</a:t>
            </a:r>
          </a:p>
        </p:txBody>
      </p:sp>
      <p:sp>
        <p:nvSpPr>
          <p:cNvPr id="31" name="Rounded Rectangle 30"/>
          <p:cNvSpPr/>
          <p:nvPr/>
        </p:nvSpPr>
        <p:spPr>
          <a:xfrm>
            <a:off x="8645698" y="3342132"/>
            <a:ext cx="1005420" cy="329184"/>
          </a:xfrm>
          <a:prstGeom prst="roundRect">
            <a:avLst>
              <a:gd name="adj" fmla="val 50000"/>
            </a:avLst>
          </a:prstGeom>
          <a:solidFill>
            <a:srgbClr val="0078D4"/>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Microsoft Fabric</a:t>
            </a:r>
          </a:p>
        </p:txBody>
      </p:sp>
      <p:sp>
        <p:nvSpPr>
          <p:cNvPr id="32" name="Rounded Rectangle 31"/>
          <p:cNvSpPr/>
          <p:nvPr/>
        </p:nvSpPr>
        <p:spPr>
          <a:xfrm>
            <a:off x="9742558" y="3342132"/>
            <a:ext cx="1060913" cy="329184"/>
          </a:xfrm>
          <a:prstGeom prst="roundRect">
            <a:avLst>
              <a:gd name="adj" fmla="val 50000"/>
            </a:avLst>
          </a:prstGeom>
          <a:solidFill>
            <a:srgbClr val="0078D4"/>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Microsoft Purview</a:t>
            </a:r>
          </a:p>
        </p:txBody>
      </p:sp>
      <p:sp>
        <p:nvSpPr>
          <p:cNvPr id="33" name="Rounded Rectangle 32"/>
          <p:cNvSpPr/>
          <p:nvPr/>
        </p:nvSpPr>
        <p:spPr>
          <a:xfrm>
            <a:off x="10894911" y="3342132"/>
            <a:ext cx="783444" cy="329184"/>
          </a:xfrm>
          <a:prstGeom prst="roundRect">
            <a:avLst>
              <a:gd name="adj" fmla="val 50000"/>
            </a:avLst>
          </a:prstGeom>
          <a:solidFill>
            <a:srgbClr val="0078D4"/>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Azure OpenAI</a:t>
            </a:r>
          </a:p>
        </p:txBody>
      </p:sp>
      <p:sp>
        <p:nvSpPr>
          <p:cNvPr id="34" name="Rounded Rectangle 33"/>
          <p:cNvSpPr/>
          <p:nvPr/>
        </p:nvSpPr>
        <p:spPr>
          <a:xfrm>
            <a:off x="457200" y="4014216"/>
            <a:ext cx="11247120" cy="868680"/>
          </a:xfrm>
          <a:prstGeom prst="roundRect">
            <a:avLst>
              <a:gd name="adj" fmla="val 6000"/>
            </a:avLst>
          </a:prstGeom>
          <a:solidFill>
            <a:srgbClr val="6A4CC0"/>
          </a:solidFill>
          <a:ln w="19050">
            <a:solidFill>
              <a:srgbClr val="6A4C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67512" y="4247388"/>
            <a:ext cx="402336" cy="402336"/>
          </a:xfrm>
          <a:prstGeom prst="ellipse">
            <a:avLst/>
          </a:prstGeom>
          <a:solidFill>
            <a:srgbClr val="6A4CC0"/>
          </a:solidFill>
          <a:ln w="12700">
            <a:solidFill>
              <a:srgbClr val="6A4CC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onsolas"/>
              </a:rPr>
              <a:t>4</a:t>
            </a:r>
          </a:p>
        </p:txBody>
      </p:sp>
      <p:sp>
        <p:nvSpPr>
          <p:cNvPr id="36" name="TextBox 35"/>
          <p:cNvSpPr txBox="1"/>
          <p:nvPr/>
        </p:nvSpPr>
        <p:spPr>
          <a:xfrm>
            <a:off x="1234440" y="4123944"/>
            <a:ext cx="2651760" cy="256032"/>
          </a:xfrm>
          <a:prstGeom prst="rect">
            <a:avLst/>
          </a:prstGeom>
          <a:noFill/>
        </p:spPr>
        <p:txBody>
          <a:bodyPr wrap="square" anchor="t" lIns="45720" rIns="45720" tIns="18288" bIns="18288">
            <a:spAutoFit/>
          </a:bodyPr>
          <a:lstStyle/>
          <a:p>
            <a:pPr algn="l"/>
            <a:r>
              <a:rPr sz="950" b="1" i="0">
                <a:solidFill>
                  <a:srgbClr val="442E82"/>
                </a:solidFill>
                <a:latin typeface="Consolas"/>
              </a:rPr>
              <a:t>LAYER 4 · AGENTIC INTEGRATION TO ORACLE DATA</a:t>
            </a:r>
          </a:p>
        </p:txBody>
      </p:sp>
      <p:sp>
        <p:nvSpPr>
          <p:cNvPr id="37" name="TextBox 36"/>
          <p:cNvSpPr txBox="1"/>
          <p:nvPr/>
        </p:nvSpPr>
        <p:spPr>
          <a:xfrm>
            <a:off x="1234440" y="4379976"/>
            <a:ext cx="2651760" cy="502920"/>
          </a:xfrm>
          <a:prstGeom prst="rect">
            <a:avLst/>
          </a:prstGeom>
          <a:noFill/>
        </p:spPr>
        <p:txBody>
          <a:bodyPr wrap="square" anchor="t" lIns="45720" rIns="45720" tIns="18288" bIns="18288">
            <a:spAutoFit/>
          </a:bodyPr>
          <a:lstStyle/>
          <a:p>
            <a:pPr algn="l"/>
            <a:r>
              <a:rPr sz="1350" b="1" i="0">
                <a:solidFill>
                  <a:srgbClr val="0B1220"/>
                </a:solidFill>
                <a:latin typeface="Calibri"/>
              </a:rPr>
              <a:t>Three lanes between Microsoft and Oracle agents</a:t>
            </a:r>
          </a:p>
        </p:txBody>
      </p:sp>
      <p:sp>
        <p:nvSpPr>
          <p:cNvPr id="38" name="Rounded Rectangle 37"/>
          <p:cNvSpPr/>
          <p:nvPr/>
        </p:nvSpPr>
        <p:spPr>
          <a:xfrm>
            <a:off x="3703320" y="4151376"/>
            <a:ext cx="2545080" cy="594360"/>
          </a:xfrm>
          <a:prstGeom prst="roundRect">
            <a:avLst>
              <a:gd name="adj" fmla="val 15000"/>
            </a:avLst>
          </a:prstGeom>
          <a:solidFill>
            <a:srgbClr val="0078D4"/>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03320" y="4215384"/>
            <a:ext cx="2545080" cy="256032"/>
          </a:xfrm>
          <a:prstGeom prst="rect">
            <a:avLst/>
          </a:prstGeom>
          <a:noFill/>
        </p:spPr>
        <p:txBody>
          <a:bodyPr wrap="square" anchor="t" lIns="45720" rIns="45720" tIns="18288" bIns="18288">
            <a:spAutoFit/>
          </a:bodyPr>
          <a:lstStyle/>
          <a:p>
            <a:pPr algn="ctr"/>
            <a:r>
              <a:rPr sz="1100" b="1" i="0">
                <a:solidFill>
                  <a:srgbClr val="0B1220"/>
                </a:solidFill>
                <a:latin typeface="Calibri"/>
              </a:rPr>
              <a:t>Fabric Mirror → OneLake</a:t>
            </a:r>
          </a:p>
        </p:txBody>
      </p:sp>
      <p:sp>
        <p:nvSpPr>
          <p:cNvPr id="40" name="TextBox 39"/>
          <p:cNvSpPr txBox="1"/>
          <p:nvPr/>
        </p:nvSpPr>
        <p:spPr>
          <a:xfrm>
            <a:off x="3703320" y="4480560"/>
            <a:ext cx="2545080" cy="228600"/>
          </a:xfrm>
          <a:prstGeom prst="rect">
            <a:avLst/>
          </a:prstGeom>
          <a:noFill/>
        </p:spPr>
        <p:txBody>
          <a:bodyPr wrap="square" anchor="t" lIns="45720" rIns="45720" tIns="18288" bIns="18288">
            <a:spAutoFit/>
          </a:bodyPr>
          <a:lstStyle/>
          <a:p>
            <a:pPr algn="ctr"/>
            <a:r>
              <a:rPr sz="850" b="1" i="0">
                <a:solidFill>
                  <a:srgbClr val="0078D4"/>
                </a:solidFill>
                <a:latin typeface="Consolas"/>
              </a:rPr>
              <a:t>ORACLE → MS  ·  data plane</a:t>
            </a:r>
          </a:p>
        </p:txBody>
      </p:sp>
      <p:sp>
        <p:nvSpPr>
          <p:cNvPr id="41" name="Rounded Rectangle 40"/>
          <p:cNvSpPr/>
          <p:nvPr/>
        </p:nvSpPr>
        <p:spPr>
          <a:xfrm>
            <a:off x="6339840" y="4151376"/>
            <a:ext cx="2545080" cy="594360"/>
          </a:xfrm>
          <a:prstGeom prst="roundRect">
            <a:avLst>
              <a:gd name="adj" fmla="val 15000"/>
            </a:avLst>
          </a:prstGeom>
          <a:solidFill>
            <a:srgbClr val="0FA89B"/>
          </a:solidFill>
          <a:ln w="19050">
            <a:solidFill>
              <a:srgbClr val="0FA8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39840" y="4215384"/>
            <a:ext cx="2545080" cy="256032"/>
          </a:xfrm>
          <a:prstGeom prst="rect">
            <a:avLst/>
          </a:prstGeom>
          <a:noFill/>
        </p:spPr>
        <p:txBody>
          <a:bodyPr wrap="square" anchor="t" lIns="45720" rIns="45720" tIns="18288" bIns="18288">
            <a:spAutoFit/>
          </a:bodyPr>
          <a:lstStyle/>
          <a:p>
            <a:pPr algn="ctr"/>
            <a:r>
              <a:rPr sz="1100" b="1" i="0">
                <a:solidFill>
                  <a:srgbClr val="0B1220"/>
                </a:solidFill>
                <a:latin typeface="Calibri"/>
              </a:rPr>
              <a:t>MCP tools</a:t>
            </a:r>
          </a:p>
        </p:txBody>
      </p:sp>
      <p:sp>
        <p:nvSpPr>
          <p:cNvPr id="43" name="TextBox 42"/>
          <p:cNvSpPr txBox="1"/>
          <p:nvPr/>
        </p:nvSpPr>
        <p:spPr>
          <a:xfrm>
            <a:off x="6339840" y="4480560"/>
            <a:ext cx="2545080" cy="228600"/>
          </a:xfrm>
          <a:prstGeom prst="rect">
            <a:avLst/>
          </a:prstGeom>
          <a:noFill/>
        </p:spPr>
        <p:txBody>
          <a:bodyPr wrap="square" anchor="t" lIns="45720" rIns="45720" tIns="18288" bIns="18288">
            <a:spAutoFit/>
          </a:bodyPr>
          <a:lstStyle/>
          <a:p>
            <a:pPr algn="ctr"/>
            <a:r>
              <a:rPr sz="850" b="1" i="0">
                <a:solidFill>
                  <a:srgbClr val="0FA89B"/>
                </a:solidFill>
                <a:latin typeface="Consolas"/>
              </a:rPr>
              <a:t>MS → ORACLE  ·  tool handoff</a:t>
            </a:r>
          </a:p>
        </p:txBody>
      </p:sp>
      <p:sp>
        <p:nvSpPr>
          <p:cNvPr id="44" name="Rounded Rectangle 43"/>
          <p:cNvSpPr/>
          <p:nvPr/>
        </p:nvSpPr>
        <p:spPr>
          <a:xfrm>
            <a:off x="8976360" y="4151376"/>
            <a:ext cx="2545080" cy="594360"/>
          </a:xfrm>
          <a:prstGeom prst="roundRect">
            <a:avLst>
              <a:gd name="adj" fmla="val 15000"/>
            </a:avLst>
          </a:prstGeom>
          <a:solidFill>
            <a:srgbClr val="C74634"/>
          </a:solidFill>
          <a:ln w="19050">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76360" y="4215384"/>
            <a:ext cx="2545080" cy="256032"/>
          </a:xfrm>
          <a:prstGeom prst="rect">
            <a:avLst/>
          </a:prstGeom>
          <a:noFill/>
        </p:spPr>
        <p:txBody>
          <a:bodyPr wrap="square" anchor="t" lIns="45720" rIns="45720" tIns="18288" bIns="18288">
            <a:spAutoFit/>
          </a:bodyPr>
          <a:lstStyle/>
          <a:p>
            <a:pPr algn="ctr"/>
            <a:r>
              <a:rPr sz="1100" b="1" i="0">
                <a:solidFill>
                  <a:srgbClr val="0B1220"/>
                </a:solidFill>
                <a:latin typeface="Calibri"/>
              </a:rPr>
              <a:t>A2A handoff</a:t>
            </a:r>
          </a:p>
        </p:txBody>
      </p:sp>
      <p:sp>
        <p:nvSpPr>
          <p:cNvPr id="46" name="TextBox 45"/>
          <p:cNvSpPr txBox="1"/>
          <p:nvPr/>
        </p:nvSpPr>
        <p:spPr>
          <a:xfrm>
            <a:off x="8976360" y="4480560"/>
            <a:ext cx="2545080" cy="228600"/>
          </a:xfrm>
          <a:prstGeom prst="rect">
            <a:avLst/>
          </a:prstGeom>
          <a:noFill/>
        </p:spPr>
        <p:txBody>
          <a:bodyPr wrap="square" anchor="t" lIns="45720" rIns="45720" tIns="18288" bIns="18288">
            <a:spAutoFit/>
          </a:bodyPr>
          <a:lstStyle/>
          <a:p>
            <a:pPr algn="ctr"/>
            <a:r>
              <a:rPr sz="850" b="1" i="0">
                <a:solidFill>
                  <a:srgbClr val="C74634"/>
                </a:solidFill>
                <a:latin typeface="Consolas"/>
              </a:rPr>
              <a:t>BIDIRECTIONAL  ·  peer agents</a:t>
            </a:r>
          </a:p>
        </p:txBody>
      </p:sp>
      <p:sp>
        <p:nvSpPr>
          <p:cNvPr id="47" name="Rounded Rectangle 46"/>
          <p:cNvSpPr/>
          <p:nvPr/>
        </p:nvSpPr>
        <p:spPr>
          <a:xfrm>
            <a:off x="457200" y="4956048"/>
            <a:ext cx="11247120" cy="868680"/>
          </a:xfrm>
          <a:prstGeom prst="roundRect">
            <a:avLst>
              <a:gd name="adj" fmla="val 6000"/>
            </a:avLst>
          </a:prstGeom>
          <a:solidFill>
            <a:srgbClr val="C74634"/>
          </a:solidFill>
          <a:ln w="19050">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67512" y="5189220"/>
            <a:ext cx="402336" cy="402336"/>
          </a:xfrm>
          <a:prstGeom prst="ellipse">
            <a:avLst/>
          </a:prstGeom>
          <a:solidFill>
            <a:srgbClr val="C74634"/>
          </a:solidFill>
          <a:ln w="12700">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onsolas"/>
              </a:rPr>
              <a:t>5</a:t>
            </a:r>
          </a:p>
        </p:txBody>
      </p:sp>
      <p:sp>
        <p:nvSpPr>
          <p:cNvPr id="49" name="TextBox 48"/>
          <p:cNvSpPr txBox="1"/>
          <p:nvPr/>
        </p:nvSpPr>
        <p:spPr>
          <a:xfrm>
            <a:off x="1234440" y="5065776"/>
            <a:ext cx="2651760" cy="256032"/>
          </a:xfrm>
          <a:prstGeom prst="rect">
            <a:avLst/>
          </a:prstGeom>
          <a:noFill/>
        </p:spPr>
        <p:txBody>
          <a:bodyPr wrap="square" anchor="t" lIns="45720" rIns="45720" tIns="18288" bIns="18288">
            <a:spAutoFit/>
          </a:bodyPr>
          <a:lstStyle/>
          <a:p>
            <a:pPr algn="l"/>
            <a:r>
              <a:rPr sz="950" b="1" i="0">
                <a:solidFill>
                  <a:srgbClr val="8A2D1E"/>
                </a:solidFill>
                <a:latin typeface="Consolas"/>
              </a:rPr>
              <a:t>LAYER 5 · DATA</a:t>
            </a:r>
          </a:p>
        </p:txBody>
      </p:sp>
      <p:sp>
        <p:nvSpPr>
          <p:cNvPr id="50" name="TextBox 49"/>
          <p:cNvSpPr txBox="1"/>
          <p:nvPr/>
        </p:nvSpPr>
        <p:spPr>
          <a:xfrm>
            <a:off x="1234440" y="5321808"/>
            <a:ext cx="2651760" cy="502920"/>
          </a:xfrm>
          <a:prstGeom prst="rect">
            <a:avLst/>
          </a:prstGeom>
          <a:noFill/>
        </p:spPr>
        <p:txBody>
          <a:bodyPr wrap="square" anchor="t" lIns="45720" rIns="45720" tIns="18288" bIns="18288">
            <a:spAutoFit/>
          </a:bodyPr>
          <a:lstStyle/>
          <a:p>
            <a:pPr algn="l"/>
            <a:r>
              <a:rPr sz="1350" b="1" i="0">
                <a:solidFill>
                  <a:srgbClr val="0B1220"/>
                </a:solidFill>
                <a:latin typeface="Calibri"/>
              </a:rPr>
              <a:t>Oracle data of record — wherever it lives</a:t>
            </a:r>
          </a:p>
        </p:txBody>
      </p:sp>
      <p:sp>
        <p:nvSpPr>
          <p:cNvPr id="51" name="Rounded Rectangle 50"/>
          <p:cNvSpPr/>
          <p:nvPr/>
        </p:nvSpPr>
        <p:spPr>
          <a:xfrm>
            <a:off x="3703320" y="5225796"/>
            <a:ext cx="1719072" cy="329184"/>
          </a:xfrm>
          <a:prstGeom prst="roundRect">
            <a:avLst>
              <a:gd name="adj" fmla="val 50000"/>
            </a:avLst>
          </a:prstGeom>
          <a:solidFill>
            <a:srgbClr val="C74634"/>
          </a:solidFill>
          <a:ln w="9525">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Oracle Fusion (SaaS)</a:t>
            </a:r>
          </a:p>
        </p:txBody>
      </p:sp>
      <p:sp>
        <p:nvSpPr>
          <p:cNvPr id="52" name="Rounded Rectangle 51"/>
          <p:cNvSpPr/>
          <p:nvPr/>
        </p:nvSpPr>
        <p:spPr>
          <a:xfrm>
            <a:off x="5513832" y="5225796"/>
            <a:ext cx="1796796" cy="329184"/>
          </a:xfrm>
          <a:prstGeom prst="roundRect">
            <a:avLst>
              <a:gd name="adj" fmla="val 50000"/>
            </a:avLst>
          </a:prstGeom>
          <a:solidFill>
            <a:srgbClr val="C74634"/>
          </a:solidFill>
          <a:ln w="9525">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Oracle Database@Azure</a:t>
            </a:r>
          </a:p>
        </p:txBody>
      </p:sp>
      <p:sp>
        <p:nvSpPr>
          <p:cNvPr id="53" name="Rounded Rectangle 52"/>
          <p:cNvSpPr/>
          <p:nvPr/>
        </p:nvSpPr>
        <p:spPr>
          <a:xfrm>
            <a:off x="7402068" y="5225796"/>
            <a:ext cx="2263140" cy="329184"/>
          </a:xfrm>
          <a:prstGeom prst="roundRect">
            <a:avLst>
              <a:gd name="adj" fmla="val 50000"/>
            </a:avLst>
          </a:prstGeom>
          <a:solidFill>
            <a:srgbClr val="C74634"/>
          </a:solidFill>
          <a:ln w="9525">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Oracle Cloud Infrastructure</a:t>
            </a:r>
          </a:p>
        </p:txBody>
      </p:sp>
      <p:sp>
        <p:nvSpPr>
          <p:cNvPr id="54" name="Rounded Rectangle 53"/>
          <p:cNvSpPr/>
          <p:nvPr/>
        </p:nvSpPr>
        <p:spPr>
          <a:xfrm>
            <a:off x="9756648" y="5225796"/>
            <a:ext cx="1485900" cy="329184"/>
          </a:xfrm>
          <a:prstGeom prst="roundRect">
            <a:avLst>
              <a:gd name="adj" fmla="val 50000"/>
            </a:avLst>
          </a:prstGeom>
          <a:solidFill>
            <a:srgbClr val="C74634"/>
          </a:solidFill>
          <a:ln w="9525">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900" b="1">
                <a:solidFill>
                  <a:srgbClr val="FFFFFF"/>
                </a:solidFill>
                <a:latin typeface="Consolas"/>
              </a:rPr>
              <a:t>On-prem databases</a:t>
            </a:r>
          </a:p>
        </p:txBody>
      </p:sp>
      <p:sp>
        <p:nvSpPr>
          <p:cNvPr id="55" name="Rounded Rectangle 54"/>
          <p:cNvSpPr/>
          <p:nvPr/>
        </p:nvSpPr>
        <p:spPr>
          <a:xfrm>
            <a:off x="457200" y="5943600"/>
            <a:ext cx="11247120" cy="868680"/>
          </a:xfrm>
          <a:prstGeom prst="roundRect">
            <a:avLst>
              <a:gd name="adj" fmla="val 6000"/>
            </a:avLst>
          </a:prstGeom>
          <a:solidFill>
            <a:srgbClr val="64748B"/>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67512" y="6176772"/>
            <a:ext cx="402336" cy="402336"/>
          </a:xfrm>
          <a:prstGeom prst="ellipse">
            <a:avLst/>
          </a:prstGeom>
          <a:solidFill>
            <a:srgbClr val="0B1220"/>
          </a:solidFill>
          <a:ln w="12700">
            <a:solidFill>
              <a:srgbClr val="0B122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onsolas"/>
              </a:rPr>
              <a:t>∞</a:t>
            </a:r>
          </a:p>
        </p:txBody>
      </p:sp>
      <p:sp>
        <p:nvSpPr>
          <p:cNvPr id="57" name="TextBox 56"/>
          <p:cNvSpPr txBox="1"/>
          <p:nvPr/>
        </p:nvSpPr>
        <p:spPr>
          <a:xfrm>
            <a:off x="1234440" y="6053328"/>
            <a:ext cx="2743200" cy="256032"/>
          </a:xfrm>
          <a:prstGeom prst="rect">
            <a:avLst/>
          </a:prstGeom>
          <a:noFill/>
        </p:spPr>
        <p:txBody>
          <a:bodyPr wrap="square" anchor="t" lIns="45720" rIns="45720" tIns="18288" bIns="18288">
            <a:spAutoFit/>
          </a:bodyPr>
          <a:lstStyle/>
          <a:p>
            <a:pPr algn="l"/>
            <a:r>
              <a:rPr sz="950" b="1" i="0">
                <a:solidFill>
                  <a:srgbClr val="1A2540"/>
                </a:solidFill>
                <a:latin typeface="Consolas"/>
              </a:rPr>
              <a:t>FOUNDATION · AIOps</a:t>
            </a:r>
          </a:p>
        </p:txBody>
      </p:sp>
      <p:sp>
        <p:nvSpPr>
          <p:cNvPr id="58" name="TextBox 57"/>
          <p:cNvSpPr txBox="1"/>
          <p:nvPr/>
        </p:nvSpPr>
        <p:spPr>
          <a:xfrm>
            <a:off x="1234440" y="6309360"/>
            <a:ext cx="2743200" cy="502920"/>
          </a:xfrm>
          <a:prstGeom prst="rect">
            <a:avLst/>
          </a:prstGeom>
          <a:noFill/>
        </p:spPr>
        <p:txBody>
          <a:bodyPr wrap="square" anchor="t" lIns="45720" rIns="45720" tIns="18288" bIns="18288">
            <a:spAutoFit/>
          </a:bodyPr>
          <a:lstStyle/>
          <a:p>
            <a:pPr algn="l"/>
            <a:r>
              <a:rPr sz="1350" b="1" i="0">
                <a:solidFill>
                  <a:srgbClr val="0B1220"/>
                </a:solidFill>
                <a:latin typeface="Calibri"/>
              </a:rPr>
              <a:t>Powers the entire stack</a:t>
            </a:r>
          </a:p>
        </p:txBody>
      </p:sp>
      <p:sp>
        <p:nvSpPr>
          <p:cNvPr id="59" name="Rounded Rectangle 58"/>
          <p:cNvSpPr/>
          <p:nvPr/>
        </p:nvSpPr>
        <p:spPr>
          <a:xfrm>
            <a:off x="3703320" y="6053328"/>
            <a:ext cx="3840480" cy="649224"/>
          </a:xfrm>
          <a:prstGeom prst="roundRect">
            <a:avLst>
              <a:gd name="adj" fmla="val 12000"/>
            </a:avLst>
          </a:prstGeom>
          <a:solidFill>
            <a:srgbClr val="0078D4"/>
          </a:solid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840480" y="6108192"/>
            <a:ext cx="3566160" cy="228600"/>
          </a:xfrm>
          <a:prstGeom prst="rect">
            <a:avLst/>
          </a:prstGeom>
          <a:noFill/>
        </p:spPr>
        <p:txBody>
          <a:bodyPr wrap="square" anchor="t" lIns="45720" rIns="45720" tIns="18288" bIns="18288">
            <a:spAutoFit/>
          </a:bodyPr>
          <a:lstStyle/>
          <a:p>
            <a:pPr algn="l"/>
            <a:r>
              <a:rPr sz="900" b="1" i="0">
                <a:solidFill>
                  <a:srgbClr val="004F8B"/>
                </a:solidFill>
                <a:latin typeface="Consolas"/>
              </a:rPr>
              <a:t>MICROSOFT INFRA AGENTS</a:t>
            </a:r>
          </a:p>
        </p:txBody>
      </p:sp>
      <p:sp>
        <p:nvSpPr>
          <p:cNvPr id="61" name="TextBox 60"/>
          <p:cNvSpPr txBox="1"/>
          <p:nvPr/>
        </p:nvSpPr>
        <p:spPr>
          <a:xfrm>
            <a:off x="3840480" y="6345936"/>
            <a:ext cx="3566160" cy="320040"/>
          </a:xfrm>
          <a:prstGeom prst="rect">
            <a:avLst/>
          </a:prstGeom>
          <a:noFill/>
        </p:spPr>
        <p:txBody>
          <a:bodyPr wrap="square" anchor="t" lIns="45720" rIns="45720" tIns="18288" bIns="18288">
            <a:spAutoFit/>
          </a:bodyPr>
          <a:lstStyle/>
          <a:p>
            <a:pPr algn="l"/>
            <a:r>
              <a:rPr sz="1050" b="0" i="0">
                <a:solidFill>
                  <a:srgbClr val="0B1220"/>
                </a:solidFill>
                <a:latin typeface="Calibri"/>
              </a:rPr>
              <a:t>Config Drift  ·  Troubleshooting &amp; RCA  ·  Workload Health  ·  Configuration Validation  ·  WVI-level rollups</a:t>
            </a:r>
          </a:p>
        </p:txBody>
      </p:sp>
      <p:sp>
        <p:nvSpPr>
          <p:cNvPr id="62" name="Rounded Rectangle 61"/>
          <p:cNvSpPr/>
          <p:nvPr/>
        </p:nvSpPr>
        <p:spPr>
          <a:xfrm>
            <a:off x="7680960" y="6053328"/>
            <a:ext cx="3840480" cy="649224"/>
          </a:xfrm>
          <a:prstGeom prst="roundRect">
            <a:avLst>
              <a:gd name="adj" fmla="val 12000"/>
            </a:avLst>
          </a:prstGeom>
          <a:solidFill>
            <a:srgbClr val="C74634"/>
          </a:solidFill>
          <a:ln w="19050">
            <a:solidFill>
              <a:srgbClr val="C746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18120" y="6108192"/>
            <a:ext cx="3566160" cy="228600"/>
          </a:xfrm>
          <a:prstGeom prst="rect">
            <a:avLst/>
          </a:prstGeom>
          <a:noFill/>
        </p:spPr>
        <p:txBody>
          <a:bodyPr wrap="square" anchor="t" lIns="45720" rIns="45720" tIns="18288" bIns="18288">
            <a:spAutoFit/>
          </a:bodyPr>
          <a:lstStyle/>
          <a:p>
            <a:pPr algn="l"/>
            <a:r>
              <a:rPr sz="900" b="1" i="0">
                <a:solidFill>
                  <a:srgbClr val="8A2D1E"/>
                </a:solidFill>
                <a:latin typeface="Consolas"/>
              </a:rPr>
              <a:t>ORACLE INFRA AGENTS</a:t>
            </a:r>
          </a:p>
        </p:txBody>
      </p:sp>
      <p:sp>
        <p:nvSpPr>
          <p:cNvPr id="64" name="TextBox 63"/>
          <p:cNvSpPr txBox="1"/>
          <p:nvPr/>
        </p:nvSpPr>
        <p:spPr>
          <a:xfrm>
            <a:off x="7818120" y="6345936"/>
            <a:ext cx="3566160" cy="320040"/>
          </a:xfrm>
          <a:prstGeom prst="rect">
            <a:avLst/>
          </a:prstGeom>
          <a:noFill/>
        </p:spPr>
        <p:txBody>
          <a:bodyPr wrap="square" anchor="t" lIns="45720" rIns="45720" tIns="18288" bIns="18288">
            <a:spAutoFit/>
          </a:bodyPr>
          <a:lstStyle/>
          <a:p>
            <a:pPr algn="l"/>
            <a:r>
              <a:rPr sz="1050" b="0" i="0">
                <a:solidFill>
                  <a:srgbClr val="0B1220"/>
                </a:solidFill>
                <a:latin typeface="Calibri"/>
              </a:rPr>
              <a:t>Oracle Audit Vault  ·  Data Safe drift  ·  Database AI agents  ·  Fusion AI Agents  ·  Cloud Lift</a:t>
            </a:r>
          </a:p>
        </p:txBody>
      </p:sp>
      <p:sp>
        <p:nvSpPr>
          <p:cNvPr id="65" name="TextBox 64"/>
          <p:cNvSpPr txBox="1"/>
          <p:nvPr/>
        </p:nvSpPr>
        <p:spPr>
          <a:xfrm>
            <a:off x="457200" y="6885432"/>
            <a:ext cx="11247120" cy="274320"/>
          </a:xfrm>
          <a:prstGeom prst="rect">
            <a:avLst/>
          </a:prstGeom>
          <a:noFill/>
        </p:spPr>
        <p:txBody>
          <a:bodyPr wrap="square" anchor="t" lIns="45720" rIns="45720" tIns="18288" bIns="18288">
            <a:spAutoFit/>
          </a:bodyPr>
          <a:lstStyle/>
          <a:p>
            <a:pPr algn="ctr"/>
            <a:r>
              <a:rPr sz="1200" b="1" i="0">
                <a:solidFill>
                  <a:srgbClr val="0B1220"/>
                </a:solidFill>
                <a:latin typeface="Calibri"/>
              </a:rPr>
              <a:t>Make Azure the best place to run Oracle workloads.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