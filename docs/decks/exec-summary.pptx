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0972800" cy="365760"/>
          </a:xfrm>
          <a:prstGeom prst="rect">
            <a:avLst/>
          </a:prstGeom>
          <a:noFill/>
        </p:spPr>
        <p:txBody>
          <a:bodyPr wrap="square" anchor="t" lIns="45720" rIns="45720" tIns="18288" bIns="18288">
            <a:spAutoFit/>
          </a:bodyPr>
          <a:lstStyle/>
          <a:p>
            <a:pPr algn="l"/>
            <a:r>
              <a:rPr sz="1100" b="0">
                <a:solidFill>
                  <a:srgbClr val="FFD600"/>
                </a:solidFill>
                <a:latin typeface="Consolas"/>
              </a:rPr>
              <a:t>EXEC SUMMARY  ·  THE ENTERPRISE AGENT ALLIANCE  ·  ORACLE × MICROSOFT</a:t>
            </a:r>
          </a:p>
        </p:txBody>
      </p:sp>
      <p:sp>
        <p:nvSpPr>
          <p:cNvPr id="4" name="TextBox 3"/>
          <p:cNvSpPr txBox="1"/>
          <p:nvPr/>
        </p:nvSpPr>
        <p:spPr>
          <a:xfrm>
            <a:off x="548640" y="1097280"/>
            <a:ext cx="10972800" cy="2560320"/>
          </a:xfrm>
          <a:prstGeom prst="rect">
            <a:avLst/>
          </a:prstGeom>
          <a:noFill/>
        </p:spPr>
        <p:txBody>
          <a:bodyPr wrap="square" anchor="t" lIns="45720" rIns="45720" tIns="18288" bIns="18288">
            <a:spAutoFit/>
          </a:bodyPr>
          <a:lstStyle/>
          <a:p>
            <a:pPr algn="l"/>
            <a:r>
              <a:rPr sz="4000" b="1">
                <a:solidFill>
                  <a:srgbClr val="FFFFFF"/>
                </a:solidFill>
                <a:latin typeface="Calibri"/>
              </a:rPr>
              <a:t>Agentic AI is the next
platform shift —
Microsoft and Oracle
can lead it together.</a:t>
            </a:r>
          </a:p>
        </p:txBody>
      </p:sp>
      <p:sp>
        <p:nvSpPr>
          <p:cNvPr id="5" name="TextBox 4"/>
          <p:cNvSpPr txBox="1"/>
          <p:nvPr/>
        </p:nvSpPr>
        <p:spPr>
          <a:xfrm>
            <a:off x="548640" y="4663440"/>
            <a:ext cx="10972800" cy="1371600"/>
          </a:xfrm>
          <a:prstGeom prst="rect">
            <a:avLst/>
          </a:prstGeom>
          <a:noFill/>
        </p:spPr>
        <p:txBody>
          <a:bodyPr wrap="square" anchor="t" lIns="45720" rIns="45720" tIns="18288" bIns="18288">
            <a:spAutoFit/>
          </a:bodyPr>
          <a:lstStyle/>
          <a:p>
            <a:pPr algn="l"/>
            <a:r>
              <a:rPr sz="2000" b="0">
                <a:solidFill>
                  <a:srgbClr val="D9DDE5"/>
                </a:solidFill>
                <a:latin typeface="Calibri"/>
              </a:rPr>
              <a:t>Oracle data. Microsoft agents. The complete agentic stack for the enterprise.</a:t>
            </a:r>
          </a:p>
        </p:txBody>
      </p:sp>
      <p:sp>
        <p:nvSpPr>
          <p:cNvPr id="6" name="Rectangle 5"/>
          <p:cNvSpPr/>
          <p:nvPr/>
        </p:nvSpPr>
        <p:spPr>
          <a:xfrm>
            <a:off x="0" y="6400800"/>
            <a:ext cx="12191695" cy="457200"/>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972800" cy="365760"/>
          </a:xfrm>
          <a:prstGeom prst="rect">
            <a:avLst/>
          </a:prstGeom>
          <a:noFill/>
        </p:spPr>
        <p:txBody>
          <a:bodyPr wrap="square" anchor="t" lIns="45720" rIns="45720" tIns="18288" bIns="18288">
            <a:spAutoFit/>
          </a:bodyPr>
          <a:lstStyle/>
          <a:p>
            <a:pPr algn="l"/>
            <a:r>
              <a:rPr sz="1000" b="0">
                <a:solidFill>
                  <a:srgbClr val="94A3B8"/>
                </a:solidFill>
                <a:latin typeface="Consolas"/>
              </a:rPr>
              <a:t>Oracle anchors data of record where it's deployed.  ·  Microsoft extends the worker surface.  ·  Together: agentic transformation.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94A3B8"/>
                </a:solidFill>
                <a:latin typeface="Consolas"/>
              </a:rPr>
              <a:t>THE FRAME</a:t>
            </a:r>
          </a:p>
        </p:txBody>
      </p:sp>
      <p:sp>
        <p:nvSpPr>
          <p:cNvPr id="4" name="TextBox 3"/>
          <p:cNvSpPr txBox="1"/>
          <p:nvPr/>
        </p:nvSpPr>
        <p:spPr>
          <a:xfrm>
            <a:off x="548640" y="731520"/>
            <a:ext cx="10972800" cy="640080"/>
          </a:xfrm>
          <a:prstGeom prst="rect">
            <a:avLst/>
          </a:prstGeom>
          <a:noFill/>
        </p:spPr>
        <p:txBody>
          <a:bodyPr wrap="square" anchor="t" lIns="45720" rIns="45720" tIns="18288" bIns="18288">
            <a:spAutoFit/>
          </a:bodyPr>
          <a:lstStyle/>
          <a:p>
            <a:pPr algn="l"/>
            <a:r>
              <a:rPr sz="2800" b="1">
                <a:solidFill>
                  <a:srgbClr val="FFFFFF"/>
                </a:solidFill>
                <a:latin typeface="Calibri"/>
              </a:rPr>
              <a:t>The shift. The seam. The opportunity.</a:t>
            </a:r>
          </a:p>
        </p:txBody>
      </p:sp>
      <p:sp>
        <p:nvSpPr>
          <p:cNvPr id="5" name="TextBox 4"/>
          <p:cNvSpPr txBox="1"/>
          <p:nvPr/>
        </p:nvSpPr>
        <p:spPr>
          <a:xfrm>
            <a:off x="548640" y="1417320"/>
            <a:ext cx="10972800" cy="365760"/>
          </a:xfrm>
          <a:prstGeom prst="rect">
            <a:avLst/>
          </a:prstGeom>
          <a:noFill/>
        </p:spPr>
        <p:txBody>
          <a:bodyPr wrap="square" anchor="t" lIns="45720" rIns="45720" tIns="18288" bIns="18288">
            <a:spAutoFit/>
          </a:bodyPr>
          <a:lstStyle/>
          <a:p>
            <a:pPr algn="l"/>
            <a:r>
              <a:rPr sz="1300" b="0">
                <a:solidFill>
                  <a:srgbClr val="B0B7C4"/>
                </a:solidFill>
                <a:latin typeface="Calibri"/>
              </a:rPr>
              <a:t>Why a joint Oracle + Microsoft motion is the only one that closes the agentic-AI seam for the Fortune 2000.</a:t>
            </a:r>
          </a:p>
        </p:txBody>
      </p:sp>
      <p:sp>
        <p:nvSpPr>
          <p:cNvPr id="6" name="Rounded Rectangle 5"/>
          <p:cNvSpPr/>
          <p:nvPr/>
        </p:nvSpPr>
        <p:spPr>
          <a:xfrm>
            <a:off x="548640" y="2011680"/>
            <a:ext cx="3657600" cy="411480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40280"/>
            <a:ext cx="3200400" cy="274320"/>
          </a:xfrm>
          <a:prstGeom prst="rect">
            <a:avLst/>
          </a:prstGeom>
          <a:noFill/>
        </p:spPr>
        <p:txBody>
          <a:bodyPr wrap="square" anchor="t" lIns="45720" rIns="45720" tIns="18288" bIns="18288">
            <a:spAutoFit/>
          </a:bodyPr>
          <a:lstStyle/>
          <a:p>
            <a:pPr algn="l"/>
            <a:r>
              <a:rPr sz="1000" b="1">
                <a:solidFill>
                  <a:srgbClr val="94A3B8"/>
                </a:solidFill>
                <a:latin typeface="Consolas"/>
              </a:rPr>
              <a:t>THE SHIFT</a:t>
            </a:r>
          </a:p>
        </p:txBody>
      </p:sp>
      <p:sp>
        <p:nvSpPr>
          <p:cNvPr id="8" name="TextBox 7"/>
          <p:cNvSpPr txBox="1"/>
          <p:nvPr/>
        </p:nvSpPr>
        <p:spPr>
          <a:xfrm>
            <a:off x="777240" y="2606040"/>
            <a:ext cx="3200400" cy="777240"/>
          </a:xfrm>
          <a:prstGeom prst="rect">
            <a:avLst/>
          </a:prstGeom>
          <a:noFill/>
        </p:spPr>
        <p:txBody>
          <a:bodyPr wrap="square" anchor="t" lIns="45720" rIns="45720" tIns="18288" bIns="18288">
            <a:spAutoFit/>
          </a:bodyPr>
          <a:lstStyle/>
          <a:p>
            <a:pPr algn="l"/>
            <a:r>
              <a:rPr sz="1800" b="1">
                <a:solidFill>
                  <a:srgbClr val="FFFFFF"/>
                </a:solidFill>
                <a:latin typeface="Calibri"/>
              </a:rPr>
              <a:t>From answering to acting</a:t>
            </a:r>
          </a:p>
        </p:txBody>
      </p:sp>
      <p:cxnSp>
        <p:nvCxnSpPr>
          <p:cNvPr id="9" name="Connector 8"/>
          <p:cNvCxnSpPr/>
          <p:nvPr/>
        </p:nvCxnSpPr>
        <p:spPr>
          <a:xfrm>
            <a:off x="777240" y="3520440"/>
            <a:ext cx="3200400" cy="0"/>
          </a:xfrm>
          <a:prstGeom prst="line">
            <a:avLst/>
          </a:prstGeom>
          <a:ln w="6350">
            <a:solidFill>
              <a:srgbClr val="94A3B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3703320"/>
            <a:ext cx="3200400" cy="2194560"/>
          </a:xfrm>
          <a:prstGeom prst="rect">
            <a:avLst/>
          </a:prstGeom>
          <a:noFill/>
        </p:spPr>
        <p:txBody>
          <a:bodyPr wrap="square" anchor="t" lIns="45720" rIns="45720" tIns="18288" bIns="18288">
            <a:spAutoFit/>
          </a:bodyPr>
          <a:lstStyle/>
          <a:p>
            <a:pPr algn="l"/>
            <a:r>
              <a:rPr sz="1200" b="0">
                <a:solidFill>
                  <a:srgbClr val="D9DDE5"/>
                </a:solidFill>
                <a:latin typeface="Calibri"/>
              </a:rPr>
              <a:t>Agentic AI moves past chat. Agents reason over enterprise data, plan multi-step work, and execute with grounded citations — they draft the email, update the record, and close the loop. Every platform vendor is racing to be where these agents live.</a:t>
            </a:r>
          </a:p>
        </p:txBody>
      </p:sp>
      <p:sp>
        <p:nvSpPr>
          <p:cNvPr id="11" name="Rounded Rectangle 10"/>
          <p:cNvSpPr/>
          <p:nvPr/>
        </p:nvSpPr>
        <p:spPr>
          <a:xfrm>
            <a:off x="4343400" y="2011680"/>
            <a:ext cx="3657600" cy="4114800"/>
          </a:xfrm>
          <a:prstGeom prst="roundRect">
            <a:avLst>
              <a:gd name="adj" fmla="val 4000"/>
            </a:avLst>
          </a:prstGeom>
          <a:solidFill>
            <a:srgbClr val="1A2540"/>
          </a:solidFill>
          <a:ln w="1270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240280"/>
            <a:ext cx="3200400" cy="274320"/>
          </a:xfrm>
          <a:prstGeom prst="rect">
            <a:avLst/>
          </a:prstGeom>
          <a:noFill/>
        </p:spPr>
        <p:txBody>
          <a:bodyPr wrap="square" anchor="t" lIns="45720" rIns="45720" tIns="18288" bIns="18288">
            <a:spAutoFit/>
          </a:bodyPr>
          <a:lstStyle/>
          <a:p>
            <a:pPr algn="l"/>
            <a:r>
              <a:rPr sz="1000" b="1">
                <a:solidFill>
                  <a:srgbClr val="C74634"/>
                </a:solidFill>
                <a:latin typeface="Consolas"/>
              </a:rPr>
              <a:t>THE SEAM</a:t>
            </a:r>
          </a:p>
        </p:txBody>
      </p:sp>
      <p:sp>
        <p:nvSpPr>
          <p:cNvPr id="13" name="TextBox 12"/>
          <p:cNvSpPr txBox="1"/>
          <p:nvPr/>
        </p:nvSpPr>
        <p:spPr>
          <a:xfrm>
            <a:off x="4572000" y="2606040"/>
            <a:ext cx="3200400" cy="777240"/>
          </a:xfrm>
          <a:prstGeom prst="rect">
            <a:avLst/>
          </a:prstGeom>
          <a:noFill/>
        </p:spPr>
        <p:txBody>
          <a:bodyPr wrap="square" anchor="t" lIns="45720" rIns="45720" tIns="18288" bIns="18288">
            <a:spAutoFit/>
          </a:bodyPr>
          <a:lstStyle/>
          <a:p>
            <a:pPr algn="l"/>
            <a:r>
              <a:rPr sz="1800" b="1">
                <a:solidFill>
                  <a:srgbClr val="FFFFFF"/>
                </a:solidFill>
                <a:latin typeface="Calibri"/>
              </a:rPr>
              <a:t>Where the work actually happens</a:t>
            </a:r>
          </a:p>
        </p:txBody>
      </p:sp>
      <p:cxnSp>
        <p:nvCxnSpPr>
          <p:cNvPr id="14" name="Connector 13"/>
          <p:cNvCxnSpPr/>
          <p:nvPr/>
        </p:nvCxnSpPr>
        <p:spPr>
          <a:xfrm>
            <a:off x="4572000" y="3520440"/>
            <a:ext cx="3200400" cy="0"/>
          </a:xfrm>
          <a:prstGeom prst="line">
            <a:avLst/>
          </a:prstGeom>
          <a:ln w="6350">
            <a:solidFill>
              <a:srgbClr val="C7463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0" y="3703320"/>
            <a:ext cx="3200400" cy="2194560"/>
          </a:xfrm>
          <a:prstGeom prst="rect">
            <a:avLst/>
          </a:prstGeom>
          <a:noFill/>
        </p:spPr>
        <p:txBody>
          <a:bodyPr wrap="square" anchor="t" lIns="45720" rIns="45720" tIns="18288" bIns="18288">
            <a:spAutoFit/>
          </a:bodyPr>
          <a:lstStyle/>
          <a:p>
            <a:pPr algn="l"/>
            <a:r>
              <a:rPr sz="1200" b="0">
                <a:solidFill>
                  <a:srgbClr val="D9DDE5"/>
                </a:solidFill>
                <a:latin typeface="Calibri"/>
              </a:rPr>
              <a:t>Across the Fortune 2000, Oracle is one of the deepest stores of record-grade enterprise data — Fusion SaaS, Database@Azure, Oracle Cloud Infrastructure, on-prem databases. Microsoft 365 is where most information workers spend their day — Outlook, Teams, Copilot. Closing the seam is where agentic transformation actually happens.</a:t>
            </a:r>
          </a:p>
        </p:txBody>
      </p:sp>
      <p:sp>
        <p:nvSpPr>
          <p:cNvPr id="16" name="Rounded Rectangle 15"/>
          <p:cNvSpPr/>
          <p:nvPr/>
        </p:nvSpPr>
        <p:spPr>
          <a:xfrm>
            <a:off x="8138160" y="2011680"/>
            <a:ext cx="3657600" cy="4114800"/>
          </a:xfrm>
          <a:prstGeom prst="roundRect">
            <a:avLst>
              <a:gd name="adj" fmla="val 4000"/>
            </a:avLst>
          </a:prstGeom>
          <a:solidFill>
            <a:srgbClr val="1A2540"/>
          </a:solidFill>
          <a:ln w="285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2240280"/>
            <a:ext cx="3200400" cy="274320"/>
          </a:xfrm>
          <a:prstGeom prst="rect">
            <a:avLst/>
          </a:prstGeom>
          <a:noFill/>
        </p:spPr>
        <p:txBody>
          <a:bodyPr wrap="square" anchor="t" lIns="45720" rIns="45720" tIns="18288" bIns="18288">
            <a:spAutoFit/>
          </a:bodyPr>
          <a:lstStyle/>
          <a:p>
            <a:pPr algn="l"/>
            <a:r>
              <a:rPr sz="1000" b="1">
                <a:solidFill>
                  <a:srgbClr val="2DD4BF"/>
                </a:solidFill>
                <a:latin typeface="Consolas"/>
              </a:rPr>
              <a:t>THE OPPORTUNITY</a:t>
            </a:r>
          </a:p>
        </p:txBody>
      </p:sp>
      <p:sp>
        <p:nvSpPr>
          <p:cNvPr id="18" name="TextBox 17"/>
          <p:cNvSpPr txBox="1"/>
          <p:nvPr/>
        </p:nvSpPr>
        <p:spPr>
          <a:xfrm>
            <a:off x="8366760" y="2606040"/>
            <a:ext cx="3200400" cy="777240"/>
          </a:xfrm>
          <a:prstGeom prst="rect">
            <a:avLst/>
          </a:prstGeom>
          <a:noFill/>
        </p:spPr>
        <p:txBody>
          <a:bodyPr wrap="square" anchor="t" lIns="45720" rIns="45720" tIns="18288" bIns="18288">
            <a:spAutoFit/>
          </a:bodyPr>
          <a:lstStyle/>
          <a:p>
            <a:pPr algn="l"/>
            <a:r>
              <a:rPr sz="1800" b="1">
                <a:solidFill>
                  <a:srgbClr val="FFFFFF"/>
                </a:solidFill>
                <a:latin typeface="Calibri"/>
              </a:rPr>
              <a:t>Lead it together</a:t>
            </a:r>
          </a:p>
        </p:txBody>
      </p:sp>
      <p:cxnSp>
        <p:nvCxnSpPr>
          <p:cNvPr id="19" name="Connector 18"/>
          <p:cNvCxnSpPr/>
          <p:nvPr/>
        </p:nvCxnSpPr>
        <p:spPr>
          <a:xfrm>
            <a:off x="8366760" y="3520440"/>
            <a:ext cx="3200400" cy="0"/>
          </a:xfrm>
          <a:prstGeom prst="line">
            <a:avLst/>
          </a:prstGeom>
          <a:ln w="6350">
            <a:solidFill>
              <a:srgbClr val="2DD4B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66760" y="3703320"/>
            <a:ext cx="3200400" cy="2194560"/>
          </a:xfrm>
          <a:prstGeom prst="rect">
            <a:avLst/>
          </a:prstGeom>
          <a:noFill/>
        </p:spPr>
        <p:txBody>
          <a:bodyPr wrap="square" anchor="t" lIns="45720" rIns="45720" tIns="18288" bIns="18288">
            <a:spAutoFit/>
          </a:bodyPr>
          <a:lstStyle/>
          <a:p>
            <a:pPr algn="l"/>
            <a:r>
              <a:rPr sz="1200" b="0">
                <a:solidFill>
                  <a:srgbClr val="D9DDE5"/>
                </a:solidFill>
                <a:latin typeface="Calibri"/>
              </a:rPr>
              <a:t>Oracle's depth of business data plus Microsoft's agent runtime (Foundry), governance (Purview), and worker surface (Copilot, Teams) form the deepest enterprise agentic stack on offer. No other partnership covers data, reasoning, and the worker end-to-end at this scope.</a:t>
            </a:r>
          </a:p>
        </p:txBody>
      </p:sp>
      <p:sp>
        <p:nvSpPr>
          <p:cNvPr id="21" name="Rectangle 20"/>
          <p:cNvSpPr/>
          <p:nvPr/>
        </p:nvSpPr>
        <p:spPr>
          <a:xfrm>
            <a:off x="0" y="6492240"/>
            <a:ext cx="12191695" cy="365760"/>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10972800" cy="292608"/>
          </a:xfrm>
          <a:prstGeom prst="rect">
            <a:avLst/>
          </a:prstGeom>
          <a:noFill/>
        </p:spPr>
        <p:txBody>
          <a:bodyPr wrap="square" anchor="t" lIns="45720" rIns="45720" tIns="18288" bIns="18288">
            <a:spAutoFit/>
          </a:bodyPr>
          <a:lstStyle/>
          <a:p>
            <a:pPr algn="l"/>
            <a:r>
              <a:rPr sz="900" b="0">
                <a:solidFill>
                  <a:srgbClr val="94A3B8"/>
                </a:solidFill>
                <a:latin typeface="Consolas"/>
              </a:rPr>
              <a:t>Reference: /exec-summary  ·  The frame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0078D4"/>
                </a:solidFill>
                <a:latin typeface="Consolas"/>
              </a:rPr>
              <a:t>MARKET SIGNALS</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600" b="1">
                <a:solidFill>
                  <a:srgbClr val="FFFFFF"/>
                </a:solidFill>
                <a:latin typeface="Calibri"/>
              </a:rPr>
              <a:t>The numbers say move now.</a:t>
            </a:r>
          </a:p>
        </p:txBody>
      </p:sp>
      <p:sp>
        <p:nvSpPr>
          <p:cNvPr id="5" name="Rounded Rectangle 4"/>
          <p:cNvSpPr/>
          <p:nvPr/>
        </p:nvSpPr>
        <p:spPr>
          <a:xfrm>
            <a:off x="548640" y="1554480"/>
            <a:ext cx="3657600" cy="182880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19072"/>
            <a:ext cx="3200400" cy="594360"/>
          </a:xfrm>
          <a:prstGeom prst="rect">
            <a:avLst/>
          </a:prstGeom>
          <a:noFill/>
        </p:spPr>
        <p:txBody>
          <a:bodyPr wrap="square" anchor="t" lIns="45720" rIns="45720" tIns="18288" bIns="18288">
            <a:spAutoFit/>
          </a:bodyPr>
          <a:lstStyle/>
          <a:p>
            <a:pPr algn="l"/>
            <a:r>
              <a:rPr sz="3000" b="1">
                <a:solidFill>
                  <a:srgbClr val="FFFFFF"/>
                </a:solidFill>
                <a:latin typeface="Calibri"/>
              </a:rPr>
              <a:t>33%</a:t>
            </a:r>
          </a:p>
        </p:txBody>
      </p:sp>
      <p:sp>
        <p:nvSpPr>
          <p:cNvPr id="7" name="TextBox 6"/>
          <p:cNvSpPr txBox="1"/>
          <p:nvPr/>
        </p:nvSpPr>
        <p:spPr>
          <a:xfrm>
            <a:off x="777240" y="2331720"/>
            <a:ext cx="3200400" cy="777240"/>
          </a:xfrm>
          <a:prstGeom prst="rect">
            <a:avLst/>
          </a:prstGeom>
          <a:noFill/>
        </p:spPr>
        <p:txBody>
          <a:bodyPr wrap="square" anchor="t" lIns="45720" rIns="45720" tIns="18288" bIns="18288">
            <a:spAutoFit/>
          </a:bodyPr>
          <a:lstStyle/>
          <a:p>
            <a:pPr algn="l"/>
            <a:r>
              <a:rPr sz="1100" b="0">
                <a:solidFill>
                  <a:srgbClr val="D9DDE5"/>
                </a:solidFill>
                <a:latin typeface="Calibri"/>
              </a:rPr>
              <a:t>of enterprise software applications will include agentic AI by 2028 — up from &lt;1% in 2024.</a:t>
            </a:r>
          </a:p>
        </p:txBody>
      </p:sp>
      <p:sp>
        <p:nvSpPr>
          <p:cNvPr id="8" name="TextBox 7"/>
          <p:cNvSpPr txBox="1"/>
          <p:nvPr/>
        </p:nvSpPr>
        <p:spPr>
          <a:xfrm>
            <a:off x="777240" y="3017520"/>
            <a:ext cx="3200400" cy="256032"/>
          </a:xfrm>
          <a:prstGeom prst="rect">
            <a:avLst/>
          </a:prstGeom>
          <a:noFill/>
        </p:spPr>
        <p:txBody>
          <a:bodyPr wrap="square" anchor="t" lIns="45720" rIns="45720" tIns="18288" bIns="18288">
            <a:spAutoFit/>
          </a:bodyPr>
          <a:lstStyle/>
          <a:p>
            <a:pPr algn="l"/>
            <a:r>
              <a:rPr sz="900" b="1">
                <a:solidFill>
                  <a:srgbClr val="0078D4"/>
                </a:solidFill>
                <a:latin typeface="Consolas"/>
              </a:rPr>
              <a:t>SOURCE · GARTNER, 2024</a:t>
            </a:r>
          </a:p>
        </p:txBody>
      </p:sp>
      <p:sp>
        <p:nvSpPr>
          <p:cNvPr id="9" name="Rounded Rectangle 8"/>
          <p:cNvSpPr/>
          <p:nvPr/>
        </p:nvSpPr>
        <p:spPr>
          <a:xfrm>
            <a:off x="4343400" y="1554480"/>
            <a:ext cx="3657600" cy="1828800"/>
          </a:xfrm>
          <a:prstGeom prst="roundRect">
            <a:avLst>
              <a:gd name="adj" fmla="val 4000"/>
            </a:avLst>
          </a:prstGeom>
          <a:solidFill>
            <a:srgbClr val="1A2540"/>
          </a:solidFill>
          <a:ln w="12700">
            <a:solidFill>
              <a:srgbClr val="FFD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19072"/>
            <a:ext cx="3200400" cy="594360"/>
          </a:xfrm>
          <a:prstGeom prst="rect">
            <a:avLst/>
          </a:prstGeom>
          <a:noFill/>
        </p:spPr>
        <p:txBody>
          <a:bodyPr wrap="square" anchor="t" lIns="45720" rIns="45720" tIns="18288" bIns="18288">
            <a:spAutoFit/>
          </a:bodyPr>
          <a:lstStyle/>
          <a:p>
            <a:pPr algn="l"/>
            <a:r>
              <a:rPr sz="3000" b="1">
                <a:solidFill>
                  <a:srgbClr val="FFFFFF"/>
                </a:solidFill>
                <a:latin typeface="Calibri"/>
              </a:rPr>
              <a:t>15%</a:t>
            </a:r>
          </a:p>
        </p:txBody>
      </p:sp>
      <p:sp>
        <p:nvSpPr>
          <p:cNvPr id="11" name="TextBox 10"/>
          <p:cNvSpPr txBox="1"/>
          <p:nvPr/>
        </p:nvSpPr>
        <p:spPr>
          <a:xfrm>
            <a:off x="4572000" y="2331720"/>
            <a:ext cx="3200400" cy="777240"/>
          </a:xfrm>
          <a:prstGeom prst="rect">
            <a:avLst/>
          </a:prstGeom>
          <a:noFill/>
        </p:spPr>
        <p:txBody>
          <a:bodyPr wrap="square" anchor="t" lIns="45720" rIns="45720" tIns="18288" bIns="18288">
            <a:spAutoFit/>
          </a:bodyPr>
          <a:lstStyle/>
          <a:p>
            <a:pPr algn="l"/>
            <a:r>
              <a:rPr sz="1100" b="0">
                <a:solidFill>
                  <a:srgbClr val="D9DDE5"/>
                </a:solidFill>
                <a:latin typeface="Calibri"/>
              </a:rPr>
              <a:t>of day-to-day work decisions will be made autonomously by agentic AI by 2028 — up from 0% in 2024.</a:t>
            </a:r>
          </a:p>
        </p:txBody>
      </p:sp>
      <p:sp>
        <p:nvSpPr>
          <p:cNvPr id="12" name="TextBox 11"/>
          <p:cNvSpPr txBox="1"/>
          <p:nvPr/>
        </p:nvSpPr>
        <p:spPr>
          <a:xfrm>
            <a:off x="4572000" y="3017520"/>
            <a:ext cx="3200400" cy="256032"/>
          </a:xfrm>
          <a:prstGeom prst="rect">
            <a:avLst/>
          </a:prstGeom>
          <a:noFill/>
        </p:spPr>
        <p:txBody>
          <a:bodyPr wrap="square" anchor="t" lIns="45720" rIns="45720" tIns="18288" bIns="18288">
            <a:spAutoFit/>
          </a:bodyPr>
          <a:lstStyle/>
          <a:p>
            <a:pPr algn="l"/>
            <a:r>
              <a:rPr sz="900" b="1">
                <a:solidFill>
                  <a:srgbClr val="FFD600"/>
                </a:solidFill>
                <a:latin typeface="Consolas"/>
              </a:rPr>
              <a:t>SOURCE · GARTNER, 2024</a:t>
            </a:r>
          </a:p>
        </p:txBody>
      </p:sp>
      <p:sp>
        <p:nvSpPr>
          <p:cNvPr id="13" name="Rounded Rectangle 12"/>
          <p:cNvSpPr/>
          <p:nvPr/>
        </p:nvSpPr>
        <p:spPr>
          <a:xfrm>
            <a:off x="8138160" y="1554480"/>
            <a:ext cx="3657600" cy="182880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1719072"/>
            <a:ext cx="3200400" cy="594360"/>
          </a:xfrm>
          <a:prstGeom prst="rect">
            <a:avLst/>
          </a:prstGeom>
          <a:noFill/>
        </p:spPr>
        <p:txBody>
          <a:bodyPr wrap="square" anchor="t" lIns="45720" rIns="45720" tIns="18288" bIns="18288">
            <a:spAutoFit/>
          </a:bodyPr>
          <a:lstStyle/>
          <a:p>
            <a:pPr algn="l"/>
            <a:r>
              <a:rPr sz="3000" b="1">
                <a:solidFill>
                  <a:srgbClr val="FFFFFF"/>
                </a:solidFill>
                <a:latin typeface="Calibri"/>
              </a:rPr>
              <a:t>$450B+</a:t>
            </a:r>
          </a:p>
        </p:txBody>
      </p:sp>
      <p:sp>
        <p:nvSpPr>
          <p:cNvPr id="15" name="TextBox 14"/>
          <p:cNvSpPr txBox="1"/>
          <p:nvPr/>
        </p:nvSpPr>
        <p:spPr>
          <a:xfrm>
            <a:off x="8366760" y="2331720"/>
            <a:ext cx="3200400" cy="777240"/>
          </a:xfrm>
          <a:prstGeom prst="rect">
            <a:avLst/>
          </a:prstGeom>
          <a:noFill/>
        </p:spPr>
        <p:txBody>
          <a:bodyPr wrap="square" anchor="t" lIns="45720" rIns="45720" tIns="18288" bIns="18288">
            <a:spAutoFit/>
          </a:bodyPr>
          <a:lstStyle/>
          <a:p>
            <a:pPr algn="l"/>
            <a:r>
              <a:rPr sz="1100" b="0">
                <a:solidFill>
                  <a:srgbClr val="D9DDE5"/>
                </a:solidFill>
                <a:latin typeface="Calibri"/>
              </a:rPr>
              <a:t>projected agentic enterprise software market by 2035 — ~30% of total enterprise app revenue.</a:t>
            </a:r>
          </a:p>
        </p:txBody>
      </p:sp>
      <p:sp>
        <p:nvSpPr>
          <p:cNvPr id="16" name="TextBox 15"/>
          <p:cNvSpPr txBox="1"/>
          <p:nvPr/>
        </p:nvSpPr>
        <p:spPr>
          <a:xfrm>
            <a:off x="8366760" y="3017520"/>
            <a:ext cx="3200400" cy="256032"/>
          </a:xfrm>
          <a:prstGeom prst="rect">
            <a:avLst/>
          </a:prstGeom>
          <a:noFill/>
        </p:spPr>
        <p:txBody>
          <a:bodyPr wrap="square" anchor="t" lIns="45720" rIns="45720" tIns="18288" bIns="18288">
            <a:spAutoFit/>
          </a:bodyPr>
          <a:lstStyle/>
          <a:p>
            <a:pPr algn="l"/>
            <a:r>
              <a:rPr sz="900" b="1">
                <a:solidFill>
                  <a:srgbClr val="2DD4BF"/>
                </a:solidFill>
                <a:latin typeface="Consolas"/>
              </a:rPr>
              <a:t>SOURCE · GARTNER, 2025</a:t>
            </a:r>
          </a:p>
        </p:txBody>
      </p:sp>
      <p:sp>
        <p:nvSpPr>
          <p:cNvPr id="17" name="Rounded Rectangle 16"/>
          <p:cNvSpPr/>
          <p:nvPr/>
        </p:nvSpPr>
        <p:spPr>
          <a:xfrm>
            <a:off x="548640" y="3547872"/>
            <a:ext cx="3657600" cy="182880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712464"/>
            <a:ext cx="3200400" cy="594360"/>
          </a:xfrm>
          <a:prstGeom prst="rect">
            <a:avLst/>
          </a:prstGeom>
          <a:noFill/>
        </p:spPr>
        <p:txBody>
          <a:bodyPr wrap="square" anchor="t" lIns="45720" rIns="45720" tIns="18288" bIns="18288">
            <a:spAutoFit/>
          </a:bodyPr>
          <a:lstStyle/>
          <a:p>
            <a:pPr algn="l"/>
            <a:r>
              <a:rPr sz="3000" b="1">
                <a:solidFill>
                  <a:srgbClr val="FFFFFF"/>
                </a:solidFill>
                <a:latin typeface="Calibri"/>
              </a:rPr>
              <a:t>82%</a:t>
            </a:r>
          </a:p>
        </p:txBody>
      </p:sp>
      <p:sp>
        <p:nvSpPr>
          <p:cNvPr id="19" name="TextBox 18"/>
          <p:cNvSpPr txBox="1"/>
          <p:nvPr/>
        </p:nvSpPr>
        <p:spPr>
          <a:xfrm>
            <a:off x="777240" y="4325112"/>
            <a:ext cx="3200400" cy="777240"/>
          </a:xfrm>
          <a:prstGeom prst="rect">
            <a:avLst/>
          </a:prstGeom>
          <a:noFill/>
        </p:spPr>
        <p:txBody>
          <a:bodyPr wrap="square" anchor="t" lIns="45720" rIns="45720" tIns="18288" bIns="18288">
            <a:spAutoFit/>
          </a:bodyPr>
          <a:lstStyle/>
          <a:p>
            <a:pPr algn="l"/>
            <a:r>
              <a:rPr sz="1100" b="0">
                <a:solidFill>
                  <a:srgbClr val="D9DDE5"/>
                </a:solidFill>
                <a:latin typeface="Calibri"/>
              </a:rPr>
              <a:t>of leaders plan to use agents to expand workforce capacity in the next 12–18 months. 81% expect agents in operations.</a:t>
            </a:r>
          </a:p>
        </p:txBody>
      </p:sp>
      <p:sp>
        <p:nvSpPr>
          <p:cNvPr id="20" name="TextBox 19"/>
          <p:cNvSpPr txBox="1"/>
          <p:nvPr/>
        </p:nvSpPr>
        <p:spPr>
          <a:xfrm>
            <a:off x="777240" y="5010912"/>
            <a:ext cx="3200400" cy="256032"/>
          </a:xfrm>
          <a:prstGeom prst="rect">
            <a:avLst/>
          </a:prstGeom>
          <a:noFill/>
        </p:spPr>
        <p:txBody>
          <a:bodyPr wrap="square" anchor="t" lIns="45720" rIns="45720" tIns="18288" bIns="18288">
            <a:spAutoFit/>
          </a:bodyPr>
          <a:lstStyle/>
          <a:p>
            <a:pPr algn="l"/>
            <a:r>
              <a:rPr sz="900" b="1">
                <a:solidFill>
                  <a:srgbClr val="94A3B8"/>
                </a:solidFill>
                <a:latin typeface="Consolas"/>
              </a:rPr>
              <a:t>SOURCE · MICROSOFT WORK TREND INDEX, 2025</a:t>
            </a:r>
          </a:p>
        </p:txBody>
      </p:sp>
      <p:sp>
        <p:nvSpPr>
          <p:cNvPr id="21" name="Rounded Rectangle 20"/>
          <p:cNvSpPr/>
          <p:nvPr/>
        </p:nvSpPr>
        <p:spPr>
          <a:xfrm>
            <a:off x="4343400" y="3547872"/>
            <a:ext cx="3657600" cy="182880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712464"/>
            <a:ext cx="3200400" cy="594360"/>
          </a:xfrm>
          <a:prstGeom prst="rect">
            <a:avLst/>
          </a:prstGeom>
          <a:noFill/>
        </p:spPr>
        <p:txBody>
          <a:bodyPr wrap="square" anchor="t" lIns="45720" rIns="45720" tIns="18288" bIns="18288">
            <a:spAutoFit/>
          </a:bodyPr>
          <a:lstStyle/>
          <a:p>
            <a:pPr algn="l"/>
            <a:r>
              <a:rPr sz="3000" b="1">
                <a:solidFill>
                  <a:srgbClr val="FFFFFF"/>
                </a:solidFill>
                <a:latin typeface="Calibri"/>
              </a:rPr>
              <a:t>88%</a:t>
            </a:r>
          </a:p>
        </p:txBody>
      </p:sp>
      <p:sp>
        <p:nvSpPr>
          <p:cNvPr id="23" name="TextBox 22"/>
          <p:cNvSpPr txBox="1"/>
          <p:nvPr/>
        </p:nvSpPr>
        <p:spPr>
          <a:xfrm>
            <a:off x="4572000" y="4325112"/>
            <a:ext cx="3200400" cy="777240"/>
          </a:xfrm>
          <a:prstGeom prst="rect">
            <a:avLst/>
          </a:prstGeom>
          <a:noFill/>
        </p:spPr>
        <p:txBody>
          <a:bodyPr wrap="square" anchor="t" lIns="45720" rIns="45720" tIns="18288" bIns="18288">
            <a:spAutoFit/>
          </a:bodyPr>
          <a:lstStyle/>
          <a:p>
            <a:pPr algn="l"/>
            <a:r>
              <a:rPr sz="1100" b="0">
                <a:solidFill>
                  <a:srgbClr val="D9DDE5"/>
                </a:solidFill>
                <a:latin typeface="Calibri"/>
              </a:rPr>
              <a:t>of organisations use AI in at least one function — but only 5.5% see real financial returns. The gap is data + integration.</a:t>
            </a:r>
          </a:p>
        </p:txBody>
      </p:sp>
      <p:sp>
        <p:nvSpPr>
          <p:cNvPr id="24" name="TextBox 23"/>
          <p:cNvSpPr txBox="1"/>
          <p:nvPr/>
        </p:nvSpPr>
        <p:spPr>
          <a:xfrm>
            <a:off x="4572000" y="5010912"/>
            <a:ext cx="3200400" cy="256032"/>
          </a:xfrm>
          <a:prstGeom prst="rect">
            <a:avLst/>
          </a:prstGeom>
          <a:noFill/>
        </p:spPr>
        <p:txBody>
          <a:bodyPr wrap="square" anchor="t" lIns="45720" rIns="45720" tIns="18288" bIns="18288">
            <a:spAutoFit/>
          </a:bodyPr>
          <a:lstStyle/>
          <a:p>
            <a:pPr algn="l"/>
            <a:r>
              <a:rPr sz="900" b="1">
                <a:solidFill>
                  <a:srgbClr val="94A3B8"/>
                </a:solidFill>
                <a:latin typeface="Consolas"/>
              </a:rPr>
              <a:t>SOURCE · MCKINSEY STATE OF AI, 2025</a:t>
            </a:r>
          </a:p>
        </p:txBody>
      </p:sp>
      <p:sp>
        <p:nvSpPr>
          <p:cNvPr id="25" name="Rounded Rectangle 24"/>
          <p:cNvSpPr/>
          <p:nvPr/>
        </p:nvSpPr>
        <p:spPr>
          <a:xfrm>
            <a:off x="8138160" y="3547872"/>
            <a:ext cx="3657600" cy="1828800"/>
          </a:xfrm>
          <a:prstGeom prst="roundRect">
            <a:avLst>
              <a:gd name="adj" fmla="val 4000"/>
            </a:avLst>
          </a:prstGeom>
          <a:solidFill>
            <a:srgbClr val="1A2540"/>
          </a:solidFill>
          <a:ln w="22225">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3712464"/>
            <a:ext cx="3200400" cy="594360"/>
          </a:xfrm>
          <a:prstGeom prst="rect">
            <a:avLst/>
          </a:prstGeom>
          <a:noFill/>
        </p:spPr>
        <p:txBody>
          <a:bodyPr wrap="square" anchor="t" lIns="45720" rIns="45720" tIns="18288" bIns="18288">
            <a:spAutoFit/>
          </a:bodyPr>
          <a:lstStyle/>
          <a:p>
            <a:pPr algn="l"/>
            <a:r>
              <a:rPr sz="3000" b="1">
                <a:solidFill>
                  <a:srgbClr val="FFFFFF"/>
                </a:solidFill>
                <a:latin typeface="Calibri"/>
              </a:rPr>
              <a:t>40%+</a:t>
            </a:r>
          </a:p>
        </p:txBody>
      </p:sp>
      <p:sp>
        <p:nvSpPr>
          <p:cNvPr id="27" name="TextBox 26"/>
          <p:cNvSpPr txBox="1"/>
          <p:nvPr/>
        </p:nvSpPr>
        <p:spPr>
          <a:xfrm>
            <a:off x="11109960" y="3776472"/>
            <a:ext cx="457200" cy="365760"/>
          </a:xfrm>
          <a:prstGeom prst="rect">
            <a:avLst/>
          </a:prstGeom>
          <a:noFill/>
        </p:spPr>
        <p:txBody>
          <a:bodyPr wrap="square" anchor="t" lIns="45720" rIns="45720" tIns="18288" bIns="18288">
            <a:spAutoFit/>
          </a:bodyPr>
          <a:lstStyle/>
          <a:p>
            <a:pPr algn="r"/>
            <a:r>
              <a:rPr sz="2000" b="0">
                <a:solidFill>
                  <a:srgbClr val="C74634"/>
                </a:solidFill>
                <a:latin typeface="Calibri"/>
              </a:rPr>
              <a:t>⚠</a:t>
            </a:r>
          </a:p>
        </p:txBody>
      </p:sp>
      <p:sp>
        <p:nvSpPr>
          <p:cNvPr id="28" name="TextBox 27"/>
          <p:cNvSpPr txBox="1"/>
          <p:nvPr/>
        </p:nvSpPr>
        <p:spPr>
          <a:xfrm>
            <a:off x="8366760" y="4325112"/>
            <a:ext cx="3200400" cy="777240"/>
          </a:xfrm>
          <a:prstGeom prst="rect">
            <a:avLst/>
          </a:prstGeom>
          <a:noFill/>
        </p:spPr>
        <p:txBody>
          <a:bodyPr wrap="square" anchor="t" lIns="45720" rIns="45720" tIns="18288" bIns="18288">
            <a:spAutoFit/>
          </a:bodyPr>
          <a:lstStyle/>
          <a:p>
            <a:pPr algn="l"/>
            <a:r>
              <a:rPr sz="1100" b="0">
                <a:solidFill>
                  <a:srgbClr val="D9DDE5"/>
                </a:solidFill>
                <a:latin typeface="Calibri"/>
              </a:rPr>
              <a:t>of agentic AI projects will be cancelled by end of 2027 — escalating costs, unclear value, weak governance. Architecture matters.</a:t>
            </a:r>
          </a:p>
        </p:txBody>
      </p:sp>
      <p:sp>
        <p:nvSpPr>
          <p:cNvPr id="29" name="TextBox 28"/>
          <p:cNvSpPr txBox="1"/>
          <p:nvPr/>
        </p:nvSpPr>
        <p:spPr>
          <a:xfrm>
            <a:off x="8366760" y="5010912"/>
            <a:ext cx="3200400" cy="256032"/>
          </a:xfrm>
          <a:prstGeom prst="rect">
            <a:avLst/>
          </a:prstGeom>
          <a:noFill/>
        </p:spPr>
        <p:txBody>
          <a:bodyPr wrap="square" anchor="t" lIns="45720" rIns="45720" tIns="18288" bIns="18288">
            <a:spAutoFit/>
          </a:bodyPr>
          <a:lstStyle/>
          <a:p>
            <a:pPr algn="l"/>
            <a:r>
              <a:rPr sz="900" b="1">
                <a:solidFill>
                  <a:srgbClr val="C74634"/>
                </a:solidFill>
                <a:latin typeface="Consolas"/>
              </a:rPr>
              <a:t>SOURCE · GARTNER, 2025</a:t>
            </a:r>
          </a:p>
        </p:txBody>
      </p:sp>
      <p:sp>
        <p:nvSpPr>
          <p:cNvPr id="30" name="Rounded Rectangle 29"/>
          <p:cNvSpPr/>
          <p:nvPr/>
        </p:nvSpPr>
        <p:spPr>
          <a:xfrm>
            <a:off x="548640" y="5632704"/>
            <a:ext cx="11064240" cy="914400"/>
          </a:xfrm>
          <a:prstGeom prst="roundRect">
            <a:avLst>
              <a:gd name="adj" fmla="val 4000"/>
            </a:avLst>
          </a:prstGeom>
          <a:solidFill>
            <a:srgbClr val="1A2540"/>
          </a:solidFill>
          <a:ln w="19050">
            <a:solidFill>
              <a:srgbClr val="FFD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742432"/>
            <a:ext cx="10607040" cy="274320"/>
          </a:xfrm>
          <a:prstGeom prst="rect">
            <a:avLst/>
          </a:prstGeom>
          <a:noFill/>
        </p:spPr>
        <p:txBody>
          <a:bodyPr wrap="square" anchor="t" lIns="45720" rIns="45720" tIns="18288" bIns="18288">
            <a:spAutoFit/>
          </a:bodyPr>
          <a:lstStyle/>
          <a:p>
            <a:pPr algn="l"/>
            <a:r>
              <a:rPr sz="1000" b="1">
                <a:solidFill>
                  <a:srgbClr val="FFD600"/>
                </a:solidFill>
                <a:latin typeface="Consolas"/>
              </a:rPr>
              <a:t>WHY NOW</a:t>
            </a:r>
          </a:p>
        </p:txBody>
      </p:sp>
      <p:sp>
        <p:nvSpPr>
          <p:cNvPr id="32" name="TextBox 31"/>
          <p:cNvSpPr txBox="1"/>
          <p:nvPr/>
        </p:nvSpPr>
        <p:spPr>
          <a:xfrm>
            <a:off x="777240" y="5998464"/>
            <a:ext cx="10607040" cy="548640"/>
          </a:xfrm>
          <a:prstGeom prst="rect">
            <a:avLst/>
          </a:prstGeom>
          <a:noFill/>
        </p:spPr>
        <p:txBody>
          <a:bodyPr wrap="square" anchor="t" lIns="45720" rIns="45720" tIns="18288" bIns="18288">
            <a:spAutoFit/>
          </a:bodyPr>
          <a:lstStyle/>
          <a:p>
            <a:pPr algn="l"/>
            <a:r>
              <a:rPr sz="1150" b="0">
                <a:solidFill>
                  <a:srgbClr val="D9DDE5"/>
                </a:solidFill>
                <a:latin typeface="Calibri"/>
              </a:rPr>
              <a:t>Adoption is mass-market, but value capture is rare. Bolt-on stacks stall; integrated ones compound. For Fortune 2000 enterprises running Oracle, the data-to-worker seam is among the largest unaddressed opportunities in enterprise software — and first-mover lead time compounds every quarter the alliance is shipping.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2DD4BF"/>
                </a:solidFill>
                <a:latin typeface="Consolas"/>
              </a:rPr>
              <a:t>THE BUSINESS CASE · IQ TIER PROGRESSION</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300" b="1">
                <a:solidFill>
                  <a:srgbClr val="FFFFFF"/>
                </a:solidFill>
                <a:latin typeface="Calibri"/>
              </a:rPr>
              <a:t>Each IQ layer turns Oracle data into a more valuable kind of agent.</a:t>
            </a:r>
          </a:p>
        </p:txBody>
      </p:sp>
      <p:sp>
        <p:nvSpPr>
          <p:cNvPr id="5" name="TextBox 4"/>
          <p:cNvSpPr txBox="1"/>
          <p:nvPr/>
        </p:nvSpPr>
        <p:spPr>
          <a:xfrm>
            <a:off x="548640" y="1325880"/>
            <a:ext cx="11064240" cy="365760"/>
          </a:xfrm>
          <a:prstGeom prst="rect">
            <a:avLst/>
          </a:prstGeom>
          <a:noFill/>
        </p:spPr>
        <p:txBody>
          <a:bodyPr wrap="square" anchor="t" lIns="45720" rIns="45720" tIns="18288" bIns="18288">
            <a:spAutoFit/>
          </a:bodyPr>
          <a:lstStyle/>
          <a:p>
            <a:pPr algn="l"/>
            <a:r>
              <a:rPr sz="1200" b="0">
                <a:solidFill>
                  <a:srgbClr val="B0B7C4"/>
                </a:solidFill>
                <a:latin typeface="Calibri"/>
              </a:rPr>
              <a:t>Same Oracle Fusion source. Four agent archetypes. The value isn't additive — it's multiplicative.</a:t>
            </a:r>
          </a:p>
        </p:txBody>
      </p:sp>
      <p:sp>
        <p:nvSpPr>
          <p:cNvPr id="6" name="Rounded Rectangle 5"/>
          <p:cNvSpPr/>
          <p:nvPr/>
        </p:nvSpPr>
        <p:spPr>
          <a:xfrm>
            <a:off x="548640" y="1874519"/>
            <a:ext cx="2697480" cy="411480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39111"/>
            <a:ext cx="1280160" cy="274320"/>
          </a:xfrm>
          <a:prstGeom prst="rect">
            <a:avLst/>
          </a:prstGeom>
          <a:noFill/>
        </p:spPr>
        <p:txBody>
          <a:bodyPr wrap="square" anchor="t" lIns="45720" rIns="45720" tIns="18288" bIns="18288">
            <a:spAutoFit/>
          </a:bodyPr>
          <a:lstStyle/>
          <a:p>
            <a:pPr algn="l"/>
            <a:r>
              <a:rPr sz="1000" b="1">
                <a:solidFill>
                  <a:srgbClr val="94A3B8"/>
                </a:solidFill>
                <a:latin typeface="Consolas"/>
              </a:rPr>
              <a:t>T0  ·  Baseline</a:t>
            </a:r>
          </a:p>
        </p:txBody>
      </p:sp>
      <p:sp>
        <p:nvSpPr>
          <p:cNvPr id="8" name="Rounded Rectangle 7"/>
          <p:cNvSpPr/>
          <p:nvPr/>
        </p:nvSpPr>
        <p:spPr>
          <a:xfrm>
            <a:off x="2286000" y="2039111"/>
            <a:ext cx="777240" cy="256032"/>
          </a:xfrm>
          <a:prstGeom prst="roundRect">
            <a:avLst>
              <a:gd name="adj" fmla="val 50000"/>
            </a:avLst>
          </a:prstGeom>
          <a:solidFill>
            <a:srgbClr val="94A3B8"/>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00" b="1">
                <a:solidFill>
                  <a:srgbClr val="94A3B8"/>
                </a:solidFill>
                <a:latin typeface="Consolas"/>
              </a:rPr>
              <a:t>Oracle data</a:t>
            </a:r>
          </a:p>
        </p:txBody>
      </p:sp>
      <p:sp>
        <p:nvSpPr>
          <p:cNvPr id="9" name="TextBox 8"/>
          <p:cNvSpPr txBox="1"/>
          <p:nvPr/>
        </p:nvSpPr>
        <p:spPr>
          <a:xfrm>
            <a:off x="731520" y="2423159"/>
            <a:ext cx="2331720" cy="365760"/>
          </a:xfrm>
          <a:prstGeom prst="rect">
            <a:avLst/>
          </a:prstGeom>
          <a:noFill/>
        </p:spPr>
        <p:txBody>
          <a:bodyPr wrap="square" anchor="t" lIns="45720" rIns="45720" tIns="18288" bIns="18288">
            <a:spAutoFit/>
          </a:bodyPr>
          <a:lstStyle/>
          <a:p>
            <a:pPr algn="l"/>
            <a:r>
              <a:rPr sz="1500" b="1">
                <a:solidFill>
                  <a:srgbClr val="FFFFFF"/>
                </a:solidFill>
                <a:latin typeface="Calibri"/>
              </a:rPr>
              <a:t>Lookup agent</a:t>
            </a:r>
          </a:p>
        </p:txBody>
      </p:sp>
      <p:sp>
        <p:nvSpPr>
          <p:cNvPr id="10" name="TextBox 9"/>
          <p:cNvSpPr txBox="1"/>
          <p:nvPr/>
        </p:nvSpPr>
        <p:spPr>
          <a:xfrm>
            <a:off x="731520" y="2788919"/>
            <a:ext cx="2331720" cy="914400"/>
          </a:xfrm>
          <a:prstGeom prst="rect">
            <a:avLst/>
          </a:prstGeom>
          <a:noFill/>
        </p:spPr>
        <p:txBody>
          <a:bodyPr wrap="square" anchor="t" lIns="45720" rIns="45720" tIns="18288" bIns="18288">
            <a:spAutoFit/>
          </a:bodyPr>
          <a:lstStyle/>
          <a:p>
            <a:pPr algn="l"/>
            <a:r>
              <a:rPr sz="1100" b="0">
                <a:solidFill>
                  <a:srgbClr val="D9DDE5"/>
                </a:solidFill>
                <a:latin typeface="Calibri"/>
              </a:rPr>
              <a:t>Knows where the data lives. Describes tables, fields, definitions. Cannot interpret.</a:t>
            </a:r>
          </a:p>
        </p:txBody>
      </p:sp>
      <p:sp>
        <p:nvSpPr>
          <p:cNvPr id="11" name="TextBox 10"/>
          <p:cNvSpPr txBox="1"/>
          <p:nvPr/>
        </p:nvSpPr>
        <p:spPr>
          <a:xfrm>
            <a:off x="731520" y="3749038"/>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12" name="TextBox 11"/>
          <p:cNvSpPr txBox="1"/>
          <p:nvPr/>
        </p:nvSpPr>
        <p:spPr>
          <a:xfrm>
            <a:off x="731520" y="3977639"/>
            <a:ext cx="2331720" cy="1188720"/>
          </a:xfrm>
          <a:prstGeom prst="rect">
            <a:avLst/>
          </a:prstGeom>
          <a:noFill/>
        </p:spPr>
        <p:txBody>
          <a:bodyPr wrap="square" anchor="t" lIns="45720" rIns="45720" tIns="18288" bIns="18288">
            <a:spAutoFit/>
          </a:bodyPr>
          <a:lstStyle/>
          <a:p>
            <a:pPr algn="l"/>
            <a:r>
              <a:rPr sz="1050" b="0">
                <a:solidFill>
                  <a:srgbClr val="D9DDE5"/>
                </a:solidFill>
                <a:latin typeface="Calibri"/>
              </a:rPr>
              <a:t>“Here are the Oracle SCM tables that hold supplier and PO data.”</a:t>
            </a:r>
          </a:p>
        </p:txBody>
      </p:sp>
      <p:sp>
        <p:nvSpPr>
          <p:cNvPr id="13" name="TextBox 12"/>
          <p:cNvSpPr txBox="1"/>
          <p:nvPr/>
        </p:nvSpPr>
        <p:spPr>
          <a:xfrm>
            <a:off x="731520" y="5074919"/>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VALUE</a:t>
            </a:r>
          </a:p>
        </p:txBody>
      </p:sp>
      <p:sp>
        <p:nvSpPr>
          <p:cNvPr id="14" name="TextBox 13"/>
          <p:cNvSpPr txBox="1"/>
          <p:nvPr/>
        </p:nvSpPr>
        <p:spPr>
          <a:xfrm>
            <a:off x="731520" y="5303519"/>
            <a:ext cx="2331720" cy="640080"/>
          </a:xfrm>
          <a:prstGeom prst="rect">
            <a:avLst/>
          </a:prstGeom>
          <a:noFill/>
        </p:spPr>
        <p:txBody>
          <a:bodyPr wrap="square" anchor="t" lIns="45720" rIns="45720" tIns="18288" bIns="18288">
            <a:spAutoFit/>
          </a:bodyPr>
          <a:lstStyle/>
          <a:p>
            <a:pPr algn="l"/>
            <a:r>
              <a:rPr sz="1050" b="1">
                <a:solidFill>
                  <a:srgbClr val="94A3B8"/>
                </a:solidFill>
                <a:latin typeface="Calibri"/>
              </a:rPr>
              <a:t>Foundation only — table stakes. $0 incremental decision value.</a:t>
            </a:r>
          </a:p>
        </p:txBody>
      </p:sp>
      <p:sp>
        <p:nvSpPr>
          <p:cNvPr id="15" name="Rounded Rectangle 14"/>
          <p:cNvSpPr/>
          <p:nvPr/>
        </p:nvSpPr>
        <p:spPr>
          <a:xfrm>
            <a:off x="3383280" y="1874519"/>
            <a:ext cx="2697480" cy="411480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039111"/>
            <a:ext cx="1280160" cy="274320"/>
          </a:xfrm>
          <a:prstGeom prst="rect">
            <a:avLst/>
          </a:prstGeom>
          <a:noFill/>
        </p:spPr>
        <p:txBody>
          <a:bodyPr wrap="square" anchor="t" lIns="45720" rIns="45720" tIns="18288" bIns="18288">
            <a:spAutoFit/>
          </a:bodyPr>
          <a:lstStyle/>
          <a:p>
            <a:pPr algn="l"/>
            <a:r>
              <a:rPr sz="1000" b="1">
                <a:solidFill>
                  <a:srgbClr val="0078D4"/>
                </a:solidFill>
                <a:latin typeface="Consolas"/>
              </a:rPr>
              <a:t>T1  ·  + Fabric IQ</a:t>
            </a:r>
          </a:p>
        </p:txBody>
      </p:sp>
      <p:sp>
        <p:nvSpPr>
          <p:cNvPr id="17" name="Rounded Rectangle 16"/>
          <p:cNvSpPr/>
          <p:nvPr/>
        </p:nvSpPr>
        <p:spPr>
          <a:xfrm>
            <a:off x="5120640" y="2039111"/>
            <a:ext cx="777240" cy="256032"/>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00" b="1">
                <a:solidFill>
                  <a:srgbClr val="0078D4"/>
                </a:solidFill>
                <a:latin typeface="Consolas"/>
              </a:rPr>
              <a:t>Semantic</a:t>
            </a:r>
          </a:p>
        </p:txBody>
      </p:sp>
      <p:sp>
        <p:nvSpPr>
          <p:cNvPr id="18" name="TextBox 17"/>
          <p:cNvSpPr txBox="1"/>
          <p:nvPr/>
        </p:nvSpPr>
        <p:spPr>
          <a:xfrm>
            <a:off x="3566160" y="2423159"/>
            <a:ext cx="2331720" cy="365760"/>
          </a:xfrm>
          <a:prstGeom prst="rect">
            <a:avLst/>
          </a:prstGeom>
          <a:noFill/>
        </p:spPr>
        <p:txBody>
          <a:bodyPr wrap="square" anchor="t" lIns="45720" rIns="45720" tIns="18288" bIns="18288">
            <a:spAutoFit/>
          </a:bodyPr>
          <a:lstStyle/>
          <a:p>
            <a:pPr algn="l"/>
            <a:r>
              <a:rPr sz="1500" b="1">
                <a:solidFill>
                  <a:srgbClr val="FFFFFF"/>
                </a:solidFill>
                <a:latin typeface="Calibri"/>
              </a:rPr>
              <a:t>Insight agent</a:t>
            </a:r>
          </a:p>
        </p:txBody>
      </p:sp>
      <p:sp>
        <p:nvSpPr>
          <p:cNvPr id="19" name="TextBox 18"/>
          <p:cNvSpPr txBox="1"/>
          <p:nvPr/>
        </p:nvSpPr>
        <p:spPr>
          <a:xfrm>
            <a:off x="3566160" y="2788919"/>
            <a:ext cx="2331720" cy="914400"/>
          </a:xfrm>
          <a:prstGeom prst="rect">
            <a:avLst/>
          </a:prstGeom>
          <a:noFill/>
        </p:spPr>
        <p:txBody>
          <a:bodyPr wrap="square" anchor="t" lIns="45720" rIns="45720" tIns="18288" bIns="18288">
            <a:spAutoFit/>
          </a:bodyPr>
          <a:lstStyle/>
          <a:p>
            <a:pPr algn="l"/>
            <a:r>
              <a:rPr sz="1100" b="0">
                <a:solidFill>
                  <a:srgbClr val="D9DDE5"/>
                </a:solidFill>
                <a:latin typeface="Calibri"/>
              </a:rPr>
              <a:t>Joins Oracle's semantic model. Quantifies, aggregates, trends — answers what the data says.</a:t>
            </a:r>
          </a:p>
        </p:txBody>
      </p:sp>
      <p:sp>
        <p:nvSpPr>
          <p:cNvPr id="20" name="TextBox 19"/>
          <p:cNvSpPr txBox="1"/>
          <p:nvPr/>
        </p:nvSpPr>
        <p:spPr>
          <a:xfrm>
            <a:off x="3566160" y="3749038"/>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21" name="TextBox 20"/>
          <p:cNvSpPr txBox="1"/>
          <p:nvPr/>
        </p:nvSpPr>
        <p:spPr>
          <a:xfrm>
            <a:off x="3566160" y="3977639"/>
            <a:ext cx="2331720" cy="1188720"/>
          </a:xfrm>
          <a:prstGeom prst="rect">
            <a:avLst/>
          </a:prstGeom>
          <a:noFill/>
        </p:spPr>
        <p:txBody>
          <a:bodyPr wrap="square" anchor="t" lIns="45720" rIns="45720" tIns="18288" bIns="18288">
            <a:spAutoFit/>
          </a:bodyPr>
          <a:lstStyle/>
          <a:p>
            <a:pPr algn="l"/>
            <a:r>
              <a:rPr sz="1050" b="0">
                <a:solidFill>
                  <a:srgbClr val="D9DDE5"/>
                </a:solidFill>
                <a:latin typeface="Calibri"/>
              </a:rPr>
              <a:t>“EMEA Q3 exposure is $47.2M across 84 suppliers; on-time delivery has fallen to 87%.”</a:t>
            </a:r>
          </a:p>
        </p:txBody>
      </p:sp>
      <p:sp>
        <p:nvSpPr>
          <p:cNvPr id="22" name="TextBox 21"/>
          <p:cNvSpPr txBox="1"/>
          <p:nvPr/>
        </p:nvSpPr>
        <p:spPr>
          <a:xfrm>
            <a:off x="3566160" y="5074919"/>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VALUE</a:t>
            </a:r>
          </a:p>
        </p:txBody>
      </p:sp>
      <p:sp>
        <p:nvSpPr>
          <p:cNvPr id="23" name="TextBox 22"/>
          <p:cNvSpPr txBox="1"/>
          <p:nvPr/>
        </p:nvSpPr>
        <p:spPr>
          <a:xfrm>
            <a:off x="3566160" y="5303519"/>
            <a:ext cx="2331720" cy="640080"/>
          </a:xfrm>
          <a:prstGeom prst="rect">
            <a:avLst/>
          </a:prstGeom>
          <a:noFill/>
        </p:spPr>
        <p:txBody>
          <a:bodyPr wrap="square" anchor="t" lIns="45720" rIns="45720" tIns="18288" bIns="18288">
            <a:spAutoFit/>
          </a:bodyPr>
          <a:lstStyle/>
          <a:p>
            <a:pPr algn="l"/>
            <a:r>
              <a:rPr sz="1050" b="1">
                <a:solidFill>
                  <a:srgbClr val="0078D4"/>
                </a:solidFill>
                <a:latin typeface="Calibri"/>
              </a:rPr>
              <a:t>Quarterly review prep: days → minutes. Defensible numbers without SQL.</a:t>
            </a:r>
          </a:p>
        </p:txBody>
      </p:sp>
      <p:sp>
        <p:nvSpPr>
          <p:cNvPr id="24" name="Rounded Rectangle 23"/>
          <p:cNvSpPr/>
          <p:nvPr/>
        </p:nvSpPr>
        <p:spPr>
          <a:xfrm>
            <a:off x="6217920" y="1874519"/>
            <a:ext cx="2697480" cy="4114800"/>
          </a:xfrm>
          <a:prstGeom prst="roundRect">
            <a:avLst>
              <a:gd name="adj" fmla="val 4000"/>
            </a:avLst>
          </a:prstGeom>
          <a:solidFill>
            <a:srgbClr val="1A2540"/>
          </a:solidFill>
          <a:ln w="12700">
            <a:solidFill>
              <a:srgbClr val="FFD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039111"/>
            <a:ext cx="1280160" cy="274320"/>
          </a:xfrm>
          <a:prstGeom prst="rect">
            <a:avLst/>
          </a:prstGeom>
          <a:noFill/>
        </p:spPr>
        <p:txBody>
          <a:bodyPr wrap="square" anchor="t" lIns="45720" rIns="45720" tIns="18288" bIns="18288">
            <a:spAutoFit/>
          </a:bodyPr>
          <a:lstStyle/>
          <a:p>
            <a:pPr algn="l"/>
            <a:r>
              <a:rPr sz="1000" b="1">
                <a:solidFill>
                  <a:srgbClr val="FFD600"/>
                </a:solidFill>
                <a:latin typeface="Consolas"/>
              </a:rPr>
              <a:t>T2  ·  + Foundry IQ</a:t>
            </a:r>
          </a:p>
        </p:txBody>
      </p:sp>
      <p:sp>
        <p:nvSpPr>
          <p:cNvPr id="26" name="Rounded Rectangle 25"/>
          <p:cNvSpPr/>
          <p:nvPr/>
        </p:nvSpPr>
        <p:spPr>
          <a:xfrm>
            <a:off x="7955280" y="2039111"/>
            <a:ext cx="777240" cy="256032"/>
          </a:xfrm>
          <a:prstGeom prst="roundRect">
            <a:avLst>
              <a:gd name="adj" fmla="val 50000"/>
            </a:avLst>
          </a:prstGeom>
          <a:solidFill>
            <a:srgbClr val="FFD600"/>
          </a:solidFill>
          <a:ln w="9525">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00" b="1">
                <a:solidFill>
                  <a:srgbClr val="FFD600"/>
                </a:solidFill>
                <a:latin typeface="Consolas"/>
              </a:rPr>
              <a:t>Reasoning</a:t>
            </a:r>
          </a:p>
        </p:txBody>
      </p:sp>
      <p:sp>
        <p:nvSpPr>
          <p:cNvPr id="27" name="TextBox 26"/>
          <p:cNvSpPr txBox="1"/>
          <p:nvPr/>
        </p:nvSpPr>
        <p:spPr>
          <a:xfrm>
            <a:off x="6400800" y="2423159"/>
            <a:ext cx="2331720" cy="365760"/>
          </a:xfrm>
          <a:prstGeom prst="rect">
            <a:avLst/>
          </a:prstGeom>
          <a:noFill/>
        </p:spPr>
        <p:txBody>
          <a:bodyPr wrap="square" anchor="t" lIns="45720" rIns="45720" tIns="18288" bIns="18288">
            <a:spAutoFit/>
          </a:bodyPr>
          <a:lstStyle/>
          <a:p>
            <a:pPr algn="l"/>
            <a:r>
              <a:rPr sz="1500" b="1">
                <a:solidFill>
                  <a:srgbClr val="FFFFFF"/>
                </a:solidFill>
                <a:latin typeface="Calibri"/>
              </a:rPr>
              <a:t>Decision agent</a:t>
            </a:r>
          </a:p>
        </p:txBody>
      </p:sp>
      <p:sp>
        <p:nvSpPr>
          <p:cNvPr id="28" name="TextBox 27"/>
          <p:cNvSpPr txBox="1"/>
          <p:nvPr/>
        </p:nvSpPr>
        <p:spPr>
          <a:xfrm>
            <a:off x="6400800" y="2788919"/>
            <a:ext cx="2331720" cy="914400"/>
          </a:xfrm>
          <a:prstGeom prst="rect">
            <a:avLst/>
          </a:prstGeom>
          <a:noFill/>
        </p:spPr>
        <p:txBody>
          <a:bodyPr wrap="square" anchor="t" lIns="45720" rIns="45720" tIns="18288" bIns="18288">
            <a:spAutoFit/>
          </a:bodyPr>
          <a:lstStyle/>
          <a:p>
            <a:pPr algn="l"/>
            <a:r>
              <a:rPr sz="1100" b="0">
                <a:solidFill>
                  <a:srgbClr val="D9DDE5"/>
                </a:solidFill>
                <a:latin typeface="Calibri"/>
              </a:rPr>
              <a:t>Reasons across the data. Ranks moves, projects $-impact, cites every claim back to Oracle source.</a:t>
            </a:r>
          </a:p>
        </p:txBody>
      </p:sp>
      <p:sp>
        <p:nvSpPr>
          <p:cNvPr id="29" name="TextBox 28"/>
          <p:cNvSpPr txBox="1"/>
          <p:nvPr/>
        </p:nvSpPr>
        <p:spPr>
          <a:xfrm>
            <a:off x="6400800" y="3749038"/>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30" name="TextBox 29"/>
          <p:cNvSpPr txBox="1"/>
          <p:nvPr/>
        </p:nvSpPr>
        <p:spPr>
          <a:xfrm>
            <a:off x="6400800" y="3977639"/>
            <a:ext cx="2331720" cy="1188720"/>
          </a:xfrm>
          <a:prstGeom prst="rect">
            <a:avLst/>
          </a:prstGeom>
          <a:noFill/>
        </p:spPr>
        <p:txBody>
          <a:bodyPr wrap="square" anchor="t" lIns="45720" rIns="45720" tIns="18288" bIns="18288">
            <a:spAutoFit/>
          </a:bodyPr>
          <a:lstStyle/>
          <a:p>
            <a:pPr algn="l"/>
            <a:r>
              <a:rPr sz="1050" b="0">
                <a:solidFill>
                  <a:srgbClr val="D9DDE5"/>
                </a:solidFill>
                <a:latin typeface="Calibri"/>
              </a:rPr>
              <a:t>“5 prioritised de-risk plays. $18.6M mitigatable in Q3. First move: dual-source 25% of Adriatica volume.”</a:t>
            </a:r>
          </a:p>
        </p:txBody>
      </p:sp>
      <p:sp>
        <p:nvSpPr>
          <p:cNvPr id="31" name="TextBox 30"/>
          <p:cNvSpPr txBox="1"/>
          <p:nvPr/>
        </p:nvSpPr>
        <p:spPr>
          <a:xfrm>
            <a:off x="6400800" y="5074919"/>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VALUE</a:t>
            </a:r>
          </a:p>
        </p:txBody>
      </p:sp>
      <p:sp>
        <p:nvSpPr>
          <p:cNvPr id="32" name="TextBox 31"/>
          <p:cNvSpPr txBox="1"/>
          <p:nvPr/>
        </p:nvSpPr>
        <p:spPr>
          <a:xfrm>
            <a:off x="6400800" y="5303519"/>
            <a:ext cx="2331720" cy="640080"/>
          </a:xfrm>
          <a:prstGeom prst="rect">
            <a:avLst/>
          </a:prstGeom>
          <a:noFill/>
        </p:spPr>
        <p:txBody>
          <a:bodyPr wrap="square" anchor="t" lIns="45720" rIns="45720" tIns="18288" bIns="18288">
            <a:spAutoFit/>
          </a:bodyPr>
          <a:lstStyle/>
          <a:p>
            <a:pPr algn="l"/>
            <a:r>
              <a:rPr sz="1050" b="1">
                <a:solidFill>
                  <a:srgbClr val="FFD600"/>
                </a:solidFill>
                <a:latin typeface="Calibri"/>
              </a:rPr>
              <a:t>Replaces an analyst week with a conversation. $-grade decisions on demand.</a:t>
            </a:r>
          </a:p>
        </p:txBody>
      </p:sp>
      <p:sp>
        <p:nvSpPr>
          <p:cNvPr id="33" name="Rounded Rectangle 32"/>
          <p:cNvSpPr/>
          <p:nvPr/>
        </p:nvSpPr>
        <p:spPr>
          <a:xfrm>
            <a:off x="9052560" y="1874519"/>
            <a:ext cx="2697480" cy="411480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0" y="2039111"/>
            <a:ext cx="1280160" cy="274320"/>
          </a:xfrm>
          <a:prstGeom prst="rect">
            <a:avLst/>
          </a:prstGeom>
          <a:noFill/>
        </p:spPr>
        <p:txBody>
          <a:bodyPr wrap="square" anchor="t" lIns="45720" rIns="45720" tIns="18288" bIns="18288">
            <a:spAutoFit/>
          </a:bodyPr>
          <a:lstStyle/>
          <a:p>
            <a:pPr algn="l"/>
            <a:r>
              <a:rPr sz="1000" b="1">
                <a:solidFill>
                  <a:srgbClr val="2DD4BF"/>
                </a:solidFill>
                <a:latin typeface="Consolas"/>
              </a:rPr>
              <a:t>T3  ·  + Work IQ</a:t>
            </a:r>
          </a:p>
        </p:txBody>
      </p:sp>
      <p:sp>
        <p:nvSpPr>
          <p:cNvPr id="35" name="Rounded Rectangle 34"/>
          <p:cNvSpPr/>
          <p:nvPr/>
        </p:nvSpPr>
        <p:spPr>
          <a:xfrm>
            <a:off x="10789920" y="2039111"/>
            <a:ext cx="777240" cy="256032"/>
          </a:xfrm>
          <a:prstGeom prst="roundRect">
            <a:avLst>
              <a:gd name="adj" fmla="val 50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00" b="1">
                <a:solidFill>
                  <a:srgbClr val="2DD4BF"/>
                </a:solidFill>
                <a:latin typeface="Consolas"/>
              </a:rPr>
              <a:t>Execution</a:t>
            </a:r>
          </a:p>
        </p:txBody>
      </p:sp>
      <p:sp>
        <p:nvSpPr>
          <p:cNvPr id="36" name="TextBox 35"/>
          <p:cNvSpPr txBox="1"/>
          <p:nvPr/>
        </p:nvSpPr>
        <p:spPr>
          <a:xfrm>
            <a:off x="9235440" y="2423159"/>
            <a:ext cx="2331720" cy="365760"/>
          </a:xfrm>
          <a:prstGeom prst="rect">
            <a:avLst/>
          </a:prstGeom>
          <a:noFill/>
        </p:spPr>
        <p:txBody>
          <a:bodyPr wrap="square" anchor="t" lIns="45720" rIns="45720" tIns="18288" bIns="18288">
            <a:spAutoFit/>
          </a:bodyPr>
          <a:lstStyle/>
          <a:p>
            <a:pPr algn="l"/>
            <a:r>
              <a:rPr sz="1500" b="1">
                <a:solidFill>
                  <a:srgbClr val="FFFFFF"/>
                </a:solidFill>
                <a:latin typeface="Calibri"/>
              </a:rPr>
              <a:t>Execution agent</a:t>
            </a:r>
          </a:p>
        </p:txBody>
      </p:sp>
      <p:sp>
        <p:nvSpPr>
          <p:cNvPr id="37" name="TextBox 36"/>
          <p:cNvSpPr txBox="1"/>
          <p:nvPr/>
        </p:nvSpPr>
        <p:spPr>
          <a:xfrm>
            <a:off x="9235440" y="2788919"/>
            <a:ext cx="2331720" cy="914400"/>
          </a:xfrm>
          <a:prstGeom prst="rect">
            <a:avLst/>
          </a:prstGeom>
          <a:noFill/>
        </p:spPr>
        <p:txBody>
          <a:bodyPr wrap="square" anchor="t" lIns="45720" rIns="45720" tIns="18288" bIns="18288">
            <a:spAutoFit/>
          </a:bodyPr>
          <a:lstStyle/>
          <a:p>
            <a:pPr algn="l"/>
            <a:r>
              <a:rPr sz="1100" b="0">
                <a:solidFill>
                  <a:srgbClr val="D9DDE5"/>
                </a:solidFill>
                <a:latin typeface="Calibri"/>
              </a:rPr>
              <a:t>Personalised to the worker via M365 Graph. Drafts the email, the Teams message, the meeting agenda — ready to send.</a:t>
            </a:r>
          </a:p>
        </p:txBody>
      </p:sp>
      <p:sp>
        <p:nvSpPr>
          <p:cNvPr id="38" name="TextBox 37"/>
          <p:cNvSpPr txBox="1"/>
          <p:nvPr/>
        </p:nvSpPr>
        <p:spPr>
          <a:xfrm>
            <a:off x="9235440" y="3749038"/>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39" name="TextBox 38"/>
          <p:cNvSpPr txBox="1"/>
          <p:nvPr/>
        </p:nvSpPr>
        <p:spPr>
          <a:xfrm>
            <a:off x="9235440" y="3977639"/>
            <a:ext cx="2331720" cy="1188720"/>
          </a:xfrm>
          <a:prstGeom prst="rect">
            <a:avLst/>
          </a:prstGeom>
          <a:noFill/>
        </p:spPr>
        <p:txBody>
          <a:bodyPr wrap="square" anchor="t" lIns="45720" rIns="45720" tIns="18288" bIns="18288">
            <a:spAutoFit/>
          </a:bodyPr>
          <a:lstStyle/>
          <a:p>
            <a:pPr algn="l"/>
            <a:r>
              <a:rPr sz="1050" b="0">
                <a:solidFill>
                  <a:srgbClr val="D9DDE5"/>
                </a:solidFill>
                <a:latin typeface="Calibri"/>
              </a:rPr>
              <a:t>“Drafted: green-light email to Maria, Teams ping to Tomás, pre-filled 10am ops-sync agenda — all in your queue.”</a:t>
            </a:r>
          </a:p>
        </p:txBody>
      </p:sp>
      <p:sp>
        <p:nvSpPr>
          <p:cNvPr id="40" name="TextBox 39"/>
          <p:cNvSpPr txBox="1"/>
          <p:nvPr/>
        </p:nvSpPr>
        <p:spPr>
          <a:xfrm>
            <a:off x="9235440" y="5074919"/>
            <a:ext cx="2331720" cy="228600"/>
          </a:xfrm>
          <a:prstGeom prst="rect">
            <a:avLst/>
          </a:prstGeom>
          <a:noFill/>
        </p:spPr>
        <p:txBody>
          <a:bodyPr wrap="square" anchor="t" lIns="45720" rIns="45720" tIns="18288" bIns="18288">
            <a:spAutoFit/>
          </a:bodyPr>
          <a:lstStyle/>
          <a:p>
            <a:pPr algn="l"/>
            <a:r>
              <a:rPr sz="900" b="0">
                <a:solidFill>
                  <a:srgbClr val="94A3B8"/>
                </a:solidFill>
                <a:latin typeface="Consolas"/>
              </a:rPr>
              <a:t>VALUE</a:t>
            </a:r>
          </a:p>
        </p:txBody>
      </p:sp>
      <p:sp>
        <p:nvSpPr>
          <p:cNvPr id="41" name="TextBox 40"/>
          <p:cNvSpPr txBox="1"/>
          <p:nvPr/>
        </p:nvSpPr>
        <p:spPr>
          <a:xfrm>
            <a:off x="9235440" y="5303519"/>
            <a:ext cx="2331720" cy="640080"/>
          </a:xfrm>
          <a:prstGeom prst="rect">
            <a:avLst/>
          </a:prstGeom>
          <a:noFill/>
        </p:spPr>
        <p:txBody>
          <a:bodyPr wrap="square" anchor="t" lIns="45720" rIns="45720" tIns="18288" bIns="18288">
            <a:spAutoFit/>
          </a:bodyPr>
          <a:lstStyle/>
          <a:p>
            <a:pPr algn="l"/>
            <a:r>
              <a:rPr sz="1050" b="1">
                <a:solidFill>
                  <a:srgbClr val="2DD4BF"/>
                </a:solidFill>
                <a:latin typeface="Calibri"/>
              </a:rPr>
              <a:t>The decision is in the calendar before the meeting starts. Hours back per worker, per week.</a:t>
            </a:r>
          </a:p>
        </p:txBody>
      </p:sp>
      <p:sp>
        <p:nvSpPr>
          <p:cNvPr id="42" name="Rounded Rectangle 41"/>
          <p:cNvSpPr/>
          <p:nvPr/>
        </p:nvSpPr>
        <p:spPr>
          <a:xfrm>
            <a:off x="548640" y="6172200"/>
            <a:ext cx="11064240" cy="502920"/>
          </a:xfrm>
          <a:prstGeom prst="roundRect">
            <a:avLst>
              <a:gd name="adj" fmla="val 4000"/>
            </a:avLst>
          </a:prstGeom>
          <a:solidFill>
            <a:srgbClr val="1A2540"/>
          </a:solidFill>
          <a:ln w="1905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6263640"/>
            <a:ext cx="10607040" cy="365760"/>
          </a:xfrm>
          <a:prstGeom prst="rect">
            <a:avLst/>
          </a:prstGeom>
          <a:noFill/>
        </p:spPr>
        <p:txBody>
          <a:bodyPr wrap="square" anchor="t" lIns="45720" rIns="45720" tIns="18288" bIns="18288">
            <a:spAutoFit/>
          </a:bodyPr>
          <a:lstStyle/>
          <a:p>
            <a:pPr algn="l"/>
            <a:r>
              <a:rPr sz="1100" b="1">
                <a:solidFill>
                  <a:srgbClr val="2DD4BF"/>
                </a:solidFill>
                <a:latin typeface="Consolas"/>
              </a:rPr>
              <a:t>THE COMPOUNDING EFFECT  ·  Most agentic projects ship at T1 and stall — they report but never act. The alliance ships the full T0→T3 progression. By Tier 3 the agent isn't reporting on the business — it's running parts of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FFD600"/>
                </a:solidFill>
                <a:latin typeface="Consolas"/>
              </a:rPr>
              <a:t>SIZE OF THE PRIZE</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600" b="1">
                <a:solidFill>
                  <a:srgbClr val="FFFFFF"/>
                </a:solidFill>
                <a:latin typeface="Calibri"/>
              </a:rPr>
              <a:t>The opportunity sized for the alliance.</a:t>
            </a:r>
          </a:p>
        </p:txBody>
      </p:sp>
      <p:sp>
        <p:nvSpPr>
          <p:cNvPr id="5" name="Rounded Rectangle 4"/>
          <p:cNvSpPr/>
          <p:nvPr/>
        </p:nvSpPr>
        <p:spPr>
          <a:xfrm>
            <a:off x="548640" y="1828800"/>
            <a:ext cx="2697480" cy="2743200"/>
          </a:xfrm>
          <a:prstGeom prst="roundRect">
            <a:avLst>
              <a:gd name="adj" fmla="val 4000"/>
            </a:avLst>
          </a:prstGeom>
          <a:solidFill>
            <a:srgbClr val="1A2540"/>
          </a:solidFill>
          <a:ln w="22225">
            <a:solidFill>
              <a:srgbClr val="FFD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2331720" cy="274320"/>
          </a:xfrm>
          <a:prstGeom prst="rect">
            <a:avLst/>
          </a:prstGeom>
          <a:noFill/>
        </p:spPr>
        <p:txBody>
          <a:bodyPr wrap="square" anchor="t" lIns="45720" rIns="45720" tIns="18288" bIns="18288">
            <a:spAutoFit/>
          </a:bodyPr>
          <a:lstStyle/>
          <a:p>
            <a:pPr algn="l"/>
            <a:r>
              <a:rPr sz="1000" b="1">
                <a:solidFill>
                  <a:srgbClr val="FFD600"/>
                </a:solidFill>
                <a:latin typeface="Consolas"/>
              </a:rPr>
              <a:t>TOTAL AGENTIC TAM BY 2035</a:t>
            </a:r>
          </a:p>
        </p:txBody>
      </p:sp>
      <p:sp>
        <p:nvSpPr>
          <p:cNvPr id="7" name="TextBox 6"/>
          <p:cNvSpPr txBox="1"/>
          <p:nvPr/>
        </p:nvSpPr>
        <p:spPr>
          <a:xfrm>
            <a:off x="731520" y="2468880"/>
            <a:ext cx="2331720" cy="1097280"/>
          </a:xfrm>
          <a:prstGeom prst="rect">
            <a:avLst/>
          </a:prstGeom>
          <a:noFill/>
        </p:spPr>
        <p:txBody>
          <a:bodyPr wrap="square" anchor="t" lIns="45720" rIns="45720" tIns="18288" bIns="18288">
            <a:spAutoFit/>
          </a:bodyPr>
          <a:lstStyle/>
          <a:p>
            <a:pPr algn="l"/>
            <a:r>
              <a:rPr sz="4200" b="1">
                <a:solidFill>
                  <a:srgbClr val="FFFFFF"/>
                </a:solidFill>
                <a:latin typeface="Calibri"/>
              </a:rPr>
              <a:t>$450B+</a:t>
            </a:r>
          </a:p>
        </p:txBody>
      </p:sp>
      <p:sp>
        <p:nvSpPr>
          <p:cNvPr id="8" name="TextBox 7"/>
          <p:cNvSpPr txBox="1"/>
          <p:nvPr/>
        </p:nvSpPr>
        <p:spPr>
          <a:xfrm>
            <a:off x="731520" y="3657600"/>
            <a:ext cx="2331720" cy="822960"/>
          </a:xfrm>
          <a:prstGeom prst="rect">
            <a:avLst/>
          </a:prstGeom>
          <a:noFill/>
        </p:spPr>
        <p:txBody>
          <a:bodyPr wrap="square" anchor="t" lIns="45720" rIns="45720" tIns="18288" bIns="18288">
            <a:spAutoFit/>
          </a:bodyPr>
          <a:lstStyle/>
          <a:p>
            <a:pPr algn="l"/>
            <a:r>
              <a:rPr sz="1100" b="0">
                <a:solidFill>
                  <a:srgbClr val="D9DDE5"/>
                </a:solidFill>
                <a:latin typeface="Calibri"/>
              </a:rPr>
              <a:t>Alliance plays for outsized share · Gartner</a:t>
            </a:r>
          </a:p>
        </p:txBody>
      </p:sp>
      <p:sp>
        <p:nvSpPr>
          <p:cNvPr id="9" name="Rounded Rectangle 8"/>
          <p:cNvSpPr/>
          <p:nvPr/>
        </p:nvSpPr>
        <p:spPr>
          <a:xfrm>
            <a:off x="3383280" y="1828800"/>
            <a:ext cx="2697480" cy="274320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057400"/>
            <a:ext cx="2331720" cy="274320"/>
          </a:xfrm>
          <a:prstGeom prst="rect">
            <a:avLst/>
          </a:prstGeom>
          <a:noFill/>
        </p:spPr>
        <p:txBody>
          <a:bodyPr wrap="square" anchor="t" lIns="45720" rIns="45720" tIns="18288" bIns="18288">
            <a:spAutoFit/>
          </a:bodyPr>
          <a:lstStyle/>
          <a:p>
            <a:pPr algn="l"/>
            <a:r>
              <a:rPr sz="1000" b="1">
                <a:solidFill>
                  <a:srgbClr val="94A3B8"/>
                </a:solidFill>
                <a:latin typeface="Consolas"/>
              </a:rPr>
              <a:t>CUSTOMERS IN SCOPE</a:t>
            </a:r>
          </a:p>
        </p:txBody>
      </p:sp>
      <p:sp>
        <p:nvSpPr>
          <p:cNvPr id="11" name="TextBox 10"/>
          <p:cNvSpPr txBox="1"/>
          <p:nvPr/>
        </p:nvSpPr>
        <p:spPr>
          <a:xfrm>
            <a:off x="3566160" y="2468880"/>
            <a:ext cx="2331720" cy="1097280"/>
          </a:xfrm>
          <a:prstGeom prst="rect">
            <a:avLst/>
          </a:prstGeom>
          <a:noFill/>
        </p:spPr>
        <p:txBody>
          <a:bodyPr wrap="square" anchor="t" lIns="45720" rIns="45720" tIns="18288" bIns="18288">
            <a:spAutoFit/>
          </a:bodyPr>
          <a:lstStyle/>
          <a:p>
            <a:pPr algn="l"/>
            <a:r>
              <a:rPr sz="4200" b="1">
                <a:solidFill>
                  <a:srgbClr val="FFFFFF"/>
                </a:solidFill>
                <a:latin typeface="Calibri"/>
              </a:rPr>
              <a:t>~6,000</a:t>
            </a:r>
          </a:p>
        </p:txBody>
      </p:sp>
      <p:sp>
        <p:nvSpPr>
          <p:cNvPr id="12" name="TextBox 11"/>
          <p:cNvSpPr txBox="1"/>
          <p:nvPr/>
        </p:nvSpPr>
        <p:spPr>
          <a:xfrm>
            <a:off x="3566160" y="3657600"/>
            <a:ext cx="2331720" cy="822960"/>
          </a:xfrm>
          <a:prstGeom prst="rect">
            <a:avLst/>
          </a:prstGeom>
          <a:noFill/>
        </p:spPr>
        <p:txBody>
          <a:bodyPr wrap="square" anchor="t" lIns="45720" rIns="45720" tIns="18288" bIns="18288">
            <a:spAutoFit/>
          </a:bodyPr>
          <a:lstStyle/>
          <a:p>
            <a:pPr algn="l"/>
            <a:r>
              <a:rPr sz="1100" b="0">
                <a:solidFill>
                  <a:srgbClr val="D9DDE5"/>
                </a:solidFill>
                <a:latin typeface="Calibri"/>
              </a:rPr>
              <a:t>Estimated Fusion + M365 overlap; under joint validation</a:t>
            </a:r>
          </a:p>
        </p:txBody>
      </p:sp>
      <p:sp>
        <p:nvSpPr>
          <p:cNvPr id="13" name="Rounded Rectangle 12"/>
          <p:cNvSpPr/>
          <p:nvPr/>
        </p:nvSpPr>
        <p:spPr>
          <a:xfrm>
            <a:off x="6217920" y="1828800"/>
            <a:ext cx="2697480" cy="274320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057400"/>
            <a:ext cx="2331720" cy="274320"/>
          </a:xfrm>
          <a:prstGeom prst="rect">
            <a:avLst/>
          </a:prstGeom>
          <a:noFill/>
        </p:spPr>
        <p:txBody>
          <a:bodyPr wrap="square" anchor="t" lIns="45720" rIns="45720" tIns="18288" bIns="18288">
            <a:spAutoFit/>
          </a:bodyPr>
          <a:lstStyle/>
          <a:p>
            <a:pPr algn="l"/>
            <a:r>
              <a:rPr sz="1000" b="1">
                <a:solidFill>
                  <a:srgbClr val="94A3B8"/>
                </a:solidFill>
                <a:latin typeface="Consolas"/>
              </a:rPr>
              <a:t>REUSABLE BUILDING BLOCKS</a:t>
            </a:r>
          </a:p>
        </p:txBody>
      </p:sp>
      <p:sp>
        <p:nvSpPr>
          <p:cNvPr id="15" name="TextBox 14"/>
          <p:cNvSpPr txBox="1"/>
          <p:nvPr/>
        </p:nvSpPr>
        <p:spPr>
          <a:xfrm>
            <a:off x="6400800" y="2468880"/>
            <a:ext cx="2331720" cy="1097280"/>
          </a:xfrm>
          <a:prstGeom prst="rect">
            <a:avLst/>
          </a:prstGeom>
          <a:noFill/>
        </p:spPr>
        <p:txBody>
          <a:bodyPr wrap="square" anchor="t" lIns="45720" rIns="45720" tIns="18288" bIns="18288">
            <a:spAutoFit/>
          </a:bodyPr>
          <a:lstStyle/>
          <a:p>
            <a:pPr algn="l"/>
            <a:r>
              <a:rPr sz="4200" b="1">
                <a:solidFill>
                  <a:srgbClr val="FFFFFF"/>
                </a:solidFill>
                <a:latin typeface="Calibri"/>
              </a:rPr>
              <a:t>9</a:t>
            </a:r>
          </a:p>
        </p:txBody>
      </p:sp>
      <p:sp>
        <p:nvSpPr>
          <p:cNvPr id="16" name="TextBox 15"/>
          <p:cNvSpPr txBox="1"/>
          <p:nvPr/>
        </p:nvSpPr>
        <p:spPr>
          <a:xfrm>
            <a:off x="6400800" y="3657600"/>
            <a:ext cx="2331720" cy="822960"/>
          </a:xfrm>
          <a:prstGeom prst="rect">
            <a:avLst/>
          </a:prstGeom>
          <a:noFill/>
        </p:spPr>
        <p:txBody>
          <a:bodyPr wrap="square" anchor="t" lIns="45720" rIns="45720" tIns="18288" bIns="18288">
            <a:spAutoFit/>
          </a:bodyPr>
          <a:lstStyle/>
          <a:p>
            <a:pPr algn="l"/>
            <a:r>
              <a:rPr sz="1100" b="0">
                <a:solidFill>
                  <a:srgbClr val="D9DDE5"/>
                </a:solidFill>
                <a:latin typeface="Calibri"/>
              </a:rPr>
              <a:t>3 patterns + 2 accelerators + 4 industry blueprints</a:t>
            </a:r>
          </a:p>
        </p:txBody>
      </p:sp>
      <p:sp>
        <p:nvSpPr>
          <p:cNvPr id="17" name="Rounded Rectangle 16"/>
          <p:cNvSpPr/>
          <p:nvPr/>
        </p:nvSpPr>
        <p:spPr>
          <a:xfrm>
            <a:off x="9052560" y="1828800"/>
            <a:ext cx="2697480" cy="2743200"/>
          </a:xfrm>
          <a:prstGeom prst="roundRect">
            <a:avLst>
              <a:gd name="adj" fmla="val 4000"/>
            </a:avLst>
          </a:prstGeom>
          <a:solidFill>
            <a:srgbClr val="1A2540"/>
          </a:solidFill>
          <a:ln w="2222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2057400"/>
            <a:ext cx="2331720" cy="274320"/>
          </a:xfrm>
          <a:prstGeom prst="rect">
            <a:avLst/>
          </a:prstGeom>
          <a:noFill/>
        </p:spPr>
        <p:txBody>
          <a:bodyPr wrap="square" anchor="t" lIns="45720" rIns="45720" tIns="18288" bIns="18288">
            <a:spAutoFit/>
          </a:bodyPr>
          <a:lstStyle/>
          <a:p>
            <a:pPr algn="l"/>
            <a:r>
              <a:rPr sz="1000" b="1">
                <a:solidFill>
                  <a:srgbClr val="2DD4BF"/>
                </a:solidFill>
                <a:latin typeface="Consolas"/>
              </a:rPr>
              <a:t>TARGET TIME TO FIRST T2 AGENT</a:t>
            </a:r>
          </a:p>
        </p:txBody>
      </p:sp>
      <p:sp>
        <p:nvSpPr>
          <p:cNvPr id="19" name="TextBox 18"/>
          <p:cNvSpPr txBox="1"/>
          <p:nvPr/>
        </p:nvSpPr>
        <p:spPr>
          <a:xfrm>
            <a:off x="9235440" y="2468880"/>
            <a:ext cx="2331720" cy="1097280"/>
          </a:xfrm>
          <a:prstGeom prst="rect">
            <a:avLst/>
          </a:prstGeom>
          <a:noFill/>
        </p:spPr>
        <p:txBody>
          <a:bodyPr wrap="square" anchor="t" lIns="45720" rIns="45720" tIns="18288" bIns="18288">
            <a:spAutoFit/>
          </a:bodyPr>
          <a:lstStyle/>
          <a:p>
            <a:pPr algn="l"/>
            <a:r>
              <a:rPr sz="4200" b="1">
                <a:solidFill>
                  <a:srgbClr val="FFFFFF"/>
                </a:solidFill>
                <a:latin typeface="Calibri"/>
              </a:rPr>
              <a:t>~12 wks</a:t>
            </a:r>
          </a:p>
        </p:txBody>
      </p:sp>
      <p:sp>
        <p:nvSpPr>
          <p:cNvPr id="20" name="TextBox 19"/>
          <p:cNvSpPr txBox="1"/>
          <p:nvPr/>
        </p:nvSpPr>
        <p:spPr>
          <a:xfrm>
            <a:off x="9235440" y="3657600"/>
            <a:ext cx="2331720" cy="822960"/>
          </a:xfrm>
          <a:prstGeom prst="rect">
            <a:avLst/>
          </a:prstGeom>
          <a:noFill/>
        </p:spPr>
        <p:txBody>
          <a:bodyPr wrap="square" anchor="t" lIns="45720" rIns="45720" tIns="18288" bIns="18288">
            <a:spAutoFit/>
          </a:bodyPr>
          <a:lstStyle/>
          <a:p>
            <a:pPr algn="l"/>
            <a:r>
              <a:rPr sz="1100" b="0">
                <a:solidFill>
                  <a:srgbClr val="D9DDE5"/>
                </a:solidFill>
                <a:latin typeface="Calibri"/>
              </a:rPr>
              <a:t>With accelerators GA; bespoke today: 9 – 12 months</a:t>
            </a:r>
          </a:p>
        </p:txBody>
      </p:sp>
      <p:sp>
        <p:nvSpPr>
          <p:cNvPr id="21" name="TextBox 20"/>
          <p:cNvSpPr txBox="1"/>
          <p:nvPr/>
        </p:nvSpPr>
        <p:spPr>
          <a:xfrm>
            <a:off x="548640" y="4846320"/>
            <a:ext cx="11064240" cy="1371600"/>
          </a:xfrm>
          <a:prstGeom prst="rect">
            <a:avLst/>
          </a:prstGeom>
          <a:noFill/>
        </p:spPr>
        <p:txBody>
          <a:bodyPr wrap="square" anchor="t" lIns="45720" rIns="45720" tIns="18288" bIns="18288">
            <a:spAutoFit/>
          </a:bodyPr>
          <a:lstStyle/>
          <a:p>
            <a:pPr algn="l"/>
            <a:r>
              <a:rPr sz="1300" b="0">
                <a:solidFill>
                  <a:srgbClr val="D9DDE5"/>
                </a:solidFill>
                <a:latin typeface="Calibri"/>
              </a:rPr>
              <a:t>The prize isn't just license revenue — it's consumption across both stacks. Every agent invocation drives Microsoft Fabric capacity, Foundry tokens, and Copilot seats — while compounding Oracle Database@Azure, OCI, and Fusion subscription consumption. The flywheel on the next slide shows the mechanics.</a:t>
            </a:r>
          </a:p>
        </p:txBody>
      </p:sp>
      <p:sp>
        <p:nvSpPr>
          <p:cNvPr id="22" name="Rectangle 21"/>
          <p:cNvSpPr/>
          <p:nvPr/>
        </p:nvSpPr>
        <p:spPr>
          <a:xfrm>
            <a:off x="0" y="6492240"/>
            <a:ext cx="12191695" cy="365760"/>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28816"/>
            <a:ext cx="10972800" cy="292608"/>
          </a:xfrm>
          <a:prstGeom prst="rect">
            <a:avLst/>
          </a:prstGeom>
          <a:noFill/>
        </p:spPr>
        <p:txBody>
          <a:bodyPr wrap="square" anchor="t" lIns="45720" rIns="45720" tIns="18288" bIns="18288">
            <a:spAutoFit/>
          </a:bodyPr>
          <a:lstStyle/>
          <a:p>
            <a:pPr algn="l"/>
            <a:r>
              <a:rPr sz="900" b="0">
                <a:solidFill>
                  <a:srgbClr val="94A3B8"/>
                </a:solidFill>
                <a:latin typeface="Consolas"/>
              </a:rPr>
              <a:t>Reference: /exec-summary  ·  Size of the prize ·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FFD600"/>
                </a:solidFill>
                <a:latin typeface="Consolas"/>
              </a:rPr>
              <a:t>JOINT CONSUMPTION FLYWHEEL</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400" b="1">
                <a:solidFill>
                  <a:srgbClr val="FFFFFF"/>
                </a:solidFill>
                <a:latin typeface="Calibri"/>
              </a:rPr>
              <a:t>Every agent invocation drives revenue across both clouds.</a:t>
            </a:r>
          </a:p>
        </p:txBody>
      </p:sp>
      <p:sp>
        <p:nvSpPr>
          <p:cNvPr id="5" name="TextBox 4"/>
          <p:cNvSpPr txBox="1"/>
          <p:nvPr/>
        </p:nvSpPr>
        <p:spPr>
          <a:xfrm>
            <a:off x="548640" y="1325880"/>
            <a:ext cx="11064240" cy="365760"/>
          </a:xfrm>
          <a:prstGeom prst="rect">
            <a:avLst/>
          </a:prstGeom>
          <a:noFill/>
        </p:spPr>
        <p:txBody>
          <a:bodyPr wrap="square" anchor="t" lIns="45720" rIns="45720" tIns="18288" bIns="18288">
            <a:spAutoFit/>
          </a:bodyPr>
          <a:lstStyle/>
          <a:p>
            <a:pPr algn="l"/>
            <a:r>
              <a:rPr sz="1200" b="0">
                <a:solidFill>
                  <a:srgbClr val="B0B7C4"/>
                </a:solidFill>
                <a:latin typeface="Calibri"/>
              </a:rPr>
              <a:t>One workflow. Two stacks. Five revenue lines simultaneously.</a:t>
            </a:r>
          </a:p>
        </p:txBody>
      </p:sp>
      <p:sp>
        <p:nvSpPr>
          <p:cNvPr id="6" name="TextBox 5"/>
          <p:cNvSpPr txBox="1"/>
          <p:nvPr/>
        </p:nvSpPr>
        <p:spPr>
          <a:xfrm>
            <a:off x="548640" y="1828800"/>
            <a:ext cx="685800" cy="274320"/>
          </a:xfrm>
          <a:prstGeom prst="rect">
            <a:avLst/>
          </a:prstGeom>
          <a:noFill/>
        </p:spPr>
        <p:txBody>
          <a:bodyPr wrap="square" anchor="t" lIns="45720" rIns="45720" tIns="18288" bIns="18288">
            <a:spAutoFit/>
          </a:bodyPr>
          <a:lstStyle/>
          <a:p>
            <a:pPr algn="l"/>
            <a:r>
              <a:rPr sz="1000" b="1">
                <a:solidFill>
                  <a:srgbClr val="94A3B8"/>
                </a:solidFill>
                <a:latin typeface="Consolas"/>
              </a:rPr>
              <a:t>STEP</a:t>
            </a:r>
          </a:p>
        </p:txBody>
      </p:sp>
      <p:sp>
        <p:nvSpPr>
          <p:cNvPr id="7" name="TextBox 6"/>
          <p:cNvSpPr txBox="1"/>
          <p:nvPr/>
        </p:nvSpPr>
        <p:spPr>
          <a:xfrm>
            <a:off x="1325880" y="1828800"/>
            <a:ext cx="3657600" cy="274320"/>
          </a:xfrm>
          <a:prstGeom prst="rect">
            <a:avLst/>
          </a:prstGeom>
          <a:noFill/>
        </p:spPr>
        <p:txBody>
          <a:bodyPr wrap="square" anchor="t" lIns="45720" rIns="45720" tIns="18288" bIns="18288">
            <a:spAutoFit/>
          </a:bodyPr>
          <a:lstStyle/>
          <a:p>
            <a:pPr algn="l"/>
            <a:r>
              <a:rPr sz="1000" b="1">
                <a:solidFill>
                  <a:srgbClr val="94A3B8"/>
                </a:solidFill>
                <a:latin typeface="Consolas"/>
              </a:rPr>
              <a:t>WORKER ACTION</a:t>
            </a:r>
          </a:p>
        </p:txBody>
      </p:sp>
      <p:sp>
        <p:nvSpPr>
          <p:cNvPr id="8" name="TextBox 7"/>
          <p:cNvSpPr txBox="1"/>
          <p:nvPr/>
        </p:nvSpPr>
        <p:spPr>
          <a:xfrm>
            <a:off x="5120640" y="1828800"/>
            <a:ext cx="3383280" cy="274320"/>
          </a:xfrm>
          <a:prstGeom prst="rect">
            <a:avLst/>
          </a:prstGeom>
          <a:noFill/>
        </p:spPr>
        <p:txBody>
          <a:bodyPr wrap="square" anchor="t" lIns="45720" rIns="45720" tIns="18288" bIns="18288">
            <a:spAutoFit/>
          </a:bodyPr>
          <a:lstStyle/>
          <a:p>
            <a:pPr algn="l"/>
            <a:r>
              <a:rPr sz="1000" b="1">
                <a:solidFill>
                  <a:srgbClr val="0078D4"/>
                </a:solidFill>
                <a:latin typeface="Consolas"/>
              </a:rPr>
              <a:t>MICROSOFT CONSUMPTION</a:t>
            </a:r>
          </a:p>
        </p:txBody>
      </p:sp>
      <p:sp>
        <p:nvSpPr>
          <p:cNvPr id="9" name="TextBox 8"/>
          <p:cNvSpPr txBox="1"/>
          <p:nvPr/>
        </p:nvSpPr>
        <p:spPr>
          <a:xfrm>
            <a:off x="8595360" y="1828800"/>
            <a:ext cx="3017520" cy="274320"/>
          </a:xfrm>
          <a:prstGeom prst="rect">
            <a:avLst/>
          </a:prstGeom>
          <a:noFill/>
        </p:spPr>
        <p:txBody>
          <a:bodyPr wrap="square" anchor="t" lIns="45720" rIns="45720" tIns="18288" bIns="18288">
            <a:spAutoFit/>
          </a:bodyPr>
          <a:lstStyle/>
          <a:p>
            <a:pPr algn="l"/>
            <a:r>
              <a:rPr sz="1000" b="1">
                <a:solidFill>
                  <a:srgbClr val="C74634"/>
                </a:solidFill>
                <a:latin typeface="Consolas"/>
              </a:rPr>
              <a:t>ORACLE CONSUMPTION</a:t>
            </a:r>
          </a:p>
        </p:txBody>
      </p:sp>
      <p:cxnSp>
        <p:nvCxnSpPr>
          <p:cNvPr id="10" name="Connector 9"/>
          <p:cNvCxnSpPr/>
          <p:nvPr/>
        </p:nvCxnSpPr>
        <p:spPr>
          <a:xfrm>
            <a:off x="548640" y="2157984"/>
            <a:ext cx="11064240" cy="0"/>
          </a:xfrm>
          <a:prstGeom prst="line">
            <a:avLst/>
          </a:prstGeom>
          <a:ln w="6350">
            <a:solidFill>
              <a:srgbClr val="94A3B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48640" y="2331720"/>
            <a:ext cx="11064240" cy="667512"/>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94360" y="2496312"/>
            <a:ext cx="384048" cy="384048"/>
          </a:xfrm>
          <a:prstGeom prst="ellipse">
            <a:avLst/>
          </a:prstGeom>
          <a:solidFill>
            <a:srgbClr val="FFD600"/>
          </a:solidFill>
          <a:ln w="127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D600"/>
                </a:solidFill>
                <a:latin typeface="Consolas"/>
              </a:rPr>
              <a:t>1</a:t>
            </a:r>
          </a:p>
        </p:txBody>
      </p:sp>
      <p:sp>
        <p:nvSpPr>
          <p:cNvPr id="13" name="TextBox 12"/>
          <p:cNvSpPr txBox="1"/>
          <p:nvPr/>
        </p:nvSpPr>
        <p:spPr>
          <a:xfrm>
            <a:off x="1325880" y="2496312"/>
            <a:ext cx="3657600" cy="502920"/>
          </a:xfrm>
          <a:prstGeom prst="rect">
            <a:avLst/>
          </a:prstGeom>
          <a:noFill/>
        </p:spPr>
        <p:txBody>
          <a:bodyPr wrap="square" anchor="t" lIns="45720" rIns="45720" tIns="18288" bIns="18288">
            <a:spAutoFit/>
          </a:bodyPr>
          <a:lstStyle/>
          <a:p>
            <a:pPr algn="l"/>
            <a:r>
              <a:rPr sz="1200" b="1">
                <a:solidFill>
                  <a:srgbClr val="FFFFFF"/>
                </a:solidFill>
                <a:latin typeface="Calibri"/>
              </a:rPr>
              <a:t>Worker asks question in Copilot or Fusion</a:t>
            </a:r>
          </a:p>
        </p:txBody>
      </p:sp>
      <p:sp>
        <p:nvSpPr>
          <p:cNvPr id="14" name="Rounded Rectangle 13"/>
          <p:cNvSpPr/>
          <p:nvPr/>
        </p:nvSpPr>
        <p:spPr>
          <a:xfrm>
            <a:off x="5120640" y="2514600"/>
            <a:ext cx="2633472"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Copilot for M365 (per-seat ARR)</a:t>
            </a:r>
          </a:p>
        </p:txBody>
      </p:sp>
      <p:sp>
        <p:nvSpPr>
          <p:cNvPr id="15" name="Rounded Rectangle 14"/>
          <p:cNvSpPr/>
          <p:nvPr/>
        </p:nvSpPr>
        <p:spPr>
          <a:xfrm>
            <a:off x="8595360" y="2514600"/>
            <a:ext cx="2743200"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Oracle Fusion (per-user subscription)</a:t>
            </a:r>
          </a:p>
        </p:txBody>
      </p:sp>
      <p:sp>
        <p:nvSpPr>
          <p:cNvPr id="16" name="Oval 15"/>
          <p:cNvSpPr/>
          <p:nvPr/>
        </p:nvSpPr>
        <p:spPr>
          <a:xfrm>
            <a:off x="594360" y="3209544"/>
            <a:ext cx="384048" cy="384048"/>
          </a:xfrm>
          <a:prstGeom prst="ellipse">
            <a:avLst/>
          </a:prstGeom>
          <a:solidFill>
            <a:srgbClr val="FFD600"/>
          </a:solidFill>
          <a:ln w="127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D600"/>
                </a:solidFill>
                <a:latin typeface="Consolas"/>
              </a:rPr>
              <a:t>2</a:t>
            </a:r>
          </a:p>
        </p:txBody>
      </p:sp>
      <p:sp>
        <p:nvSpPr>
          <p:cNvPr id="17" name="TextBox 16"/>
          <p:cNvSpPr txBox="1"/>
          <p:nvPr/>
        </p:nvSpPr>
        <p:spPr>
          <a:xfrm>
            <a:off x="1325880" y="3209544"/>
            <a:ext cx="3657600" cy="502920"/>
          </a:xfrm>
          <a:prstGeom prst="rect">
            <a:avLst/>
          </a:prstGeom>
          <a:noFill/>
        </p:spPr>
        <p:txBody>
          <a:bodyPr wrap="square" anchor="t" lIns="45720" rIns="45720" tIns="18288" bIns="18288">
            <a:spAutoFit/>
          </a:bodyPr>
          <a:lstStyle/>
          <a:p>
            <a:pPr algn="l"/>
            <a:r>
              <a:rPr sz="1200" b="1">
                <a:solidFill>
                  <a:srgbClr val="FFFFFF"/>
                </a:solidFill>
                <a:latin typeface="Calibri"/>
              </a:rPr>
              <a:t>Foundry agent reasons, retrieves, plans</a:t>
            </a:r>
          </a:p>
        </p:txBody>
      </p:sp>
      <p:sp>
        <p:nvSpPr>
          <p:cNvPr id="18" name="Rounded Rectangle 17"/>
          <p:cNvSpPr/>
          <p:nvPr/>
        </p:nvSpPr>
        <p:spPr>
          <a:xfrm>
            <a:off x="5120640" y="3227832"/>
            <a:ext cx="2999232"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Azure AI Foundry (token consumption)</a:t>
            </a:r>
          </a:p>
        </p:txBody>
      </p:sp>
      <p:sp>
        <p:nvSpPr>
          <p:cNvPr id="19" name="Rounded Rectangle 18"/>
          <p:cNvSpPr/>
          <p:nvPr/>
        </p:nvSpPr>
        <p:spPr>
          <a:xfrm>
            <a:off x="5120640" y="3575304"/>
            <a:ext cx="2926080"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Microsoft Agent 365 (control plane)</a:t>
            </a:r>
          </a:p>
        </p:txBody>
      </p:sp>
      <p:sp>
        <p:nvSpPr>
          <p:cNvPr id="20" name="Rounded Rectangle 19"/>
          <p:cNvSpPr/>
          <p:nvPr/>
        </p:nvSpPr>
        <p:spPr>
          <a:xfrm>
            <a:off x="8595360" y="3227832"/>
            <a:ext cx="2633472"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Fusion AI Agents (when invoked)</a:t>
            </a:r>
          </a:p>
        </p:txBody>
      </p:sp>
      <p:sp>
        <p:nvSpPr>
          <p:cNvPr id="21" name="Rectangle 20"/>
          <p:cNvSpPr/>
          <p:nvPr/>
        </p:nvSpPr>
        <p:spPr>
          <a:xfrm>
            <a:off x="548640" y="3758184"/>
            <a:ext cx="11064240" cy="667512"/>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4360" y="3922776"/>
            <a:ext cx="384048" cy="384048"/>
          </a:xfrm>
          <a:prstGeom prst="ellipse">
            <a:avLst/>
          </a:prstGeom>
          <a:solidFill>
            <a:srgbClr val="FFD600"/>
          </a:solidFill>
          <a:ln w="127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D600"/>
                </a:solidFill>
                <a:latin typeface="Consolas"/>
              </a:rPr>
              <a:t>3</a:t>
            </a:r>
          </a:p>
        </p:txBody>
      </p:sp>
      <p:sp>
        <p:nvSpPr>
          <p:cNvPr id="23" name="TextBox 22"/>
          <p:cNvSpPr txBox="1"/>
          <p:nvPr/>
        </p:nvSpPr>
        <p:spPr>
          <a:xfrm>
            <a:off x="1325880" y="3922776"/>
            <a:ext cx="3657600" cy="502920"/>
          </a:xfrm>
          <a:prstGeom prst="rect">
            <a:avLst/>
          </a:prstGeom>
          <a:noFill/>
        </p:spPr>
        <p:txBody>
          <a:bodyPr wrap="square" anchor="t" lIns="45720" rIns="45720" tIns="18288" bIns="18288">
            <a:spAutoFit/>
          </a:bodyPr>
          <a:lstStyle/>
          <a:p>
            <a:pPr algn="l"/>
            <a:r>
              <a:rPr sz="1200" b="1">
                <a:solidFill>
                  <a:srgbClr val="FFFFFF"/>
                </a:solidFill>
                <a:latin typeface="Calibri"/>
              </a:rPr>
              <a:t>Reads from Fabric semantic model</a:t>
            </a:r>
          </a:p>
        </p:txBody>
      </p:sp>
      <p:sp>
        <p:nvSpPr>
          <p:cNvPr id="24" name="Rounded Rectangle 23"/>
          <p:cNvSpPr/>
          <p:nvPr/>
        </p:nvSpPr>
        <p:spPr>
          <a:xfrm>
            <a:off x="5120640" y="3941064"/>
            <a:ext cx="2560320"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Microsoft Fabric capacity (CU)</a:t>
            </a:r>
          </a:p>
        </p:txBody>
      </p:sp>
      <p:sp>
        <p:nvSpPr>
          <p:cNvPr id="25" name="Rounded Rectangle 24"/>
          <p:cNvSpPr/>
          <p:nvPr/>
        </p:nvSpPr>
        <p:spPr>
          <a:xfrm>
            <a:off x="5120640" y="4288536"/>
            <a:ext cx="1463040"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OneLake storage</a:t>
            </a:r>
          </a:p>
        </p:txBody>
      </p:sp>
      <p:sp>
        <p:nvSpPr>
          <p:cNvPr id="26" name="Rounded Rectangle 25"/>
          <p:cNvSpPr/>
          <p:nvPr/>
        </p:nvSpPr>
        <p:spPr>
          <a:xfrm>
            <a:off x="8595360" y="3941064"/>
            <a:ext cx="2743200"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Oracle GoldenGate (replication metering)</a:t>
            </a:r>
          </a:p>
        </p:txBody>
      </p:sp>
      <p:sp>
        <p:nvSpPr>
          <p:cNvPr id="27" name="Oval 26"/>
          <p:cNvSpPr/>
          <p:nvPr/>
        </p:nvSpPr>
        <p:spPr>
          <a:xfrm>
            <a:off x="594360" y="4636008"/>
            <a:ext cx="384048" cy="384048"/>
          </a:xfrm>
          <a:prstGeom prst="ellipse">
            <a:avLst/>
          </a:prstGeom>
          <a:solidFill>
            <a:srgbClr val="FFD600"/>
          </a:solidFill>
          <a:ln w="127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D600"/>
                </a:solidFill>
                <a:latin typeface="Consolas"/>
              </a:rPr>
              <a:t>4</a:t>
            </a:r>
          </a:p>
        </p:txBody>
      </p:sp>
      <p:sp>
        <p:nvSpPr>
          <p:cNvPr id="28" name="TextBox 27"/>
          <p:cNvSpPr txBox="1"/>
          <p:nvPr/>
        </p:nvSpPr>
        <p:spPr>
          <a:xfrm>
            <a:off x="1325880" y="4636008"/>
            <a:ext cx="3657600" cy="502920"/>
          </a:xfrm>
          <a:prstGeom prst="rect">
            <a:avLst/>
          </a:prstGeom>
          <a:noFill/>
        </p:spPr>
        <p:txBody>
          <a:bodyPr wrap="square" anchor="t" lIns="45720" rIns="45720" tIns="18288" bIns="18288">
            <a:spAutoFit/>
          </a:bodyPr>
          <a:lstStyle/>
          <a:p>
            <a:pPr algn="l"/>
            <a:r>
              <a:rPr sz="1200" b="1">
                <a:solidFill>
                  <a:srgbClr val="FFFFFF"/>
                </a:solidFill>
                <a:latin typeface="Calibri"/>
              </a:rPr>
              <a:t>Source data lives in Oracle (Fusion / DB@Azure / OCI / on-prem)</a:t>
            </a:r>
          </a:p>
        </p:txBody>
      </p:sp>
      <p:sp>
        <p:nvSpPr>
          <p:cNvPr id="29" name="Rounded Rectangle 28"/>
          <p:cNvSpPr/>
          <p:nvPr/>
        </p:nvSpPr>
        <p:spPr>
          <a:xfrm>
            <a:off x="5120640" y="4654296"/>
            <a:ext cx="2267712"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Database@Azure passthrough</a:t>
            </a:r>
          </a:p>
        </p:txBody>
      </p:sp>
      <p:sp>
        <p:nvSpPr>
          <p:cNvPr id="30" name="Rounded Rectangle 29"/>
          <p:cNvSpPr/>
          <p:nvPr/>
        </p:nvSpPr>
        <p:spPr>
          <a:xfrm>
            <a:off x="8595360" y="4654296"/>
            <a:ext cx="2267712"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Database@Azure consumption</a:t>
            </a:r>
          </a:p>
        </p:txBody>
      </p:sp>
      <p:sp>
        <p:nvSpPr>
          <p:cNvPr id="31" name="Rounded Rectangle 30"/>
          <p:cNvSpPr/>
          <p:nvPr/>
        </p:nvSpPr>
        <p:spPr>
          <a:xfrm>
            <a:off x="8595360" y="5001768"/>
            <a:ext cx="1901952"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OCI compute &amp; storage</a:t>
            </a:r>
          </a:p>
        </p:txBody>
      </p:sp>
      <p:sp>
        <p:nvSpPr>
          <p:cNvPr id="32" name="Rounded Rectangle 31"/>
          <p:cNvSpPr/>
          <p:nvPr/>
        </p:nvSpPr>
        <p:spPr>
          <a:xfrm>
            <a:off x="8595360" y="5349240"/>
            <a:ext cx="2267712"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Fusion Apps (subscription)</a:t>
            </a:r>
          </a:p>
        </p:txBody>
      </p:sp>
      <p:sp>
        <p:nvSpPr>
          <p:cNvPr id="33" name="Rectangle 32"/>
          <p:cNvSpPr/>
          <p:nvPr/>
        </p:nvSpPr>
        <p:spPr>
          <a:xfrm>
            <a:off x="548640" y="5184648"/>
            <a:ext cx="11064240" cy="667512"/>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94360" y="5349240"/>
            <a:ext cx="384048" cy="384048"/>
          </a:xfrm>
          <a:prstGeom prst="ellipse">
            <a:avLst/>
          </a:prstGeom>
          <a:solidFill>
            <a:srgbClr val="FFD600"/>
          </a:solidFill>
          <a:ln w="1270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D600"/>
                </a:solidFill>
                <a:latin typeface="Consolas"/>
              </a:rPr>
              <a:t>5</a:t>
            </a:r>
          </a:p>
        </p:txBody>
      </p:sp>
      <p:sp>
        <p:nvSpPr>
          <p:cNvPr id="35" name="TextBox 34"/>
          <p:cNvSpPr txBox="1"/>
          <p:nvPr/>
        </p:nvSpPr>
        <p:spPr>
          <a:xfrm>
            <a:off x="1325880" y="5349240"/>
            <a:ext cx="3657600" cy="502920"/>
          </a:xfrm>
          <a:prstGeom prst="rect">
            <a:avLst/>
          </a:prstGeom>
          <a:noFill/>
        </p:spPr>
        <p:txBody>
          <a:bodyPr wrap="square" anchor="t" lIns="45720" rIns="45720" tIns="18288" bIns="18288">
            <a:spAutoFit/>
          </a:bodyPr>
          <a:lstStyle/>
          <a:p>
            <a:pPr algn="l"/>
            <a:r>
              <a:rPr sz="1200" b="1">
                <a:solidFill>
                  <a:srgbClr val="FFFFFF"/>
                </a:solidFill>
                <a:latin typeface="Calibri"/>
              </a:rPr>
              <a:t>Governance, lineage, and audit flow back</a:t>
            </a:r>
          </a:p>
        </p:txBody>
      </p:sp>
      <p:sp>
        <p:nvSpPr>
          <p:cNvPr id="36" name="Rounded Rectangle 35"/>
          <p:cNvSpPr/>
          <p:nvPr/>
        </p:nvSpPr>
        <p:spPr>
          <a:xfrm>
            <a:off x="5120640" y="5367528"/>
            <a:ext cx="1609344"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0078D4"/>
                </a:solidFill>
                <a:latin typeface="Consolas"/>
              </a:rPr>
              <a:t>Microsoft Purview</a:t>
            </a:r>
          </a:p>
        </p:txBody>
      </p:sp>
      <p:sp>
        <p:nvSpPr>
          <p:cNvPr id="37" name="Rounded Rectangle 36"/>
          <p:cNvSpPr/>
          <p:nvPr/>
        </p:nvSpPr>
        <p:spPr>
          <a:xfrm>
            <a:off x="8595360" y="5367528"/>
            <a:ext cx="1536192"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Oracle Data Safe</a:t>
            </a:r>
          </a:p>
        </p:txBody>
      </p:sp>
      <p:sp>
        <p:nvSpPr>
          <p:cNvPr id="38" name="Rounded Rectangle 37"/>
          <p:cNvSpPr/>
          <p:nvPr/>
        </p:nvSpPr>
        <p:spPr>
          <a:xfrm>
            <a:off x="8595360" y="5715000"/>
            <a:ext cx="1682495"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850" b="1">
                <a:solidFill>
                  <a:srgbClr val="C74634"/>
                </a:solidFill>
                <a:latin typeface="Consolas"/>
              </a:rPr>
              <a:t>Oracle Audit Vault</a:t>
            </a:r>
          </a:p>
        </p:txBody>
      </p:sp>
      <p:sp>
        <p:nvSpPr>
          <p:cNvPr id="39" name="TextBox 38"/>
          <p:cNvSpPr txBox="1"/>
          <p:nvPr/>
        </p:nvSpPr>
        <p:spPr>
          <a:xfrm>
            <a:off x="548640" y="5989320"/>
            <a:ext cx="11064240" cy="777240"/>
          </a:xfrm>
          <a:prstGeom prst="rect">
            <a:avLst/>
          </a:prstGeom>
          <a:noFill/>
        </p:spPr>
        <p:txBody>
          <a:bodyPr wrap="square" anchor="t" lIns="45720" rIns="45720" tIns="18288" bIns="18288">
            <a:spAutoFit/>
          </a:bodyPr>
          <a:lstStyle/>
          <a:p>
            <a:pPr algn="l"/>
            <a:r>
              <a:rPr sz="1150" b="0">
                <a:solidFill>
                  <a:srgbClr val="D9DDE5"/>
                </a:solidFill>
                <a:latin typeface="Calibri"/>
              </a:rPr>
              <a:t>The flywheel: more Oracle data into OneLake → more Fabric capacity consumed; more agents in Foundry → more tokens; more Copilot invocations → more pull on both. Microsoft monetises Fabric + Foundry + Copilot simultaneously; Oracle monetises Database@Azure + OCI + Fusion in lockstep.</a:t>
            </a:r>
          </a:p>
        </p:txBody>
      </p:sp>
      <p:sp>
        <p:nvSpPr>
          <p:cNvPr id="40" name="Rectangle 39"/>
          <p:cNvSpPr/>
          <p:nvPr/>
        </p:nvSpPr>
        <p:spPr>
          <a:xfrm>
            <a:off x="0" y="6492240"/>
            <a:ext cx="12191695" cy="365760"/>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6528816"/>
            <a:ext cx="10972800" cy="292608"/>
          </a:xfrm>
          <a:prstGeom prst="rect">
            <a:avLst/>
          </a:prstGeom>
          <a:noFill/>
        </p:spPr>
        <p:txBody>
          <a:bodyPr wrap="square" anchor="t" lIns="45720" rIns="45720" tIns="18288" bIns="18288">
            <a:spAutoFit/>
          </a:bodyPr>
          <a:lstStyle/>
          <a:p>
            <a:pPr algn="l"/>
            <a:r>
              <a:rPr sz="900" b="0">
                <a:solidFill>
                  <a:srgbClr val="94A3B8"/>
                </a:solidFill>
                <a:latin typeface="Consolas"/>
              </a:rPr>
              <a:t>Reference: /exec-summary  ·  Joint consumption flywheel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0078D4"/>
                </a:solidFill>
                <a:latin typeface="Consolas"/>
              </a:rPr>
              <a:t>INVESTMENT &amp; COMMERCIAL FRAME</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600" b="1">
                <a:solidFill>
                  <a:srgbClr val="FFFFFF"/>
                </a:solidFill>
                <a:latin typeface="Calibri"/>
              </a:rPr>
              <a:t>How the alliance gets paid for.</a:t>
            </a:r>
          </a:p>
        </p:txBody>
      </p:sp>
      <p:sp>
        <p:nvSpPr>
          <p:cNvPr id="5" name="TextBox 4"/>
          <p:cNvSpPr txBox="1"/>
          <p:nvPr/>
        </p:nvSpPr>
        <p:spPr>
          <a:xfrm>
            <a:off x="548640" y="1325880"/>
            <a:ext cx="11064240" cy="365760"/>
          </a:xfrm>
          <a:prstGeom prst="rect">
            <a:avLst/>
          </a:prstGeom>
          <a:noFill/>
        </p:spPr>
        <p:txBody>
          <a:bodyPr wrap="square" anchor="t" lIns="45720" rIns="45720" tIns="18288" bIns="18288">
            <a:spAutoFit/>
          </a:bodyPr>
          <a:lstStyle/>
          <a:p>
            <a:pPr algn="l"/>
            <a:r>
              <a:rPr sz="1200" b="0">
                <a:solidFill>
                  <a:srgbClr val="B0B7C4"/>
                </a:solidFill>
                <a:latin typeface="Calibri"/>
              </a:rPr>
              <a:t>Crawl-walk-run on the commercial structure. Engineering investment is co-funded from day one.</a:t>
            </a:r>
          </a:p>
        </p:txBody>
      </p:sp>
      <p:sp>
        <p:nvSpPr>
          <p:cNvPr id="6" name="Rounded Rectangle 5"/>
          <p:cNvSpPr/>
          <p:nvPr/>
        </p:nvSpPr>
        <p:spPr>
          <a:xfrm>
            <a:off x="548640" y="1920240"/>
            <a:ext cx="3657600" cy="4206240"/>
          </a:xfrm>
          <a:prstGeom prst="roundRect">
            <a:avLst>
              <a:gd name="adj" fmla="val 4000"/>
            </a:avLst>
          </a:prstGeom>
          <a:solidFill>
            <a:srgbClr val="1A2540"/>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94560"/>
            <a:ext cx="3200400" cy="365760"/>
          </a:xfrm>
          <a:prstGeom prst="rect">
            <a:avLst/>
          </a:prstGeom>
          <a:noFill/>
        </p:spPr>
        <p:txBody>
          <a:bodyPr wrap="square" anchor="t" lIns="45720" rIns="45720" tIns="18288" bIns="18288">
            <a:spAutoFit/>
          </a:bodyPr>
          <a:lstStyle/>
          <a:p>
            <a:pPr algn="l"/>
            <a:r>
              <a:rPr sz="1100" b="1">
                <a:solidFill>
                  <a:srgbClr val="94A3B8"/>
                </a:solidFill>
                <a:latin typeface="Consolas"/>
              </a:rPr>
              <a:t>YEAR 1</a:t>
            </a:r>
          </a:p>
        </p:txBody>
      </p:sp>
      <p:sp>
        <p:nvSpPr>
          <p:cNvPr id="8" name="TextBox 7"/>
          <p:cNvSpPr txBox="1"/>
          <p:nvPr/>
        </p:nvSpPr>
        <p:spPr>
          <a:xfrm>
            <a:off x="777240" y="2651760"/>
            <a:ext cx="3200400" cy="914400"/>
          </a:xfrm>
          <a:prstGeom prst="rect">
            <a:avLst/>
          </a:prstGeom>
          <a:noFill/>
        </p:spPr>
        <p:txBody>
          <a:bodyPr wrap="square" anchor="t" lIns="45720" rIns="45720" tIns="18288" bIns="18288">
            <a:spAutoFit/>
          </a:bodyPr>
          <a:lstStyle/>
          <a:p>
            <a:pPr algn="l"/>
            <a:r>
              <a:rPr sz="2000" b="1">
                <a:solidFill>
                  <a:srgbClr val="FFFFFF"/>
                </a:solidFill>
                <a:latin typeface="Calibri"/>
              </a:rPr>
              <a:t>Co-sell, separate billing</a:t>
            </a:r>
          </a:p>
        </p:txBody>
      </p:sp>
      <p:cxnSp>
        <p:nvCxnSpPr>
          <p:cNvPr id="9" name="Connector 8"/>
          <p:cNvCxnSpPr/>
          <p:nvPr/>
        </p:nvCxnSpPr>
        <p:spPr>
          <a:xfrm>
            <a:off x="777240" y="3794759"/>
            <a:ext cx="3200400" cy="0"/>
          </a:xfrm>
          <a:prstGeom prst="line">
            <a:avLst/>
          </a:prstGeom>
          <a:ln w="6350">
            <a:solidFill>
              <a:srgbClr val="94A3B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3977640"/>
            <a:ext cx="3200400" cy="1920240"/>
          </a:xfrm>
          <a:prstGeom prst="rect">
            <a:avLst/>
          </a:prstGeom>
          <a:noFill/>
        </p:spPr>
        <p:txBody>
          <a:bodyPr wrap="square" anchor="t" lIns="45720" rIns="45720" tIns="18288" bIns="18288">
            <a:spAutoFit/>
          </a:bodyPr>
          <a:lstStyle/>
          <a:p>
            <a:pPr algn="l"/>
            <a:r>
              <a:rPr sz="1200" b="0">
                <a:solidFill>
                  <a:srgbClr val="D9DDE5"/>
                </a:solidFill>
                <a:latin typeface="Calibri"/>
              </a:rPr>
              <a:t>Lowest-friction path. Both sales orgs co-sell with shared pipeline credit; each vendor bills for its own consumption. Joint reference architecture and shared accelerators in market.</a:t>
            </a:r>
          </a:p>
        </p:txBody>
      </p:sp>
      <p:sp>
        <p:nvSpPr>
          <p:cNvPr id="11" name="Rounded Rectangle 10"/>
          <p:cNvSpPr/>
          <p:nvPr/>
        </p:nvSpPr>
        <p:spPr>
          <a:xfrm>
            <a:off x="4343400" y="1920240"/>
            <a:ext cx="3657600" cy="420624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194560"/>
            <a:ext cx="3200400" cy="365760"/>
          </a:xfrm>
          <a:prstGeom prst="rect">
            <a:avLst/>
          </a:prstGeom>
          <a:noFill/>
        </p:spPr>
        <p:txBody>
          <a:bodyPr wrap="square" anchor="t" lIns="45720" rIns="45720" tIns="18288" bIns="18288">
            <a:spAutoFit/>
          </a:bodyPr>
          <a:lstStyle/>
          <a:p>
            <a:pPr algn="l"/>
            <a:r>
              <a:rPr sz="1100" b="1">
                <a:solidFill>
                  <a:srgbClr val="0078D4"/>
                </a:solidFill>
                <a:latin typeface="Consolas"/>
              </a:rPr>
              <a:t>YEAR 2</a:t>
            </a:r>
          </a:p>
        </p:txBody>
      </p:sp>
      <p:sp>
        <p:nvSpPr>
          <p:cNvPr id="13" name="TextBox 12"/>
          <p:cNvSpPr txBox="1"/>
          <p:nvPr/>
        </p:nvSpPr>
        <p:spPr>
          <a:xfrm>
            <a:off x="4572000" y="2651760"/>
            <a:ext cx="3200400" cy="914400"/>
          </a:xfrm>
          <a:prstGeom prst="rect">
            <a:avLst/>
          </a:prstGeom>
          <a:noFill/>
        </p:spPr>
        <p:txBody>
          <a:bodyPr wrap="square" anchor="t" lIns="45720" rIns="45720" tIns="18288" bIns="18288">
            <a:spAutoFit/>
          </a:bodyPr>
          <a:lstStyle/>
          <a:p>
            <a:pPr algn="l"/>
            <a:r>
              <a:rPr sz="2000" b="1">
                <a:solidFill>
                  <a:srgbClr val="FFFFFF"/>
                </a:solidFill>
                <a:latin typeface="Calibri"/>
              </a:rPr>
              <a:t>Joint SKU + marketplace</a:t>
            </a:r>
          </a:p>
        </p:txBody>
      </p:sp>
      <p:cxnSp>
        <p:nvCxnSpPr>
          <p:cNvPr id="14" name="Connector 13"/>
          <p:cNvCxnSpPr/>
          <p:nvPr/>
        </p:nvCxnSpPr>
        <p:spPr>
          <a:xfrm>
            <a:off x="4572000" y="3794759"/>
            <a:ext cx="3200400" cy="0"/>
          </a:xfrm>
          <a:prstGeom prst="line">
            <a:avLst/>
          </a:prstGeom>
          <a:ln w="6350">
            <a:solidFill>
              <a:srgbClr val="0078D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0" y="3977640"/>
            <a:ext cx="3200400" cy="1920240"/>
          </a:xfrm>
          <a:prstGeom prst="rect">
            <a:avLst/>
          </a:prstGeom>
          <a:noFill/>
        </p:spPr>
        <p:txBody>
          <a:bodyPr wrap="square" anchor="t" lIns="45720" rIns="45720" tIns="18288" bIns="18288">
            <a:spAutoFit/>
          </a:bodyPr>
          <a:lstStyle/>
          <a:p>
            <a:pPr algn="l"/>
            <a:r>
              <a:rPr sz="1200" b="0">
                <a:solidFill>
                  <a:srgbClr val="D9DDE5"/>
                </a:solidFill>
                <a:latin typeface="Calibri"/>
              </a:rPr>
              <a:t>Single alliance SKU on Azure Marketplace and Oracle Cloud Marketplace; unified GTM with named field motion; co-marketed in industry events; ISV / SI program announced jointly.</a:t>
            </a:r>
          </a:p>
        </p:txBody>
      </p:sp>
      <p:sp>
        <p:nvSpPr>
          <p:cNvPr id="16" name="Rounded Rectangle 15"/>
          <p:cNvSpPr/>
          <p:nvPr/>
        </p:nvSpPr>
        <p:spPr>
          <a:xfrm>
            <a:off x="8138160" y="1920240"/>
            <a:ext cx="3657600" cy="4206240"/>
          </a:xfrm>
          <a:prstGeom prst="roundRect">
            <a:avLst>
              <a:gd name="adj" fmla="val 4000"/>
            </a:avLst>
          </a:prstGeom>
          <a:solidFill>
            <a:srgbClr val="1A2540"/>
          </a:solidFill>
          <a:ln w="12700">
            <a:solidFill>
              <a:srgbClr val="FFD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2194560"/>
            <a:ext cx="3200400" cy="365760"/>
          </a:xfrm>
          <a:prstGeom prst="rect">
            <a:avLst/>
          </a:prstGeom>
          <a:noFill/>
        </p:spPr>
        <p:txBody>
          <a:bodyPr wrap="square" anchor="t" lIns="45720" rIns="45720" tIns="18288" bIns="18288">
            <a:spAutoFit/>
          </a:bodyPr>
          <a:lstStyle/>
          <a:p>
            <a:pPr algn="l"/>
            <a:r>
              <a:rPr sz="1100" b="1">
                <a:solidFill>
                  <a:srgbClr val="FFD600"/>
                </a:solidFill>
                <a:latin typeface="Consolas"/>
              </a:rPr>
              <a:t>CO-FUNDED BUILD</a:t>
            </a:r>
          </a:p>
        </p:txBody>
      </p:sp>
      <p:sp>
        <p:nvSpPr>
          <p:cNvPr id="18" name="TextBox 17"/>
          <p:cNvSpPr txBox="1"/>
          <p:nvPr/>
        </p:nvSpPr>
        <p:spPr>
          <a:xfrm>
            <a:off x="8366760" y="2651760"/>
            <a:ext cx="3200400" cy="914400"/>
          </a:xfrm>
          <a:prstGeom prst="rect">
            <a:avLst/>
          </a:prstGeom>
          <a:noFill/>
        </p:spPr>
        <p:txBody>
          <a:bodyPr wrap="square" anchor="t" lIns="45720" rIns="45720" tIns="18288" bIns="18288">
            <a:spAutoFit/>
          </a:bodyPr>
          <a:lstStyle/>
          <a:p>
            <a:pPr algn="l"/>
            <a:r>
              <a:rPr sz="2000" b="1">
                <a:solidFill>
                  <a:srgbClr val="FFFFFF"/>
                </a:solidFill>
                <a:latin typeface="Calibri"/>
              </a:rPr>
              <a:t>Accelerators &amp; blueprints</a:t>
            </a:r>
          </a:p>
        </p:txBody>
      </p:sp>
      <p:cxnSp>
        <p:nvCxnSpPr>
          <p:cNvPr id="19" name="Connector 18"/>
          <p:cNvCxnSpPr/>
          <p:nvPr/>
        </p:nvCxnSpPr>
        <p:spPr>
          <a:xfrm>
            <a:off x="8366760" y="3794759"/>
            <a:ext cx="3200400" cy="0"/>
          </a:xfrm>
          <a:prstGeom prst="line">
            <a:avLst/>
          </a:prstGeom>
          <a:ln w="6350">
            <a:solidFill>
              <a:srgbClr val="FFD6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66760" y="3977640"/>
            <a:ext cx="3200400" cy="1920240"/>
          </a:xfrm>
          <a:prstGeom prst="rect">
            <a:avLst/>
          </a:prstGeom>
          <a:noFill/>
        </p:spPr>
        <p:txBody>
          <a:bodyPr wrap="square" anchor="t" lIns="45720" rIns="45720" tIns="18288" bIns="18288">
            <a:spAutoFit/>
          </a:bodyPr>
          <a:lstStyle/>
          <a:p>
            <a:pPr algn="l"/>
            <a:r>
              <a:rPr sz="1200" b="0">
                <a:solidFill>
                  <a:srgbClr val="D9DDE5"/>
                </a:solidFill>
                <a:latin typeface="Calibri"/>
              </a:rPr>
              <a:t>Ontology Bridge, Governance Bridge, and the four industry blueprints co-developed and co-owned. Shared engineering investment; shared roadmap; shared customer advisory 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2DD4BF"/>
                </a:solidFill>
                <a:latin typeface="Consolas"/>
              </a:rPr>
              <a:t>THE ASK  ·  DECISION-GRADE</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600" b="1">
                <a:solidFill>
                  <a:srgbClr val="FFFFFF"/>
                </a:solidFill>
                <a:latin typeface="Calibri"/>
              </a:rPr>
              <a:t>What we're asking the SLT to commit to.</a:t>
            </a:r>
          </a:p>
        </p:txBody>
      </p:sp>
      <p:sp>
        <p:nvSpPr>
          <p:cNvPr id="5" name="Rounded Rectangle 4"/>
          <p:cNvSpPr/>
          <p:nvPr/>
        </p:nvSpPr>
        <p:spPr>
          <a:xfrm>
            <a:off x="548640" y="1691640"/>
            <a:ext cx="5486400" cy="210312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2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1 · JOINT SPONSORSHIP</a:t>
            </a:r>
          </a:p>
        </p:txBody>
      </p:sp>
      <p:sp>
        <p:nvSpPr>
          <p:cNvPr id="7" name="TextBox 6"/>
          <p:cNvSpPr txBox="1"/>
          <p:nvPr/>
        </p:nvSpPr>
        <p:spPr>
          <a:xfrm>
            <a:off x="777240" y="2286000"/>
            <a:ext cx="5029200" cy="1325880"/>
          </a:xfrm>
          <a:prstGeom prst="rect">
            <a:avLst/>
          </a:prstGeom>
          <a:noFill/>
        </p:spPr>
        <p:txBody>
          <a:bodyPr wrap="square" anchor="t" lIns="45720" rIns="45720" tIns="18288" bIns="18288">
            <a:spAutoFit/>
          </a:bodyPr>
          <a:lstStyle/>
          <a:p>
            <a:pPr algn="l"/>
            <a:r>
              <a:rPr sz="1300" b="0">
                <a:solidFill>
                  <a:srgbClr val="D9DDE5"/>
                </a:solidFill>
                <a:latin typeface="Calibri"/>
              </a:rPr>
              <a:t>Both leadership teams publicly endorse the Enterprise Agent Alliance. Joint announcement at the next major event from each side.</a:t>
            </a:r>
          </a:p>
        </p:txBody>
      </p:sp>
      <p:sp>
        <p:nvSpPr>
          <p:cNvPr id="8" name="Rounded Rectangle 7"/>
          <p:cNvSpPr/>
          <p:nvPr/>
        </p:nvSpPr>
        <p:spPr>
          <a:xfrm>
            <a:off x="6217920" y="1691640"/>
            <a:ext cx="5486400" cy="210312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2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2 · CO-FUNDED GTM</a:t>
            </a:r>
          </a:p>
        </p:txBody>
      </p:sp>
      <p:sp>
        <p:nvSpPr>
          <p:cNvPr id="10" name="TextBox 9"/>
          <p:cNvSpPr txBox="1"/>
          <p:nvPr/>
        </p:nvSpPr>
        <p:spPr>
          <a:xfrm>
            <a:off x="6446520" y="2286000"/>
            <a:ext cx="5029200" cy="1325880"/>
          </a:xfrm>
          <a:prstGeom prst="rect">
            <a:avLst/>
          </a:prstGeom>
          <a:noFill/>
        </p:spPr>
        <p:txBody>
          <a:bodyPr wrap="square" anchor="t" lIns="45720" rIns="45720" tIns="18288" bIns="18288">
            <a:spAutoFit/>
          </a:bodyPr>
          <a:lstStyle/>
          <a:p>
            <a:pPr algn="l"/>
            <a:r>
              <a:rPr sz="1300" b="0">
                <a:solidFill>
                  <a:srgbClr val="D9DDE5"/>
                </a:solidFill>
                <a:latin typeface="Calibri"/>
              </a:rPr>
              <a:t>Named field organisation with shared targets and pipeline credit. Co-marketing budget agreed for Year 1 with quarterly review cadence.</a:t>
            </a:r>
          </a:p>
        </p:txBody>
      </p:sp>
      <p:sp>
        <p:nvSpPr>
          <p:cNvPr id="11" name="Rounded Rectangle 10"/>
          <p:cNvSpPr/>
          <p:nvPr/>
        </p:nvSpPr>
        <p:spPr>
          <a:xfrm>
            <a:off x="548640" y="3977640"/>
            <a:ext cx="5486400" cy="210312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16052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3 · ACCELERATORS GA</a:t>
            </a:r>
          </a:p>
        </p:txBody>
      </p:sp>
      <p:sp>
        <p:nvSpPr>
          <p:cNvPr id="13" name="TextBox 12"/>
          <p:cNvSpPr txBox="1"/>
          <p:nvPr/>
        </p:nvSpPr>
        <p:spPr>
          <a:xfrm>
            <a:off x="777240" y="4572000"/>
            <a:ext cx="5029200" cy="1325880"/>
          </a:xfrm>
          <a:prstGeom prst="rect">
            <a:avLst/>
          </a:prstGeom>
          <a:noFill/>
        </p:spPr>
        <p:txBody>
          <a:bodyPr wrap="square" anchor="t" lIns="45720" rIns="45720" tIns="18288" bIns="18288">
            <a:spAutoFit/>
          </a:bodyPr>
          <a:lstStyle/>
          <a:p>
            <a:pPr algn="l"/>
            <a:r>
              <a:rPr sz="1300" b="0">
                <a:solidFill>
                  <a:srgbClr val="D9DDE5"/>
                </a:solidFill>
                <a:latin typeface="Calibri"/>
              </a:rPr>
              <a:t>Ontology Bridge and Governance Bridge accelerators committed to GA by end of Phase 2. Co-owned engineering, co-owned roadmap.</a:t>
            </a:r>
          </a:p>
        </p:txBody>
      </p:sp>
      <p:sp>
        <p:nvSpPr>
          <p:cNvPr id="14" name="Rounded Rectangle 13"/>
          <p:cNvSpPr/>
          <p:nvPr/>
        </p:nvSpPr>
        <p:spPr>
          <a:xfrm>
            <a:off x="6217920" y="3977640"/>
            <a:ext cx="5486400" cy="210312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6052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4 · JOINT CUSTOMER ADVISORY BOARD</a:t>
            </a:r>
          </a:p>
        </p:txBody>
      </p:sp>
      <p:sp>
        <p:nvSpPr>
          <p:cNvPr id="16" name="TextBox 15"/>
          <p:cNvSpPr txBox="1"/>
          <p:nvPr/>
        </p:nvSpPr>
        <p:spPr>
          <a:xfrm>
            <a:off x="6446520" y="4572000"/>
            <a:ext cx="5029200" cy="1325880"/>
          </a:xfrm>
          <a:prstGeom prst="rect">
            <a:avLst/>
          </a:prstGeom>
          <a:noFill/>
        </p:spPr>
        <p:txBody>
          <a:bodyPr wrap="square" anchor="t" lIns="45720" rIns="45720" tIns="18288" bIns="18288">
            <a:spAutoFit/>
          </a:bodyPr>
          <a:lstStyle/>
          <a:p>
            <a:pPr algn="l"/>
            <a:r>
              <a:rPr sz="1300" b="0">
                <a:solidFill>
                  <a:srgbClr val="D9DDE5"/>
                </a:solidFill>
                <a:latin typeface="Calibri"/>
              </a:rPr>
              <a:t>Standing CAB with quarterly cadence and 10+ named participants by end of Year 1. All four industry blueprints co-developed by end of Phase 3; global SIs brought in under a co-funded enablement programme.</a:t>
            </a:r>
          </a:p>
        </p:txBody>
      </p:sp>
      <p:sp>
        <p:nvSpPr>
          <p:cNvPr id="17" name="Rounded Rectangle 16"/>
          <p:cNvSpPr/>
          <p:nvPr/>
        </p:nvSpPr>
        <p:spPr>
          <a:xfrm>
            <a:off x="548640" y="6080760"/>
            <a:ext cx="11064240" cy="502920"/>
          </a:xfrm>
          <a:prstGeom prst="roundRect">
            <a:avLst>
              <a:gd name="adj" fmla="val 4000"/>
            </a:avLst>
          </a:prstGeom>
          <a:solidFill>
            <a:srgbClr val="1A2540"/>
          </a:solidFill>
          <a:ln w="2222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172200"/>
            <a:ext cx="10607040" cy="365760"/>
          </a:xfrm>
          <a:prstGeom prst="rect">
            <a:avLst/>
          </a:prstGeom>
          <a:noFill/>
        </p:spPr>
        <p:txBody>
          <a:bodyPr wrap="square" anchor="t" lIns="45720" rIns="45720" tIns="18288" bIns="18288">
            <a:spAutoFit/>
          </a:bodyPr>
          <a:lstStyle/>
          <a:p>
            <a:pPr algn="l"/>
            <a:r>
              <a:rPr sz="1150" b="1">
                <a:solidFill>
                  <a:srgbClr val="2DD4BF"/>
                </a:solidFill>
                <a:latin typeface="Consolas"/>
              </a:rPr>
              <a:t>FIRST-MOVER LEAD TIME COMPOUNDS  ·  Every quarter the alliance is shipping is a quarter competitors fall further behind on the data + worker seam.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