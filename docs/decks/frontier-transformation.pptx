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10972800" cy="365760"/>
          </a:xfrm>
          <a:prstGeom prst="rect">
            <a:avLst/>
          </a:prstGeom>
          <a:noFill/>
        </p:spPr>
        <p:txBody>
          <a:bodyPr wrap="square" anchor="t" lIns="45720" rIns="45720" tIns="18288" bIns="18288">
            <a:spAutoFit/>
          </a:bodyPr>
          <a:lstStyle/>
          <a:p>
            <a:pPr algn="l"/>
            <a:r>
              <a:rPr sz="1100" b="0">
                <a:solidFill>
                  <a:srgbClr val="2DD4BF"/>
                </a:solidFill>
                <a:latin typeface="Consolas"/>
              </a:rPr>
              <a:t>FRONTIER TRANSFORMATION  ·  BIZ OPS + INFRA OPS  ·  ORACLE × MICROSOFT</a:t>
            </a:r>
          </a:p>
        </p:txBody>
      </p:sp>
      <p:sp>
        <p:nvSpPr>
          <p:cNvPr id="4" name="TextBox 3"/>
          <p:cNvSpPr txBox="1"/>
          <p:nvPr/>
        </p:nvSpPr>
        <p:spPr>
          <a:xfrm>
            <a:off x="548640" y="1097280"/>
            <a:ext cx="10972800" cy="2560320"/>
          </a:xfrm>
          <a:prstGeom prst="rect">
            <a:avLst/>
          </a:prstGeom>
          <a:noFill/>
        </p:spPr>
        <p:txBody>
          <a:bodyPr wrap="square" anchor="t" lIns="45720" rIns="45720" tIns="18288" bIns="18288">
            <a:spAutoFit/>
          </a:bodyPr>
          <a:lstStyle/>
          <a:p>
            <a:pPr algn="l"/>
            <a:r>
              <a:rPr sz="3800" b="1">
                <a:solidFill>
                  <a:srgbClr val="FFFFFF"/>
                </a:solidFill>
                <a:latin typeface="Calibri"/>
              </a:rPr>
              <a:t>Three coordinated workstreams.
One outcome:
the frontier firm running on Azure.</a:t>
            </a:r>
          </a:p>
        </p:txBody>
      </p:sp>
      <p:sp>
        <p:nvSpPr>
          <p:cNvPr id="5" name="TextBox 4"/>
          <p:cNvSpPr txBox="1"/>
          <p:nvPr/>
        </p:nvSpPr>
        <p:spPr>
          <a:xfrm>
            <a:off x="548640" y="4572000"/>
            <a:ext cx="10972800" cy="1645920"/>
          </a:xfrm>
          <a:prstGeom prst="rect">
            <a:avLst/>
          </a:prstGeom>
          <a:noFill/>
        </p:spPr>
        <p:txBody>
          <a:bodyPr wrap="square" anchor="t" lIns="45720" rIns="45720" tIns="18288" bIns="18288">
            <a:spAutoFit/>
          </a:bodyPr>
          <a:lstStyle/>
          <a:p>
            <a:pPr algn="l"/>
            <a:r>
              <a:rPr sz="1700" b="0">
                <a:solidFill>
                  <a:srgbClr val="D9DDE5"/>
                </a:solidFill>
                <a:latin typeface="Calibri"/>
              </a:rPr>
              <a:t>OD@A anchors the data estate. The Microsoft Agent Framework modernises business ops. The Workload Virtual Instance is the new unit of AIOps for infra ops. Microsoft and Oracle agents interoperate over MCP, A2A, and Fabric Mirror across all three.</a:t>
            </a:r>
          </a:p>
        </p:txBody>
      </p:sp>
      <p:sp>
        <p:nvSpPr>
          <p:cNvPr id="6" name="Rectangle 5"/>
          <p:cNvSpPr/>
          <p:nvPr/>
        </p:nvSpPr>
        <p:spPr>
          <a:xfrm>
            <a:off x="0" y="6400800"/>
            <a:ext cx="12191695" cy="457200"/>
          </a:xfrm>
          <a:prstGeom prst="rect">
            <a:avLst/>
          </a:prstGeom>
          <a:solidFill>
            <a:srgbClr val="1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0972800" cy="365760"/>
          </a:xfrm>
          <a:prstGeom prst="rect">
            <a:avLst/>
          </a:prstGeom>
          <a:noFill/>
        </p:spPr>
        <p:txBody>
          <a:bodyPr wrap="square" anchor="t" lIns="45720" rIns="45720" tIns="18288" bIns="18288">
            <a:spAutoFit/>
          </a:bodyPr>
          <a:lstStyle/>
          <a:p>
            <a:pPr algn="l"/>
            <a:r>
              <a:rPr sz="1000" b="0">
                <a:solidFill>
                  <a:srgbClr val="94A3B8"/>
                </a:solidFill>
                <a:latin typeface="Consolas"/>
              </a:rPr>
              <a:t>Make Azure the best place to run Oracle workloads — across data, biz ops, and infra ops.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20040"/>
          </a:xfrm>
          <a:prstGeom prst="rect">
            <a:avLst/>
          </a:prstGeom>
          <a:noFill/>
        </p:spPr>
        <p:txBody>
          <a:bodyPr wrap="square" anchor="t" lIns="45720" rIns="45720" tIns="18288" bIns="18288">
            <a:spAutoFit/>
          </a:bodyPr>
          <a:lstStyle/>
          <a:p>
            <a:pPr algn="l"/>
            <a:r>
              <a:rPr sz="1100" b="0">
                <a:solidFill>
                  <a:srgbClr val="2DD4BF"/>
                </a:solidFill>
                <a:latin typeface="Consolas"/>
              </a:rPr>
              <a:t>THE FRAME · THREE WORKSTREAMS</a:t>
            </a:r>
          </a:p>
        </p:txBody>
      </p:sp>
      <p:sp>
        <p:nvSpPr>
          <p:cNvPr id="4" name="TextBox 3"/>
          <p:cNvSpPr txBox="1"/>
          <p:nvPr/>
        </p:nvSpPr>
        <p:spPr>
          <a:xfrm>
            <a:off x="548640" y="731520"/>
            <a:ext cx="10972800" cy="548640"/>
          </a:xfrm>
          <a:prstGeom prst="rect">
            <a:avLst/>
          </a:prstGeom>
          <a:noFill/>
        </p:spPr>
        <p:txBody>
          <a:bodyPr wrap="square" anchor="t" lIns="45720" rIns="45720" tIns="18288" bIns="18288">
            <a:spAutoFit/>
          </a:bodyPr>
          <a:lstStyle/>
          <a:p>
            <a:pPr algn="l"/>
            <a:r>
              <a:rPr sz="2200" b="1">
                <a:solidFill>
                  <a:srgbClr val="FFFFFF"/>
                </a:solidFill>
                <a:latin typeface="Calibri"/>
              </a:rPr>
              <a:t>Three coordinated workstreams. Each partial alone. Together they ship the frontier firm.</a:t>
            </a:r>
          </a:p>
        </p:txBody>
      </p:sp>
      <p:sp>
        <p:nvSpPr>
          <p:cNvPr id="5" name="Rounded Rectangle 4"/>
          <p:cNvSpPr/>
          <p:nvPr/>
        </p:nvSpPr>
        <p:spPr>
          <a:xfrm>
            <a:off x="548640" y="1691640"/>
            <a:ext cx="3749039" cy="4480560"/>
          </a:xfrm>
          <a:prstGeom prst="roundRect">
            <a:avLst>
              <a:gd name="adj" fmla="val 4000"/>
            </a:avLst>
          </a:prstGeom>
          <a:solidFill>
            <a:srgbClr val="1A2540"/>
          </a:solidFill>
          <a:ln w="12700">
            <a:solidFill>
              <a:srgbClr val="C74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20"/>
            <a:ext cx="822960" cy="411480"/>
          </a:xfrm>
          <a:prstGeom prst="rect">
            <a:avLst/>
          </a:prstGeom>
          <a:noFill/>
        </p:spPr>
        <p:txBody>
          <a:bodyPr wrap="square" anchor="t" lIns="45720" rIns="45720" tIns="18288" bIns="18288">
            <a:spAutoFit/>
          </a:bodyPr>
          <a:lstStyle/>
          <a:p>
            <a:pPr algn="l"/>
            <a:r>
              <a:rPr sz="2000" b="1">
                <a:solidFill>
                  <a:srgbClr val="C74634"/>
                </a:solidFill>
                <a:latin typeface="Consolas"/>
              </a:rPr>
              <a:t>01</a:t>
            </a:r>
          </a:p>
        </p:txBody>
      </p:sp>
      <p:sp>
        <p:nvSpPr>
          <p:cNvPr id="7" name="Rounded Rectangle 6"/>
          <p:cNvSpPr/>
          <p:nvPr/>
        </p:nvSpPr>
        <p:spPr>
          <a:xfrm>
            <a:off x="3154679" y="1938528"/>
            <a:ext cx="914400" cy="274320"/>
          </a:xfrm>
          <a:prstGeom prst="roundRect">
            <a:avLst>
              <a:gd name="adj" fmla="val 50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900" b="1">
                <a:solidFill>
                  <a:srgbClr val="C74634"/>
                </a:solidFill>
                <a:latin typeface="Consolas"/>
              </a:rPr>
              <a:t>JOINT</a:t>
            </a:r>
          </a:p>
        </p:txBody>
      </p:sp>
      <p:sp>
        <p:nvSpPr>
          <p:cNvPr id="8" name="TextBox 7"/>
          <p:cNvSpPr txBox="1"/>
          <p:nvPr/>
        </p:nvSpPr>
        <p:spPr>
          <a:xfrm>
            <a:off x="777240" y="2377440"/>
            <a:ext cx="3291839" cy="411480"/>
          </a:xfrm>
          <a:prstGeom prst="rect">
            <a:avLst/>
          </a:prstGeom>
          <a:noFill/>
        </p:spPr>
        <p:txBody>
          <a:bodyPr wrap="square" anchor="t" lIns="45720" rIns="45720" tIns="18288" bIns="18288">
            <a:spAutoFit/>
          </a:bodyPr>
          <a:lstStyle/>
          <a:p>
            <a:pPr algn="l"/>
            <a:r>
              <a:rPr sz="1100" b="1">
                <a:solidFill>
                  <a:srgbClr val="C74634"/>
                </a:solidFill>
                <a:latin typeface="Consolas"/>
              </a:rPr>
              <a:t>DATA ESTATE</a:t>
            </a:r>
          </a:p>
        </p:txBody>
      </p:sp>
      <p:sp>
        <p:nvSpPr>
          <p:cNvPr id="9" name="TextBox 8"/>
          <p:cNvSpPr txBox="1"/>
          <p:nvPr/>
        </p:nvSpPr>
        <p:spPr>
          <a:xfrm>
            <a:off x="777240" y="2651760"/>
            <a:ext cx="3291839" cy="548640"/>
          </a:xfrm>
          <a:prstGeom prst="rect">
            <a:avLst/>
          </a:prstGeom>
          <a:noFill/>
        </p:spPr>
        <p:txBody>
          <a:bodyPr wrap="square" anchor="t" lIns="45720" rIns="45720" tIns="18288" bIns="18288">
            <a:spAutoFit/>
          </a:bodyPr>
          <a:lstStyle/>
          <a:p>
            <a:pPr algn="l"/>
            <a:r>
              <a:rPr sz="1700" b="1">
                <a:solidFill>
                  <a:srgbClr val="FFFFFF"/>
                </a:solidFill>
                <a:latin typeface="Calibri"/>
              </a:rPr>
              <a:t>Modernise the data estate on Azure</a:t>
            </a:r>
          </a:p>
        </p:txBody>
      </p:sp>
      <p:sp>
        <p:nvSpPr>
          <p:cNvPr id="10" name="TextBox 9"/>
          <p:cNvSpPr txBox="1"/>
          <p:nvPr/>
        </p:nvSpPr>
        <p:spPr>
          <a:xfrm>
            <a:off x="777240" y="3474720"/>
            <a:ext cx="3291839" cy="1508760"/>
          </a:xfrm>
          <a:prstGeom prst="rect">
            <a:avLst/>
          </a:prstGeom>
          <a:noFill/>
        </p:spPr>
        <p:txBody>
          <a:bodyPr wrap="square" anchor="t" lIns="45720" rIns="45720" tIns="18288" bIns="18288">
            <a:spAutoFit/>
          </a:bodyPr>
          <a:lstStyle/>
          <a:p>
            <a:pPr algn="l"/>
            <a:r>
              <a:rPr sz="1200" b="0">
                <a:solidFill>
                  <a:srgbClr val="D9DDE5"/>
                </a:solidFill>
                <a:latin typeface="Calibri"/>
              </a:rPr>
              <a:t>Every Oracle workload to its right destination — OD@A as the anchor, with peer paths for OCI, Azure DB for PostgreSQL, and hybrid mirror.</a:t>
            </a:r>
          </a:p>
        </p:txBody>
      </p:sp>
      <p:cxnSp>
        <p:nvCxnSpPr>
          <p:cNvPr id="11" name="Connector 10"/>
          <p:cNvCxnSpPr/>
          <p:nvPr/>
        </p:nvCxnSpPr>
        <p:spPr>
          <a:xfrm>
            <a:off x="777240" y="4937760"/>
            <a:ext cx="3291839" cy="0"/>
          </a:xfrm>
          <a:prstGeom prst="line">
            <a:avLst/>
          </a:prstGeom>
          <a:ln w="6350">
            <a:solidFill>
              <a:srgbClr val="C74634"/>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7240" y="4983480"/>
            <a:ext cx="3291839" cy="228600"/>
          </a:xfrm>
          <a:prstGeom prst="rect">
            <a:avLst/>
          </a:prstGeom>
          <a:noFill/>
        </p:spPr>
        <p:txBody>
          <a:bodyPr wrap="square" anchor="t" lIns="45720" rIns="45720" tIns="18288" bIns="18288">
            <a:spAutoFit/>
          </a:bodyPr>
          <a:lstStyle/>
          <a:p>
            <a:pPr algn="l"/>
            <a:r>
              <a:rPr sz="900" b="0">
                <a:solidFill>
                  <a:srgbClr val="94A3B8"/>
                </a:solidFill>
                <a:latin typeface="Consolas"/>
              </a:rPr>
              <a:t>OUTCOME</a:t>
            </a:r>
          </a:p>
        </p:txBody>
      </p:sp>
      <p:sp>
        <p:nvSpPr>
          <p:cNvPr id="13" name="TextBox 12"/>
          <p:cNvSpPr txBox="1"/>
          <p:nvPr/>
        </p:nvSpPr>
        <p:spPr>
          <a:xfrm>
            <a:off x="777240" y="5212080"/>
            <a:ext cx="3291839" cy="914400"/>
          </a:xfrm>
          <a:prstGeom prst="rect">
            <a:avLst/>
          </a:prstGeom>
          <a:noFill/>
        </p:spPr>
        <p:txBody>
          <a:bodyPr wrap="square" anchor="t" lIns="45720" rIns="45720" tIns="18288" bIns="18288">
            <a:spAutoFit/>
          </a:bodyPr>
          <a:lstStyle/>
          <a:p>
            <a:pPr algn="l"/>
            <a:r>
              <a:rPr sz="1150" b="1">
                <a:solidFill>
                  <a:srgbClr val="C74634"/>
                </a:solidFill>
                <a:latin typeface="Calibri"/>
              </a:rPr>
              <a:t>Data of record anchored on Azure. The agentic stack grounds wherever it lives.</a:t>
            </a:r>
          </a:p>
        </p:txBody>
      </p:sp>
      <p:sp>
        <p:nvSpPr>
          <p:cNvPr id="14" name="Rounded Rectangle 13"/>
          <p:cNvSpPr/>
          <p:nvPr/>
        </p:nvSpPr>
        <p:spPr>
          <a:xfrm>
            <a:off x="4434839" y="1691640"/>
            <a:ext cx="3749039" cy="4480560"/>
          </a:xfrm>
          <a:prstGeom prst="roundRect">
            <a:avLst>
              <a:gd name="adj" fmla="val 4000"/>
            </a:avLst>
          </a:prstGeom>
          <a:solidFill>
            <a:srgbClr val="1A2540"/>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39" y="1874520"/>
            <a:ext cx="822960" cy="411480"/>
          </a:xfrm>
          <a:prstGeom prst="rect">
            <a:avLst/>
          </a:prstGeom>
          <a:noFill/>
        </p:spPr>
        <p:txBody>
          <a:bodyPr wrap="square" anchor="t" lIns="45720" rIns="45720" tIns="18288" bIns="18288">
            <a:spAutoFit/>
          </a:bodyPr>
          <a:lstStyle/>
          <a:p>
            <a:pPr algn="l"/>
            <a:r>
              <a:rPr sz="2000" b="1">
                <a:solidFill>
                  <a:srgbClr val="0078D4"/>
                </a:solidFill>
                <a:latin typeface="Consolas"/>
              </a:rPr>
              <a:t>02</a:t>
            </a:r>
          </a:p>
        </p:txBody>
      </p:sp>
      <p:sp>
        <p:nvSpPr>
          <p:cNvPr id="16" name="Rounded Rectangle 15"/>
          <p:cNvSpPr/>
          <p:nvPr/>
        </p:nvSpPr>
        <p:spPr>
          <a:xfrm>
            <a:off x="7040878" y="1938528"/>
            <a:ext cx="914400" cy="274320"/>
          </a:xfrm>
          <a:prstGeom prst="roundRect">
            <a:avLst>
              <a:gd name="adj" fmla="val 50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900" b="1">
                <a:solidFill>
                  <a:srgbClr val="0078D4"/>
                </a:solidFill>
                <a:latin typeface="Consolas"/>
              </a:rPr>
              <a:t>MICROSOFT</a:t>
            </a:r>
          </a:p>
        </p:txBody>
      </p:sp>
      <p:sp>
        <p:nvSpPr>
          <p:cNvPr id="17" name="TextBox 16"/>
          <p:cNvSpPr txBox="1"/>
          <p:nvPr/>
        </p:nvSpPr>
        <p:spPr>
          <a:xfrm>
            <a:off x="4663439" y="2377440"/>
            <a:ext cx="3291839" cy="411480"/>
          </a:xfrm>
          <a:prstGeom prst="rect">
            <a:avLst/>
          </a:prstGeom>
          <a:noFill/>
        </p:spPr>
        <p:txBody>
          <a:bodyPr wrap="square" anchor="t" lIns="45720" rIns="45720" tIns="18288" bIns="18288">
            <a:spAutoFit/>
          </a:bodyPr>
          <a:lstStyle/>
          <a:p>
            <a:pPr algn="l"/>
            <a:r>
              <a:rPr sz="1100" b="1">
                <a:solidFill>
                  <a:srgbClr val="0078D4"/>
                </a:solidFill>
                <a:latin typeface="Consolas"/>
              </a:rPr>
              <a:t>BIZ OPS</a:t>
            </a:r>
          </a:p>
        </p:txBody>
      </p:sp>
      <p:sp>
        <p:nvSpPr>
          <p:cNvPr id="18" name="TextBox 17"/>
          <p:cNvSpPr txBox="1"/>
          <p:nvPr/>
        </p:nvSpPr>
        <p:spPr>
          <a:xfrm>
            <a:off x="4663439" y="2651760"/>
            <a:ext cx="3291839" cy="548640"/>
          </a:xfrm>
          <a:prstGeom prst="rect">
            <a:avLst/>
          </a:prstGeom>
          <a:noFill/>
        </p:spPr>
        <p:txBody>
          <a:bodyPr wrap="square" anchor="t" lIns="45720" rIns="45720" tIns="18288" bIns="18288">
            <a:spAutoFit/>
          </a:bodyPr>
          <a:lstStyle/>
          <a:p>
            <a:pPr algn="l"/>
            <a:r>
              <a:rPr sz="1700" b="1">
                <a:solidFill>
                  <a:srgbClr val="FFFFFF"/>
                </a:solidFill>
                <a:latin typeface="Calibri"/>
              </a:rPr>
              <a:t>Modernise the apps + ship agents</a:t>
            </a:r>
          </a:p>
        </p:txBody>
      </p:sp>
      <p:sp>
        <p:nvSpPr>
          <p:cNvPr id="19" name="TextBox 18"/>
          <p:cNvSpPr txBox="1"/>
          <p:nvPr/>
        </p:nvSpPr>
        <p:spPr>
          <a:xfrm>
            <a:off x="4663439" y="3474720"/>
            <a:ext cx="3291839" cy="1508760"/>
          </a:xfrm>
          <a:prstGeom prst="rect">
            <a:avLst/>
          </a:prstGeom>
          <a:noFill/>
        </p:spPr>
        <p:txBody>
          <a:bodyPr wrap="square" anchor="t" lIns="45720" rIns="45720" tIns="18288" bIns="18288">
            <a:spAutoFit/>
          </a:bodyPr>
          <a:lstStyle/>
          <a:p>
            <a:pPr algn="l"/>
            <a:r>
              <a:rPr sz="1200" b="0">
                <a:solidFill>
                  <a:srgbClr val="D9DDE5"/>
                </a:solidFill>
                <a:latin typeface="Calibri"/>
              </a:rPr>
              <a:t>App stack to cloud standards. Agents on the Microsoft Agent Framework — rooted in the IQ layer, A365, and Purview — interoperating with Oracle agents.</a:t>
            </a:r>
          </a:p>
        </p:txBody>
      </p:sp>
      <p:cxnSp>
        <p:nvCxnSpPr>
          <p:cNvPr id="20" name="Connector 19"/>
          <p:cNvCxnSpPr/>
          <p:nvPr/>
        </p:nvCxnSpPr>
        <p:spPr>
          <a:xfrm>
            <a:off x="4663439" y="4937760"/>
            <a:ext cx="3291839" cy="0"/>
          </a:xfrm>
          <a:prstGeom prst="line">
            <a:avLst/>
          </a:prstGeom>
          <a:ln w="6350">
            <a:solidFill>
              <a:srgbClr val="0078D4"/>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663439" y="4983480"/>
            <a:ext cx="3291839" cy="228600"/>
          </a:xfrm>
          <a:prstGeom prst="rect">
            <a:avLst/>
          </a:prstGeom>
          <a:noFill/>
        </p:spPr>
        <p:txBody>
          <a:bodyPr wrap="square" anchor="t" lIns="45720" rIns="45720" tIns="18288" bIns="18288">
            <a:spAutoFit/>
          </a:bodyPr>
          <a:lstStyle/>
          <a:p>
            <a:pPr algn="l"/>
            <a:r>
              <a:rPr sz="900" b="0">
                <a:solidFill>
                  <a:srgbClr val="94A3B8"/>
                </a:solidFill>
                <a:latin typeface="Consolas"/>
              </a:rPr>
              <a:t>OUTCOME</a:t>
            </a:r>
          </a:p>
        </p:txBody>
      </p:sp>
      <p:sp>
        <p:nvSpPr>
          <p:cNvPr id="22" name="TextBox 21"/>
          <p:cNvSpPr txBox="1"/>
          <p:nvPr/>
        </p:nvSpPr>
        <p:spPr>
          <a:xfrm>
            <a:off x="4663439" y="5212080"/>
            <a:ext cx="3291839" cy="914400"/>
          </a:xfrm>
          <a:prstGeom prst="rect">
            <a:avLst/>
          </a:prstGeom>
          <a:noFill/>
        </p:spPr>
        <p:txBody>
          <a:bodyPr wrap="square" anchor="t" lIns="45720" rIns="45720" tIns="18288" bIns="18288">
            <a:spAutoFit/>
          </a:bodyPr>
          <a:lstStyle/>
          <a:p>
            <a:pPr algn="l"/>
            <a:r>
              <a:rPr sz="1150" b="1">
                <a:solidFill>
                  <a:srgbClr val="0078D4"/>
                </a:solidFill>
                <a:latin typeface="Calibri"/>
              </a:rPr>
              <a:t>Worker-facing agents that draft, decide, and execute across the modernised app surface.</a:t>
            </a:r>
          </a:p>
        </p:txBody>
      </p:sp>
      <p:sp>
        <p:nvSpPr>
          <p:cNvPr id="23" name="Rounded Rectangle 22"/>
          <p:cNvSpPr/>
          <p:nvPr/>
        </p:nvSpPr>
        <p:spPr>
          <a:xfrm>
            <a:off x="8321038" y="1691640"/>
            <a:ext cx="3749039" cy="448056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49638" y="1874520"/>
            <a:ext cx="822960" cy="411480"/>
          </a:xfrm>
          <a:prstGeom prst="rect">
            <a:avLst/>
          </a:prstGeom>
          <a:noFill/>
        </p:spPr>
        <p:txBody>
          <a:bodyPr wrap="square" anchor="t" lIns="45720" rIns="45720" tIns="18288" bIns="18288">
            <a:spAutoFit/>
          </a:bodyPr>
          <a:lstStyle/>
          <a:p>
            <a:pPr algn="l"/>
            <a:r>
              <a:rPr sz="2000" b="1">
                <a:solidFill>
                  <a:srgbClr val="2DD4BF"/>
                </a:solidFill>
                <a:latin typeface="Consolas"/>
              </a:rPr>
              <a:t>03</a:t>
            </a:r>
          </a:p>
        </p:txBody>
      </p:sp>
      <p:sp>
        <p:nvSpPr>
          <p:cNvPr id="25" name="Rounded Rectangle 24"/>
          <p:cNvSpPr/>
          <p:nvPr/>
        </p:nvSpPr>
        <p:spPr>
          <a:xfrm>
            <a:off x="10927077" y="1938528"/>
            <a:ext cx="914400" cy="274320"/>
          </a:xfrm>
          <a:prstGeom prst="roundRect">
            <a:avLst>
              <a:gd name="adj" fmla="val 50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900" b="1">
                <a:solidFill>
                  <a:srgbClr val="2DD4BF"/>
                </a:solidFill>
                <a:latin typeface="Consolas"/>
              </a:rPr>
              <a:t>JOINT</a:t>
            </a:r>
          </a:p>
        </p:txBody>
      </p:sp>
      <p:sp>
        <p:nvSpPr>
          <p:cNvPr id="26" name="TextBox 25"/>
          <p:cNvSpPr txBox="1"/>
          <p:nvPr/>
        </p:nvSpPr>
        <p:spPr>
          <a:xfrm>
            <a:off x="8549638" y="2377440"/>
            <a:ext cx="3291839" cy="411480"/>
          </a:xfrm>
          <a:prstGeom prst="rect">
            <a:avLst/>
          </a:prstGeom>
          <a:noFill/>
        </p:spPr>
        <p:txBody>
          <a:bodyPr wrap="square" anchor="t" lIns="45720" rIns="45720" tIns="18288" bIns="18288">
            <a:spAutoFit/>
          </a:bodyPr>
          <a:lstStyle/>
          <a:p>
            <a:pPr algn="l"/>
            <a:r>
              <a:rPr sz="1100" b="1">
                <a:solidFill>
                  <a:srgbClr val="2DD4BF"/>
                </a:solidFill>
                <a:latin typeface="Consolas"/>
              </a:rPr>
              <a:t>INFRA OPS</a:t>
            </a:r>
          </a:p>
        </p:txBody>
      </p:sp>
      <p:sp>
        <p:nvSpPr>
          <p:cNvPr id="27" name="TextBox 26"/>
          <p:cNvSpPr txBox="1"/>
          <p:nvPr/>
        </p:nvSpPr>
        <p:spPr>
          <a:xfrm>
            <a:off x="8549638" y="2651760"/>
            <a:ext cx="3291839" cy="548640"/>
          </a:xfrm>
          <a:prstGeom prst="rect">
            <a:avLst/>
          </a:prstGeom>
          <a:noFill/>
        </p:spPr>
        <p:txBody>
          <a:bodyPr wrap="square" anchor="t" lIns="45720" rIns="45720" tIns="18288" bIns="18288">
            <a:spAutoFit/>
          </a:bodyPr>
          <a:lstStyle/>
          <a:p>
            <a:pPr algn="l"/>
            <a:r>
              <a:rPr sz="1700" b="1">
                <a:solidFill>
                  <a:srgbClr val="FFFFFF"/>
                </a:solidFill>
                <a:latin typeface="Calibri"/>
              </a:rPr>
              <a:t>Workload Virtual Instance + AIOps</a:t>
            </a:r>
          </a:p>
        </p:txBody>
      </p:sp>
      <p:sp>
        <p:nvSpPr>
          <p:cNvPr id="28" name="TextBox 27"/>
          <p:cNvSpPr txBox="1"/>
          <p:nvPr/>
        </p:nvSpPr>
        <p:spPr>
          <a:xfrm>
            <a:off x="8549638" y="3474720"/>
            <a:ext cx="3291839" cy="1508760"/>
          </a:xfrm>
          <a:prstGeom prst="rect">
            <a:avLst/>
          </a:prstGeom>
          <a:noFill/>
        </p:spPr>
        <p:txBody>
          <a:bodyPr wrap="square" anchor="t" lIns="45720" rIns="45720" tIns="18288" bIns="18288">
            <a:spAutoFit/>
          </a:bodyPr>
          <a:lstStyle/>
          <a:p>
            <a:pPr algn="l"/>
            <a:r>
              <a:rPr sz="1200" b="0">
                <a:solidFill>
                  <a:srgbClr val="D9DDE5"/>
                </a:solidFill>
                <a:latin typeface="Calibri"/>
              </a:rPr>
              <a:t>WVI as the new unit of AIOps. Common Agent Platform shipping Config Drift, Troubleshooting &amp; RCA agents on a Quality / Resiliency / Security foundation.</a:t>
            </a:r>
          </a:p>
        </p:txBody>
      </p:sp>
      <p:cxnSp>
        <p:nvCxnSpPr>
          <p:cNvPr id="29" name="Connector 28"/>
          <p:cNvCxnSpPr/>
          <p:nvPr/>
        </p:nvCxnSpPr>
        <p:spPr>
          <a:xfrm>
            <a:off x="8549638" y="4937760"/>
            <a:ext cx="3291839" cy="0"/>
          </a:xfrm>
          <a:prstGeom prst="line">
            <a:avLst/>
          </a:prstGeom>
          <a:ln w="6350">
            <a:solidFill>
              <a:srgbClr val="2DD4BF"/>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49638" y="4983480"/>
            <a:ext cx="3291839" cy="228600"/>
          </a:xfrm>
          <a:prstGeom prst="rect">
            <a:avLst/>
          </a:prstGeom>
          <a:noFill/>
        </p:spPr>
        <p:txBody>
          <a:bodyPr wrap="square" anchor="t" lIns="45720" rIns="45720" tIns="18288" bIns="18288">
            <a:spAutoFit/>
          </a:bodyPr>
          <a:lstStyle/>
          <a:p>
            <a:pPr algn="l"/>
            <a:r>
              <a:rPr sz="900" b="0">
                <a:solidFill>
                  <a:srgbClr val="94A3B8"/>
                </a:solidFill>
                <a:latin typeface="Consolas"/>
              </a:rPr>
              <a:t>OUTCOME</a:t>
            </a:r>
          </a:p>
        </p:txBody>
      </p:sp>
      <p:sp>
        <p:nvSpPr>
          <p:cNvPr id="31" name="TextBox 30"/>
          <p:cNvSpPr txBox="1"/>
          <p:nvPr/>
        </p:nvSpPr>
        <p:spPr>
          <a:xfrm>
            <a:off x="8549638" y="5212080"/>
            <a:ext cx="3291839" cy="914400"/>
          </a:xfrm>
          <a:prstGeom prst="rect">
            <a:avLst/>
          </a:prstGeom>
          <a:noFill/>
        </p:spPr>
        <p:txBody>
          <a:bodyPr wrap="square" anchor="t" lIns="45720" rIns="45720" tIns="18288" bIns="18288">
            <a:spAutoFit/>
          </a:bodyPr>
          <a:lstStyle/>
          <a:p>
            <a:pPr algn="l"/>
            <a:r>
              <a:rPr sz="1150" b="1">
                <a:solidFill>
                  <a:srgbClr val="2DD4BF"/>
                </a:solidFill>
                <a:latin typeface="Calibri"/>
              </a:rPr>
              <a:t>Drift caught before incidents. RCA at machine speed. Workload health green by default.</a:t>
            </a:r>
          </a:p>
        </p:txBody>
      </p:sp>
      <p:sp>
        <p:nvSpPr>
          <p:cNvPr id="32" name="Rounded Rectangle 31"/>
          <p:cNvSpPr/>
          <p:nvPr/>
        </p:nvSpPr>
        <p:spPr>
          <a:xfrm>
            <a:off x="548640" y="6309360"/>
            <a:ext cx="11064240" cy="411480"/>
          </a:xfrm>
          <a:prstGeom prst="roundRect">
            <a:avLst>
              <a:gd name="adj" fmla="val 18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6364224"/>
            <a:ext cx="10607040" cy="320040"/>
          </a:xfrm>
          <a:prstGeom prst="rect">
            <a:avLst/>
          </a:prstGeom>
          <a:noFill/>
        </p:spPr>
        <p:txBody>
          <a:bodyPr wrap="square" anchor="t" lIns="45720" rIns="45720" tIns="18288" bIns="18288">
            <a:spAutoFit/>
          </a:bodyPr>
          <a:lstStyle/>
          <a:p>
            <a:pPr algn="l"/>
            <a:r>
              <a:rPr sz="1100" b="1">
                <a:solidFill>
                  <a:srgbClr val="2DD4BF"/>
                </a:solidFill>
                <a:latin typeface="Consolas"/>
              </a:rPr>
              <a:t>UNIFIED OUTCOME  ·  Frontier firm — agent-augmented, data-grounded, cross-stack, governed by default.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274320"/>
          </a:xfrm>
          <a:prstGeom prst="rect">
            <a:avLst/>
          </a:prstGeom>
          <a:noFill/>
        </p:spPr>
        <p:txBody>
          <a:bodyPr wrap="square" anchor="t" lIns="45720" rIns="45720" tIns="18288" bIns="18288">
            <a:spAutoFit/>
          </a:bodyPr>
          <a:lstStyle/>
          <a:p>
            <a:pPr algn="l"/>
            <a:r>
              <a:rPr sz="1100" b="0">
                <a:solidFill>
                  <a:srgbClr val="2DD4BF"/>
                </a:solidFill>
                <a:latin typeface="Consolas"/>
              </a:rPr>
              <a:t>THE COMPLETE ARCHITECTURE  ·  ALL THREE WORKSTREAMS IN ONE FRAME</a:t>
            </a:r>
          </a:p>
        </p:txBody>
      </p:sp>
      <p:sp>
        <p:nvSpPr>
          <p:cNvPr id="4" name="Rounded Rectangle 3"/>
          <p:cNvSpPr/>
          <p:nvPr/>
        </p:nvSpPr>
        <p:spPr>
          <a:xfrm>
            <a:off x="365760" y="502920"/>
            <a:ext cx="11430000" cy="365760"/>
          </a:xfrm>
          <a:prstGeom prst="roundRect">
            <a:avLst>
              <a:gd name="adj" fmla="val 18000"/>
            </a:avLst>
          </a:prstGeom>
          <a:solidFill>
            <a:srgbClr val="FFD600"/>
          </a:solidFill>
          <a:ln w="9525">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548640"/>
            <a:ext cx="11430000" cy="274320"/>
          </a:xfrm>
          <a:prstGeom prst="rect">
            <a:avLst/>
          </a:prstGeom>
          <a:noFill/>
        </p:spPr>
        <p:txBody>
          <a:bodyPr wrap="square" anchor="t" lIns="45720" rIns="45720" tIns="18288" bIns="18288">
            <a:spAutoFit/>
          </a:bodyPr>
          <a:lstStyle/>
          <a:p>
            <a:pPr algn="ctr"/>
            <a:r>
              <a:rPr sz="1150" b="1">
                <a:solidFill>
                  <a:srgbClr val="FFD600"/>
                </a:solidFill>
                <a:latin typeface="Consolas"/>
              </a:rPr>
              <a:t>GOAL  ·  MAKE AZURE THE BEST PLACE TO RUN ORACLE WORKLOADS</a:t>
            </a:r>
          </a:p>
        </p:txBody>
      </p:sp>
      <p:sp>
        <p:nvSpPr>
          <p:cNvPr id="6" name="Rounded Rectangle 5"/>
          <p:cNvSpPr/>
          <p:nvPr/>
        </p:nvSpPr>
        <p:spPr>
          <a:xfrm>
            <a:off x="365760" y="1005840"/>
            <a:ext cx="3703320" cy="4754880"/>
          </a:xfrm>
          <a:prstGeom prst="roundRect">
            <a:avLst>
              <a:gd name="adj" fmla="val 4000"/>
            </a:avLst>
          </a:prstGeom>
          <a:solidFill>
            <a:srgbClr val="1A2540"/>
          </a:solidFill>
          <a:ln w="12700">
            <a:solidFill>
              <a:srgbClr val="C74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143000"/>
            <a:ext cx="548640" cy="274320"/>
          </a:xfrm>
          <a:prstGeom prst="rect">
            <a:avLst/>
          </a:prstGeom>
          <a:noFill/>
        </p:spPr>
        <p:txBody>
          <a:bodyPr wrap="square" anchor="t" lIns="45720" rIns="45720" tIns="18288" bIns="18288">
            <a:spAutoFit/>
          </a:bodyPr>
          <a:lstStyle/>
          <a:p>
            <a:pPr algn="l"/>
            <a:r>
              <a:rPr sz="1400" b="1">
                <a:solidFill>
                  <a:srgbClr val="C74634"/>
                </a:solidFill>
                <a:latin typeface="Consolas"/>
              </a:rPr>
              <a:t>01</a:t>
            </a:r>
          </a:p>
        </p:txBody>
      </p:sp>
      <p:sp>
        <p:nvSpPr>
          <p:cNvPr id="8" name="TextBox 7"/>
          <p:cNvSpPr txBox="1"/>
          <p:nvPr/>
        </p:nvSpPr>
        <p:spPr>
          <a:xfrm>
            <a:off x="960120" y="1143000"/>
            <a:ext cx="2971800" cy="274320"/>
          </a:xfrm>
          <a:prstGeom prst="rect">
            <a:avLst/>
          </a:prstGeom>
          <a:noFill/>
        </p:spPr>
        <p:txBody>
          <a:bodyPr wrap="square" anchor="t" lIns="45720" rIns="45720" tIns="18288" bIns="18288">
            <a:spAutoFit/>
          </a:bodyPr>
          <a:lstStyle/>
          <a:p>
            <a:pPr algn="l"/>
            <a:r>
              <a:rPr sz="1000" b="1">
                <a:solidFill>
                  <a:srgbClr val="C74634"/>
                </a:solidFill>
                <a:latin typeface="Consolas"/>
              </a:rPr>
              <a:t>DATA ESTATE  ·  WORKSTREAM 1</a:t>
            </a:r>
          </a:p>
        </p:txBody>
      </p:sp>
      <p:sp>
        <p:nvSpPr>
          <p:cNvPr id="9" name="TextBox 8"/>
          <p:cNvSpPr txBox="1"/>
          <p:nvPr/>
        </p:nvSpPr>
        <p:spPr>
          <a:xfrm>
            <a:off x="548640" y="1417320"/>
            <a:ext cx="3337560" cy="320040"/>
          </a:xfrm>
          <a:prstGeom prst="rect">
            <a:avLst/>
          </a:prstGeom>
          <a:noFill/>
        </p:spPr>
        <p:txBody>
          <a:bodyPr wrap="square" anchor="t" lIns="45720" rIns="45720" tIns="18288" bIns="18288">
            <a:spAutoFit/>
          </a:bodyPr>
          <a:lstStyle/>
          <a:p>
            <a:pPr algn="l"/>
            <a:r>
              <a:rPr sz="1500" b="1">
                <a:solidFill>
                  <a:srgbClr val="FFFFFF"/>
                </a:solidFill>
                <a:latin typeface="Calibri"/>
              </a:rPr>
              <a:t>Modernise on OD@A</a:t>
            </a:r>
          </a:p>
        </p:txBody>
      </p:sp>
      <p:sp>
        <p:nvSpPr>
          <p:cNvPr id="10" name="Rounded Rectangle 9"/>
          <p:cNvSpPr/>
          <p:nvPr/>
        </p:nvSpPr>
        <p:spPr>
          <a:xfrm>
            <a:off x="548640" y="1874520"/>
            <a:ext cx="3337560" cy="365760"/>
          </a:xfrm>
          <a:prstGeom prst="roundRect">
            <a:avLst>
              <a:gd name="adj" fmla="val 18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40"/>
            <a:ext cx="3337560" cy="274320"/>
          </a:xfrm>
          <a:prstGeom prst="rect">
            <a:avLst/>
          </a:prstGeom>
          <a:noFill/>
        </p:spPr>
        <p:txBody>
          <a:bodyPr wrap="square" anchor="t" lIns="45720" rIns="45720" tIns="18288" bIns="18288">
            <a:spAutoFit/>
          </a:bodyPr>
          <a:lstStyle/>
          <a:p>
            <a:pPr algn="ctr"/>
            <a:r>
              <a:rPr sz="1000" b="0">
                <a:solidFill>
                  <a:srgbClr val="D9DDE5"/>
                </a:solidFill>
                <a:latin typeface="Consolas"/>
              </a:rPr>
              <a:t>On-prem estate · Exadata · RAC · DBA · Fusion Apps</a:t>
            </a:r>
          </a:p>
        </p:txBody>
      </p:sp>
      <p:sp>
        <p:nvSpPr>
          <p:cNvPr id="12" name="TextBox 11"/>
          <p:cNvSpPr txBox="1"/>
          <p:nvPr/>
        </p:nvSpPr>
        <p:spPr>
          <a:xfrm>
            <a:off x="365760" y="2240280"/>
            <a:ext cx="3703320" cy="182880"/>
          </a:xfrm>
          <a:prstGeom prst="rect">
            <a:avLst/>
          </a:prstGeom>
          <a:noFill/>
        </p:spPr>
        <p:txBody>
          <a:bodyPr wrap="square" anchor="t" lIns="45720" rIns="45720" tIns="18288" bIns="18288">
            <a:spAutoFit/>
          </a:bodyPr>
          <a:lstStyle/>
          <a:p>
            <a:pPr algn="ctr"/>
            <a:r>
              <a:rPr sz="1200" b="0">
                <a:solidFill>
                  <a:srgbClr val="94A3B8"/>
                </a:solidFill>
                <a:latin typeface="Calibri"/>
              </a:rPr>
              <a:t>↑</a:t>
            </a:r>
          </a:p>
        </p:txBody>
      </p:sp>
      <p:sp>
        <p:nvSpPr>
          <p:cNvPr id="13" name="Rounded Rectangle 12"/>
          <p:cNvSpPr/>
          <p:nvPr/>
        </p:nvSpPr>
        <p:spPr>
          <a:xfrm>
            <a:off x="548640" y="2377440"/>
            <a:ext cx="3337560" cy="365760"/>
          </a:xfrm>
          <a:prstGeom prst="roundRect">
            <a:avLst>
              <a:gd name="adj" fmla="val 18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23160"/>
            <a:ext cx="3337560" cy="274320"/>
          </a:xfrm>
          <a:prstGeom prst="rect">
            <a:avLst/>
          </a:prstGeom>
          <a:noFill/>
        </p:spPr>
        <p:txBody>
          <a:bodyPr wrap="square" anchor="t" lIns="45720" rIns="45720" tIns="18288" bIns="18288">
            <a:spAutoFit/>
          </a:bodyPr>
          <a:lstStyle/>
          <a:p>
            <a:pPr algn="ctr"/>
            <a:r>
              <a:rPr sz="1000" b="0">
                <a:solidFill>
                  <a:srgbClr val="D9DDE5"/>
                </a:solidFill>
                <a:latin typeface="Consolas"/>
              </a:rPr>
              <a:t>Azure Migrate · ZDM · GoldenGate · Azure DMS</a:t>
            </a:r>
          </a:p>
        </p:txBody>
      </p:sp>
      <p:sp>
        <p:nvSpPr>
          <p:cNvPr id="15" name="TextBox 14"/>
          <p:cNvSpPr txBox="1"/>
          <p:nvPr/>
        </p:nvSpPr>
        <p:spPr>
          <a:xfrm>
            <a:off x="365760" y="2788920"/>
            <a:ext cx="3703320" cy="182880"/>
          </a:xfrm>
          <a:prstGeom prst="rect">
            <a:avLst/>
          </a:prstGeom>
          <a:noFill/>
        </p:spPr>
        <p:txBody>
          <a:bodyPr wrap="square" anchor="t" lIns="45720" rIns="45720" tIns="18288" bIns="18288">
            <a:spAutoFit/>
          </a:bodyPr>
          <a:lstStyle/>
          <a:p>
            <a:pPr algn="ctr"/>
            <a:r>
              <a:rPr sz="1200" b="0">
                <a:solidFill>
                  <a:srgbClr val="94A3B8"/>
                </a:solidFill>
                <a:latin typeface="Calibri"/>
              </a:rPr>
              <a:t>↑</a:t>
            </a:r>
          </a:p>
        </p:txBody>
      </p:sp>
      <p:sp>
        <p:nvSpPr>
          <p:cNvPr id="16" name="Rounded Rectangle 15"/>
          <p:cNvSpPr/>
          <p:nvPr/>
        </p:nvSpPr>
        <p:spPr>
          <a:xfrm>
            <a:off x="548640" y="2926080"/>
            <a:ext cx="3337560" cy="594360"/>
          </a:xfrm>
          <a:prstGeom prst="roundRect">
            <a:avLst>
              <a:gd name="adj" fmla="val 18000"/>
            </a:avLst>
          </a:prstGeom>
          <a:solidFill>
            <a:srgbClr val="C74634"/>
          </a:solidFill>
          <a:ln w="2857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971800"/>
            <a:ext cx="3337560" cy="274320"/>
          </a:xfrm>
          <a:prstGeom prst="rect">
            <a:avLst/>
          </a:prstGeom>
          <a:noFill/>
        </p:spPr>
        <p:txBody>
          <a:bodyPr wrap="square" anchor="t" lIns="45720" rIns="45720" tIns="18288" bIns="18288">
            <a:spAutoFit/>
          </a:bodyPr>
          <a:lstStyle/>
          <a:p>
            <a:pPr algn="ctr"/>
            <a:r>
              <a:rPr sz="1400" b="1">
                <a:solidFill>
                  <a:srgbClr val="FFFFFF"/>
                </a:solidFill>
                <a:latin typeface="Calibri"/>
              </a:rPr>
              <a:t>Oracle Database@Azure</a:t>
            </a:r>
          </a:p>
        </p:txBody>
      </p:sp>
      <p:sp>
        <p:nvSpPr>
          <p:cNvPr id="18" name="TextBox 17"/>
          <p:cNvSpPr txBox="1"/>
          <p:nvPr/>
        </p:nvSpPr>
        <p:spPr>
          <a:xfrm>
            <a:off x="548640" y="3246120"/>
            <a:ext cx="3337560" cy="274320"/>
          </a:xfrm>
          <a:prstGeom prst="rect">
            <a:avLst/>
          </a:prstGeom>
          <a:noFill/>
        </p:spPr>
        <p:txBody>
          <a:bodyPr wrap="square" anchor="t" lIns="45720" rIns="45720" tIns="18288" bIns="18288">
            <a:spAutoFit/>
          </a:bodyPr>
          <a:lstStyle/>
          <a:p>
            <a:pPr algn="ctr"/>
            <a:r>
              <a:rPr sz="950" b="0">
                <a:solidFill>
                  <a:srgbClr val="D9DDE5"/>
                </a:solidFill>
                <a:latin typeface="Consolas"/>
              </a:rPr>
              <a:t>ANCHOR · Exadata · Autonomous · DB Service</a:t>
            </a:r>
          </a:p>
        </p:txBody>
      </p:sp>
      <p:sp>
        <p:nvSpPr>
          <p:cNvPr id="19" name="Rounded Rectangle 18"/>
          <p:cNvSpPr/>
          <p:nvPr/>
        </p:nvSpPr>
        <p:spPr>
          <a:xfrm>
            <a:off x="548640" y="3703320"/>
            <a:ext cx="1051560" cy="274320"/>
          </a:xfrm>
          <a:prstGeom prst="roundRect">
            <a:avLst>
              <a:gd name="adj" fmla="val 50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850" b="1">
                <a:solidFill>
                  <a:srgbClr val="0078D4"/>
                </a:solidFill>
                <a:latin typeface="Consolas"/>
              </a:rPr>
              <a:t>OCI</a:t>
            </a:r>
          </a:p>
        </p:txBody>
      </p:sp>
      <p:sp>
        <p:nvSpPr>
          <p:cNvPr id="20" name="Rounded Rectangle 19"/>
          <p:cNvSpPr/>
          <p:nvPr/>
        </p:nvSpPr>
        <p:spPr>
          <a:xfrm>
            <a:off x="1691640" y="3703320"/>
            <a:ext cx="1051560" cy="274320"/>
          </a:xfrm>
          <a:prstGeom prst="roundRect">
            <a:avLst>
              <a:gd name="adj" fmla="val 50000"/>
            </a:avLst>
          </a:prstGeom>
          <a:solidFill>
            <a:srgbClr val="FFD600"/>
          </a:solidFill>
          <a:ln w="9525">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850" b="1">
                <a:solidFill>
                  <a:srgbClr val="FFD600"/>
                </a:solidFill>
                <a:latin typeface="Consolas"/>
              </a:rPr>
              <a:t>Azure PG</a:t>
            </a:r>
          </a:p>
        </p:txBody>
      </p:sp>
      <p:sp>
        <p:nvSpPr>
          <p:cNvPr id="21" name="Rounded Rectangle 20"/>
          <p:cNvSpPr/>
          <p:nvPr/>
        </p:nvSpPr>
        <p:spPr>
          <a:xfrm>
            <a:off x="2834640" y="3703320"/>
            <a:ext cx="1051560" cy="274320"/>
          </a:xfrm>
          <a:prstGeom prst="roundRect">
            <a:avLst>
              <a:gd name="adj" fmla="val 50000"/>
            </a:avLst>
          </a:prstGeom>
          <a:solidFill>
            <a:srgbClr val="94A3B8"/>
          </a:solidFill>
          <a:ln w="9525">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850" b="1">
                <a:solidFill>
                  <a:srgbClr val="94A3B8"/>
                </a:solidFill>
                <a:latin typeface="Consolas"/>
              </a:rPr>
              <a:t>Hybrid</a:t>
            </a:r>
          </a:p>
        </p:txBody>
      </p:sp>
      <p:sp>
        <p:nvSpPr>
          <p:cNvPr id="22" name="TextBox 21"/>
          <p:cNvSpPr txBox="1"/>
          <p:nvPr/>
        </p:nvSpPr>
        <p:spPr>
          <a:xfrm>
            <a:off x="548640" y="4114800"/>
            <a:ext cx="3337560" cy="228600"/>
          </a:xfrm>
          <a:prstGeom prst="rect">
            <a:avLst/>
          </a:prstGeom>
          <a:noFill/>
        </p:spPr>
        <p:txBody>
          <a:bodyPr wrap="square" anchor="t" lIns="45720" rIns="45720" tIns="18288" bIns="18288">
            <a:spAutoFit/>
          </a:bodyPr>
          <a:lstStyle/>
          <a:p>
            <a:pPr algn="ctr"/>
            <a:r>
              <a:rPr sz="850" b="0">
                <a:solidFill>
                  <a:srgbClr val="94A3B8"/>
                </a:solidFill>
                <a:latin typeface="Consolas"/>
              </a:rPr>
              <a:t>PEER PATHS</a:t>
            </a:r>
          </a:p>
        </p:txBody>
      </p:sp>
      <p:sp>
        <p:nvSpPr>
          <p:cNvPr id="23" name="Rounded Rectangle 22"/>
          <p:cNvSpPr/>
          <p:nvPr/>
        </p:nvSpPr>
        <p:spPr>
          <a:xfrm>
            <a:off x="4206240" y="1005840"/>
            <a:ext cx="3703320" cy="4754880"/>
          </a:xfrm>
          <a:prstGeom prst="roundRect">
            <a:avLst>
              <a:gd name="adj" fmla="val 4000"/>
            </a:avLst>
          </a:prstGeom>
          <a:solidFill>
            <a:srgbClr val="1A2540"/>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0" y="1143000"/>
            <a:ext cx="548640" cy="274320"/>
          </a:xfrm>
          <a:prstGeom prst="rect">
            <a:avLst/>
          </a:prstGeom>
          <a:noFill/>
        </p:spPr>
        <p:txBody>
          <a:bodyPr wrap="square" anchor="t" lIns="45720" rIns="45720" tIns="18288" bIns="18288">
            <a:spAutoFit/>
          </a:bodyPr>
          <a:lstStyle/>
          <a:p>
            <a:pPr algn="l"/>
            <a:r>
              <a:rPr sz="1400" b="1">
                <a:solidFill>
                  <a:srgbClr val="0078D4"/>
                </a:solidFill>
                <a:latin typeface="Consolas"/>
              </a:rPr>
              <a:t>02</a:t>
            </a:r>
          </a:p>
        </p:txBody>
      </p:sp>
      <p:sp>
        <p:nvSpPr>
          <p:cNvPr id="25" name="TextBox 24"/>
          <p:cNvSpPr txBox="1"/>
          <p:nvPr/>
        </p:nvSpPr>
        <p:spPr>
          <a:xfrm>
            <a:off x="4800600" y="1143000"/>
            <a:ext cx="2971800" cy="274320"/>
          </a:xfrm>
          <a:prstGeom prst="rect">
            <a:avLst/>
          </a:prstGeom>
          <a:noFill/>
        </p:spPr>
        <p:txBody>
          <a:bodyPr wrap="square" anchor="t" lIns="45720" rIns="45720" tIns="18288" bIns="18288">
            <a:spAutoFit/>
          </a:bodyPr>
          <a:lstStyle/>
          <a:p>
            <a:pPr algn="l"/>
            <a:r>
              <a:rPr sz="1000" b="1">
                <a:solidFill>
                  <a:srgbClr val="0078D4"/>
                </a:solidFill>
                <a:latin typeface="Consolas"/>
              </a:rPr>
              <a:t>BIZ OPS  ·  WORKSTREAM 2</a:t>
            </a:r>
          </a:p>
        </p:txBody>
      </p:sp>
      <p:sp>
        <p:nvSpPr>
          <p:cNvPr id="26" name="TextBox 25"/>
          <p:cNvSpPr txBox="1"/>
          <p:nvPr/>
        </p:nvSpPr>
        <p:spPr>
          <a:xfrm>
            <a:off x="4389120" y="1417320"/>
            <a:ext cx="3337560" cy="320040"/>
          </a:xfrm>
          <a:prstGeom prst="rect">
            <a:avLst/>
          </a:prstGeom>
          <a:noFill/>
        </p:spPr>
        <p:txBody>
          <a:bodyPr wrap="square" anchor="t" lIns="45720" rIns="45720" tIns="18288" bIns="18288">
            <a:spAutoFit/>
          </a:bodyPr>
          <a:lstStyle/>
          <a:p>
            <a:pPr algn="l"/>
            <a:r>
              <a:rPr sz="1500" b="1">
                <a:solidFill>
                  <a:srgbClr val="FFFFFF"/>
                </a:solidFill>
                <a:latin typeface="Calibri"/>
              </a:rPr>
              <a:t>Apps + Microsoft Agent Framework</a:t>
            </a:r>
          </a:p>
        </p:txBody>
      </p:sp>
      <p:sp>
        <p:nvSpPr>
          <p:cNvPr id="27" name="Rounded Rectangle 26"/>
          <p:cNvSpPr/>
          <p:nvPr/>
        </p:nvSpPr>
        <p:spPr>
          <a:xfrm>
            <a:off x="4389120" y="1874520"/>
            <a:ext cx="3337560" cy="621792"/>
          </a:xfrm>
          <a:prstGeom prst="roundRect">
            <a:avLst>
              <a:gd name="adj" fmla="val 18000"/>
            </a:avLst>
          </a:prstGeom>
          <a:solidFill>
            <a:srgbClr val="FFD600"/>
          </a:solidFill>
          <a:ln w="9525">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1920240"/>
            <a:ext cx="3246120" cy="274320"/>
          </a:xfrm>
          <a:prstGeom prst="rect">
            <a:avLst/>
          </a:prstGeom>
          <a:noFill/>
        </p:spPr>
        <p:txBody>
          <a:bodyPr wrap="square" anchor="t" lIns="45720" rIns="45720" tIns="18288" bIns="18288">
            <a:spAutoFit/>
          </a:bodyPr>
          <a:lstStyle/>
          <a:p>
            <a:pPr algn="l"/>
            <a:r>
              <a:rPr sz="1100" b="1">
                <a:solidFill>
                  <a:srgbClr val="FFFFFF"/>
                </a:solidFill>
                <a:latin typeface="Calibri"/>
              </a:rPr>
              <a:t>App stack · cloud-native</a:t>
            </a:r>
          </a:p>
        </p:txBody>
      </p:sp>
      <p:sp>
        <p:nvSpPr>
          <p:cNvPr id="29" name="TextBox 28"/>
          <p:cNvSpPr txBox="1"/>
          <p:nvPr/>
        </p:nvSpPr>
        <p:spPr>
          <a:xfrm>
            <a:off x="4480560" y="2167128"/>
            <a:ext cx="3246120" cy="274320"/>
          </a:xfrm>
          <a:prstGeom prst="rect">
            <a:avLst/>
          </a:prstGeom>
          <a:noFill/>
        </p:spPr>
        <p:txBody>
          <a:bodyPr wrap="square" anchor="t" lIns="45720" rIns="45720" tIns="18288" bIns="18288">
            <a:spAutoFit/>
          </a:bodyPr>
          <a:lstStyle/>
          <a:p>
            <a:pPr algn="l"/>
            <a:r>
              <a:rPr sz="900" b="0">
                <a:solidFill>
                  <a:srgbClr val="D9DDE5"/>
                </a:solidFill>
                <a:latin typeface="Consolas"/>
              </a:rPr>
              <a:t>AKS · App Service · Functions · Entra · Key Vault</a:t>
            </a:r>
          </a:p>
        </p:txBody>
      </p:sp>
      <p:sp>
        <p:nvSpPr>
          <p:cNvPr id="30" name="Rounded Rectangle 29"/>
          <p:cNvSpPr/>
          <p:nvPr/>
        </p:nvSpPr>
        <p:spPr>
          <a:xfrm>
            <a:off x="4389120" y="2587752"/>
            <a:ext cx="3337560" cy="621792"/>
          </a:xfrm>
          <a:prstGeom prst="roundRect">
            <a:avLst>
              <a:gd name="adj" fmla="val 18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60" y="2633472"/>
            <a:ext cx="3246120" cy="274320"/>
          </a:xfrm>
          <a:prstGeom prst="rect">
            <a:avLst/>
          </a:prstGeom>
          <a:noFill/>
        </p:spPr>
        <p:txBody>
          <a:bodyPr wrap="square" anchor="t" lIns="45720" rIns="45720" tIns="18288" bIns="18288">
            <a:spAutoFit/>
          </a:bodyPr>
          <a:lstStyle/>
          <a:p>
            <a:pPr algn="l"/>
            <a:r>
              <a:rPr sz="1100" b="1">
                <a:solidFill>
                  <a:srgbClr val="FFFFFF"/>
                </a:solidFill>
                <a:latin typeface="Calibri"/>
              </a:rPr>
              <a:t>Microsoft Agent Framework</a:t>
            </a:r>
          </a:p>
        </p:txBody>
      </p:sp>
      <p:sp>
        <p:nvSpPr>
          <p:cNvPr id="32" name="TextBox 31"/>
          <p:cNvSpPr txBox="1"/>
          <p:nvPr/>
        </p:nvSpPr>
        <p:spPr>
          <a:xfrm>
            <a:off x="4480560" y="2880360"/>
            <a:ext cx="3246120" cy="274320"/>
          </a:xfrm>
          <a:prstGeom prst="rect">
            <a:avLst/>
          </a:prstGeom>
          <a:noFill/>
        </p:spPr>
        <p:txBody>
          <a:bodyPr wrap="square" anchor="t" lIns="45720" rIns="45720" tIns="18288" bIns="18288">
            <a:spAutoFit/>
          </a:bodyPr>
          <a:lstStyle/>
          <a:p>
            <a:pPr algn="l"/>
            <a:r>
              <a:rPr sz="900" b="0">
                <a:solidFill>
                  <a:srgbClr val="D9DDE5"/>
                </a:solidFill>
                <a:latin typeface="Consolas"/>
              </a:rPr>
              <a:t>Foundry · Copilot Studio · evals + tracing</a:t>
            </a:r>
          </a:p>
        </p:txBody>
      </p:sp>
      <p:sp>
        <p:nvSpPr>
          <p:cNvPr id="33" name="Rounded Rectangle 32"/>
          <p:cNvSpPr/>
          <p:nvPr/>
        </p:nvSpPr>
        <p:spPr>
          <a:xfrm>
            <a:off x="4389120" y="3300984"/>
            <a:ext cx="3337560" cy="621792"/>
          </a:xfrm>
          <a:prstGeom prst="roundRect">
            <a:avLst>
              <a:gd name="adj" fmla="val 18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80560" y="3346704"/>
            <a:ext cx="3246120" cy="274320"/>
          </a:xfrm>
          <a:prstGeom prst="rect">
            <a:avLst/>
          </a:prstGeom>
          <a:noFill/>
        </p:spPr>
        <p:txBody>
          <a:bodyPr wrap="square" anchor="t" lIns="45720" rIns="45720" tIns="18288" bIns="18288">
            <a:spAutoFit/>
          </a:bodyPr>
          <a:lstStyle/>
          <a:p>
            <a:pPr algn="l"/>
            <a:r>
              <a:rPr sz="1100" b="1">
                <a:solidFill>
                  <a:srgbClr val="FFFFFF"/>
                </a:solidFill>
                <a:latin typeface="Calibri"/>
              </a:rPr>
              <a:t>IQ layer</a:t>
            </a:r>
          </a:p>
        </p:txBody>
      </p:sp>
      <p:sp>
        <p:nvSpPr>
          <p:cNvPr id="35" name="TextBox 34"/>
          <p:cNvSpPr txBox="1"/>
          <p:nvPr/>
        </p:nvSpPr>
        <p:spPr>
          <a:xfrm>
            <a:off x="4480560" y="3593592"/>
            <a:ext cx="3246120" cy="274320"/>
          </a:xfrm>
          <a:prstGeom prst="rect">
            <a:avLst/>
          </a:prstGeom>
          <a:noFill/>
        </p:spPr>
        <p:txBody>
          <a:bodyPr wrap="square" anchor="t" lIns="45720" rIns="45720" tIns="18288" bIns="18288">
            <a:spAutoFit/>
          </a:bodyPr>
          <a:lstStyle/>
          <a:p>
            <a:pPr algn="l"/>
            <a:r>
              <a:rPr sz="900" b="0">
                <a:solidFill>
                  <a:srgbClr val="D9DDE5"/>
                </a:solidFill>
                <a:latin typeface="Consolas"/>
              </a:rPr>
              <a:t>Fabric IQ · Foundry IQ · Work IQ</a:t>
            </a:r>
          </a:p>
        </p:txBody>
      </p:sp>
      <p:sp>
        <p:nvSpPr>
          <p:cNvPr id="36" name="Rounded Rectangle 35"/>
          <p:cNvSpPr/>
          <p:nvPr/>
        </p:nvSpPr>
        <p:spPr>
          <a:xfrm>
            <a:off x="4389120" y="4014216"/>
            <a:ext cx="3337560" cy="621792"/>
          </a:xfrm>
          <a:prstGeom prst="roundRect">
            <a:avLst>
              <a:gd name="adj" fmla="val 18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0560" y="4059936"/>
            <a:ext cx="3246120" cy="274320"/>
          </a:xfrm>
          <a:prstGeom prst="rect">
            <a:avLst/>
          </a:prstGeom>
          <a:noFill/>
        </p:spPr>
        <p:txBody>
          <a:bodyPr wrap="square" anchor="t" lIns="45720" rIns="45720" tIns="18288" bIns="18288">
            <a:spAutoFit/>
          </a:bodyPr>
          <a:lstStyle/>
          <a:p>
            <a:pPr algn="l"/>
            <a:r>
              <a:rPr sz="1100" b="1">
                <a:solidFill>
                  <a:srgbClr val="FFFFFF"/>
                </a:solidFill>
                <a:latin typeface="Calibri"/>
              </a:rPr>
              <a:t>Microsoft Agent 365</a:t>
            </a:r>
          </a:p>
        </p:txBody>
      </p:sp>
      <p:sp>
        <p:nvSpPr>
          <p:cNvPr id="38" name="TextBox 37"/>
          <p:cNvSpPr txBox="1"/>
          <p:nvPr/>
        </p:nvSpPr>
        <p:spPr>
          <a:xfrm>
            <a:off x="4480560" y="4306824"/>
            <a:ext cx="3246120" cy="274320"/>
          </a:xfrm>
          <a:prstGeom prst="rect">
            <a:avLst/>
          </a:prstGeom>
          <a:noFill/>
        </p:spPr>
        <p:txBody>
          <a:bodyPr wrap="square" anchor="t" lIns="45720" rIns="45720" tIns="18288" bIns="18288">
            <a:spAutoFit/>
          </a:bodyPr>
          <a:lstStyle/>
          <a:p>
            <a:pPr algn="l"/>
            <a:r>
              <a:rPr sz="900" b="0">
                <a:solidFill>
                  <a:srgbClr val="D9DDE5"/>
                </a:solidFill>
                <a:latin typeface="Consolas"/>
              </a:rPr>
              <a:t>Copilot · Outlook · Teams · control plane</a:t>
            </a:r>
          </a:p>
        </p:txBody>
      </p:sp>
      <p:sp>
        <p:nvSpPr>
          <p:cNvPr id="39" name="Rounded Rectangle 38"/>
          <p:cNvSpPr/>
          <p:nvPr/>
        </p:nvSpPr>
        <p:spPr>
          <a:xfrm>
            <a:off x="4389120" y="4727448"/>
            <a:ext cx="3337560" cy="621792"/>
          </a:xfrm>
          <a:prstGeom prst="roundRect">
            <a:avLst>
              <a:gd name="adj" fmla="val 18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80560" y="4773168"/>
            <a:ext cx="3246120" cy="274320"/>
          </a:xfrm>
          <a:prstGeom prst="rect">
            <a:avLst/>
          </a:prstGeom>
          <a:noFill/>
        </p:spPr>
        <p:txBody>
          <a:bodyPr wrap="square" anchor="t" lIns="45720" rIns="45720" tIns="18288" bIns="18288">
            <a:spAutoFit/>
          </a:bodyPr>
          <a:lstStyle/>
          <a:p>
            <a:pPr algn="l"/>
            <a:r>
              <a:rPr sz="1100" b="1">
                <a:solidFill>
                  <a:srgbClr val="FFFFFF"/>
                </a:solidFill>
                <a:latin typeface="Calibri"/>
              </a:rPr>
              <a:t>Governance</a:t>
            </a:r>
          </a:p>
        </p:txBody>
      </p:sp>
      <p:sp>
        <p:nvSpPr>
          <p:cNvPr id="41" name="TextBox 40"/>
          <p:cNvSpPr txBox="1"/>
          <p:nvPr/>
        </p:nvSpPr>
        <p:spPr>
          <a:xfrm>
            <a:off x="4480560" y="5020056"/>
            <a:ext cx="3246120" cy="274320"/>
          </a:xfrm>
          <a:prstGeom prst="rect">
            <a:avLst/>
          </a:prstGeom>
          <a:noFill/>
        </p:spPr>
        <p:txBody>
          <a:bodyPr wrap="square" anchor="t" lIns="45720" rIns="45720" tIns="18288" bIns="18288">
            <a:spAutoFit/>
          </a:bodyPr>
          <a:lstStyle/>
          <a:p>
            <a:pPr algn="l"/>
            <a:r>
              <a:rPr sz="900" b="0">
                <a:solidFill>
                  <a:srgbClr val="D9DDE5"/>
                </a:solidFill>
                <a:latin typeface="Consolas"/>
              </a:rPr>
              <a:t>Microsoft Purview ↔ Oracle Data Safe</a:t>
            </a:r>
          </a:p>
        </p:txBody>
      </p:sp>
      <p:sp>
        <p:nvSpPr>
          <p:cNvPr id="42" name="Rounded Rectangle 41"/>
          <p:cNvSpPr/>
          <p:nvPr/>
        </p:nvSpPr>
        <p:spPr>
          <a:xfrm>
            <a:off x="8046720" y="1005840"/>
            <a:ext cx="3703320" cy="475488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0" y="1143000"/>
            <a:ext cx="548640" cy="274320"/>
          </a:xfrm>
          <a:prstGeom prst="rect">
            <a:avLst/>
          </a:prstGeom>
          <a:noFill/>
        </p:spPr>
        <p:txBody>
          <a:bodyPr wrap="square" anchor="t" lIns="45720" rIns="45720" tIns="18288" bIns="18288">
            <a:spAutoFit/>
          </a:bodyPr>
          <a:lstStyle/>
          <a:p>
            <a:pPr algn="l"/>
            <a:r>
              <a:rPr sz="1400" b="1">
                <a:solidFill>
                  <a:srgbClr val="2DD4BF"/>
                </a:solidFill>
                <a:latin typeface="Consolas"/>
              </a:rPr>
              <a:t>03</a:t>
            </a:r>
          </a:p>
        </p:txBody>
      </p:sp>
      <p:sp>
        <p:nvSpPr>
          <p:cNvPr id="44" name="TextBox 43"/>
          <p:cNvSpPr txBox="1"/>
          <p:nvPr/>
        </p:nvSpPr>
        <p:spPr>
          <a:xfrm>
            <a:off x="8641080" y="1143000"/>
            <a:ext cx="2971800" cy="274320"/>
          </a:xfrm>
          <a:prstGeom prst="rect">
            <a:avLst/>
          </a:prstGeom>
          <a:noFill/>
        </p:spPr>
        <p:txBody>
          <a:bodyPr wrap="square" anchor="t" lIns="45720" rIns="45720" tIns="18288" bIns="18288">
            <a:spAutoFit/>
          </a:bodyPr>
          <a:lstStyle/>
          <a:p>
            <a:pPr algn="l"/>
            <a:r>
              <a:rPr sz="1000" b="1">
                <a:solidFill>
                  <a:srgbClr val="2DD4BF"/>
                </a:solidFill>
                <a:latin typeface="Consolas"/>
              </a:rPr>
              <a:t>INFRA OPS  ·  WORKSTREAM 3</a:t>
            </a:r>
          </a:p>
        </p:txBody>
      </p:sp>
      <p:sp>
        <p:nvSpPr>
          <p:cNvPr id="45" name="TextBox 44"/>
          <p:cNvSpPr txBox="1"/>
          <p:nvPr/>
        </p:nvSpPr>
        <p:spPr>
          <a:xfrm>
            <a:off x="8229600" y="1417320"/>
            <a:ext cx="3337560" cy="320040"/>
          </a:xfrm>
          <a:prstGeom prst="rect">
            <a:avLst/>
          </a:prstGeom>
          <a:noFill/>
        </p:spPr>
        <p:txBody>
          <a:bodyPr wrap="square" anchor="t" lIns="45720" rIns="45720" tIns="18288" bIns="18288">
            <a:spAutoFit/>
          </a:bodyPr>
          <a:lstStyle/>
          <a:p>
            <a:pPr algn="l"/>
            <a:r>
              <a:rPr sz="1500" b="1">
                <a:solidFill>
                  <a:srgbClr val="FFFFFF"/>
                </a:solidFill>
                <a:latin typeface="Calibri"/>
              </a:rPr>
              <a:t>WVI + AIOps stack</a:t>
            </a:r>
          </a:p>
        </p:txBody>
      </p:sp>
      <p:sp>
        <p:nvSpPr>
          <p:cNvPr id="46" name="Rounded Rectangle 45"/>
          <p:cNvSpPr/>
          <p:nvPr/>
        </p:nvSpPr>
        <p:spPr>
          <a:xfrm>
            <a:off x="8183880" y="1874520"/>
            <a:ext cx="3429000" cy="3703320"/>
          </a:xfrm>
          <a:prstGeom prst="roundRect">
            <a:avLst>
              <a:gd name="adj" fmla="val 6000"/>
            </a:avLst>
          </a:prstGeom>
          <a:solidFill>
            <a:srgbClr val="2DD4BF"/>
          </a:solidFill>
          <a:ln w="19050">
            <a:solidFill>
              <a:srgbClr val="2DD4BF"/>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321040" y="1920240"/>
            <a:ext cx="1280160" cy="256032"/>
          </a:xfrm>
          <a:prstGeom prst="roundRect">
            <a:avLst>
              <a:gd name="adj" fmla="val 50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900" b="1">
                <a:solidFill>
                  <a:srgbClr val="2DD4BF"/>
                </a:solidFill>
                <a:latin typeface="Consolas"/>
              </a:rPr>
              <a:t>WVI</a:t>
            </a:r>
          </a:p>
        </p:txBody>
      </p:sp>
      <p:sp>
        <p:nvSpPr>
          <p:cNvPr id="48" name="Rounded Rectangle 47"/>
          <p:cNvSpPr/>
          <p:nvPr/>
        </p:nvSpPr>
        <p:spPr>
          <a:xfrm>
            <a:off x="8321040" y="2286000"/>
            <a:ext cx="3154680" cy="329184"/>
          </a:xfrm>
          <a:prstGeom prst="roundRect">
            <a:avLst>
              <a:gd name="adj" fmla="val 18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21040" y="2331720"/>
            <a:ext cx="3154680" cy="274320"/>
          </a:xfrm>
          <a:prstGeom prst="rect">
            <a:avLst/>
          </a:prstGeom>
          <a:noFill/>
        </p:spPr>
        <p:txBody>
          <a:bodyPr wrap="square" anchor="t" lIns="45720" rIns="45720" tIns="18288" bIns="18288">
            <a:spAutoFit/>
          </a:bodyPr>
          <a:lstStyle/>
          <a:p>
            <a:pPr algn="ctr"/>
            <a:r>
              <a:rPr sz="1000" b="1">
                <a:solidFill>
                  <a:srgbClr val="FFFFFF"/>
                </a:solidFill>
                <a:latin typeface="Calibri"/>
              </a:rPr>
              <a:t>Proactive + reactive issue prevention</a:t>
            </a:r>
          </a:p>
        </p:txBody>
      </p:sp>
      <p:sp>
        <p:nvSpPr>
          <p:cNvPr id="50" name="Rounded Rectangle 49"/>
          <p:cNvSpPr/>
          <p:nvPr/>
        </p:nvSpPr>
        <p:spPr>
          <a:xfrm>
            <a:off x="8321040" y="2706624"/>
            <a:ext cx="1531620" cy="438912"/>
          </a:xfrm>
          <a:prstGeom prst="roundRect">
            <a:avLst>
              <a:gd name="adj" fmla="val 18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21040" y="2743200"/>
            <a:ext cx="1531620" cy="201168"/>
          </a:xfrm>
          <a:prstGeom prst="rect">
            <a:avLst/>
          </a:prstGeom>
          <a:noFill/>
        </p:spPr>
        <p:txBody>
          <a:bodyPr wrap="square" anchor="t" lIns="45720" rIns="45720" tIns="18288" bIns="18288">
            <a:spAutoFit/>
          </a:bodyPr>
          <a:lstStyle/>
          <a:p>
            <a:pPr algn="ctr"/>
            <a:r>
              <a:rPr sz="950" b="1">
                <a:solidFill>
                  <a:srgbClr val="FFFFFF"/>
                </a:solidFill>
                <a:latin typeface="Calibri"/>
              </a:rPr>
              <a:t>Config Drift Agent</a:t>
            </a:r>
          </a:p>
        </p:txBody>
      </p:sp>
      <p:sp>
        <p:nvSpPr>
          <p:cNvPr id="52" name="TextBox 51"/>
          <p:cNvSpPr txBox="1"/>
          <p:nvPr/>
        </p:nvSpPr>
        <p:spPr>
          <a:xfrm>
            <a:off x="8321040" y="2935224"/>
            <a:ext cx="1531620" cy="201168"/>
          </a:xfrm>
          <a:prstGeom prst="rect">
            <a:avLst/>
          </a:prstGeom>
          <a:noFill/>
        </p:spPr>
        <p:txBody>
          <a:bodyPr wrap="square" anchor="t" lIns="45720" rIns="45720" tIns="18288" bIns="18288">
            <a:spAutoFit/>
          </a:bodyPr>
          <a:lstStyle/>
          <a:p>
            <a:pPr algn="ctr"/>
            <a:r>
              <a:rPr sz="800" b="0">
                <a:solidFill>
                  <a:srgbClr val="0078D4"/>
                </a:solidFill>
                <a:latin typeface="Consolas"/>
              </a:rPr>
              <a:t>PROACTIVE</a:t>
            </a:r>
          </a:p>
        </p:txBody>
      </p:sp>
      <p:sp>
        <p:nvSpPr>
          <p:cNvPr id="53" name="Rounded Rectangle 52"/>
          <p:cNvSpPr/>
          <p:nvPr/>
        </p:nvSpPr>
        <p:spPr>
          <a:xfrm>
            <a:off x="9944100" y="2706624"/>
            <a:ext cx="1531620" cy="438912"/>
          </a:xfrm>
          <a:prstGeom prst="roundRect">
            <a:avLst>
              <a:gd name="adj" fmla="val 18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44100" y="2743200"/>
            <a:ext cx="1531620" cy="201168"/>
          </a:xfrm>
          <a:prstGeom prst="rect">
            <a:avLst/>
          </a:prstGeom>
          <a:noFill/>
        </p:spPr>
        <p:txBody>
          <a:bodyPr wrap="square" anchor="t" lIns="45720" rIns="45720" tIns="18288" bIns="18288">
            <a:spAutoFit/>
          </a:bodyPr>
          <a:lstStyle/>
          <a:p>
            <a:pPr algn="ctr"/>
            <a:r>
              <a:rPr sz="950" b="1">
                <a:solidFill>
                  <a:srgbClr val="FFFFFF"/>
                </a:solidFill>
                <a:latin typeface="Calibri"/>
              </a:rPr>
              <a:t>Troubleshooting + RCA</a:t>
            </a:r>
          </a:p>
        </p:txBody>
      </p:sp>
      <p:sp>
        <p:nvSpPr>
          <p:cNvPr id="55" name="TextBox 54"/>
          <p:cNvSpPr txBox="1"/>
          <p:nvPr/>
        </p:nvSpPr>
        <p:spPr>
          <a:xfrm>
            <a:off x="9944100" y="2935224"/>
            <a:ext cx="1531620" cy="201168"/>
          </a:xfrm>
          <a:prstGeom prst="rect">
            <a:avLst/>
          </a:prstGeom>
          <a:noFill/>
        </p:spPr>
        <p:txBody>
          <a:bodyPr wrap="square" anchor="t" lIns="45720" rIns="45720" tIns="18288" bIns="18288">
            <a:spAutoFit/>
          </a:bodyPr>
          <a:lstStyle/>
          <a:p>
            <a:pPr algn="ctr"/>
            <a:r>
              <a:rPr sz="800" b="0">
                <a:solidFill>
                  <a:srgbClr val="C74634"/>
                </a:solidFill>
                <a:latin typeface="Consolas"/>
              </a:rPr>
              <a:t>REACTIVE</a:t>
            </a:r>
          </a:p>
        </p:txBody>
      </p:sp>
      <p:sp>
        <p:nvSpPr>
          <p:cNvPr id="56" name="Rounded Rectangle 55"/>
          <p:cNvSpPr/>
          <p:nvPr/>
        </p:nvSpPr>
        <p:spPr>
          <a:xfrm>
            <a:off x="8321040" y="3236976"/>
            <a:ext cx="3154680" cy="329184"/>
          </a:xfrm>
          <a:prstGeom prst="roundRect">
            <a:avLst>
              <a:gd name="adj" fmla="val 18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321040" y="3282696"/>
            <a:ext cx="3154680" cy="274320"/>
          </a:xfrm>
          <a:prstGeom prst="rect">
            <a:avLst/>
          </a:prstGeom>
          <a:noFill/>
        </p:spPr>
        <p:txBody>
          <a:bodyPr wrap="square" anchor="t" lIns="45720" rIns="45720" tIns="18288" bIns="18288">
            <a:spAutoFit/>
          </a:bodyPr>
          <a:lstStyle/>
          <a:p>
            <a:pPr algn="ctr"/>
            <a:r>
              <a:rPr sz="1050" b="1">
                <a:solidFill>
                  <a:srgbClr val="FFFFFF"/>
                </a:solidFill>
                <a:latin typeface="Calibri"/>
              </a:rPr>
              <a:t>Common Agent Platform</a:t>
            </a:r>
          </a:p>
        </p:txBody>
      </p:sp>
      <p:sp>
        <p:nvSpPr>
          <p:cNvPr id="58" name="Rounded Rectangle 57"/>
          <p:cNvSpPr/>
          <p:nvPr/>
        </p:nvSpPr>
        <p:spPr>
          <a:xfrm>
            <a:off x="8321040" y="3657600"/>
            <a:ext cx="990600" cy="384048"/>
          </a:xfrm>
          <a:prstGeom prst="roundRect">
            <a:avLst>
              <a:gd name="adj" fmla="val 18000"/>
            </a:avLst>
          </a:prstGeom>
          <a:solidFill>
            <a:srgbClr val="FFFFFF"/>
          </a:solidFill>
          <a:ln w="9525">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321040" y="3703320"/>
            <a:ext cx="990600" cy="164592"/>
          </a:xfrm>
          <a:prstGeom prst="rect">
            <a:avLst/>
          </a:prstGeom>
          <a:noFill/>
        </p:spPr>
        <p:txBody>
          <a:bodyPr wrap="square" anchor="t" lIns="45720" rIns="45720" tIns="18288" bIns="18288">
            <a:spAutoFit/>
          </a:bodyPr>
          <a:lstStyle/>
          <a:p>
            <a:pPr algn="ctr"/>
            <a:r>
              <a:rPr sz="800" b="1">
                <a:solidFill>
                  <a:srgbClr val="0078D4"/>
                </a:solidFill>
                <a:latin typeface="Calibri"/>
              </a:rPr>
              <a:t>Configuration Validation</a:t>
            </a:r>
          </a:p>
        </p:txBody>
      </p:sp>
      <p:sp>
        <p:nvSpPr>
          <p:cNvPr id="60" name="Rounded Rectangle 59"/>
          <p:cNvSpPr/>
          <p:nvPr/>
        </p:nvSpPr>
        <p:spPr>
          <a:xfrm>
            <a:off x="9403080" y="3657600"/>
            <a:ext cx="990600" cy="384048"/>
          </a:xfrm>
          <a:prstGeom prst="roundRect">
            <a:avLst>
              <a:gd name="adj" fmla="val 18000"/>
            </a:avLst>
          </a:prstGeom>
          <a:solidFill>
            <a:srgbClr val="FFFFFF"/>
          </a:solidFill>
          <a:ln w="9525">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403080" y="3703320"/>
            <a:ext cx="990600" cy="164592"/>
          </a:xfrm>
          <a:prstGeom prst="rect">
            <a:avLst/>
          </a:prstGeom>
          <a:noFill/>
        </p:spPr>
        <p:txBody>
          <a:bodyPr wrap="square" anchor="t" lIns="45720" rIns="45720" tIns="18288" bIns="18288">
            <a:spAutoFit/>
          </a:bodyPr>
          <a:lstStyle/>
          <a:p>
            <a:pPr algn="ctr"/>
            <a:r>
              <a:rPr sz="800" b="1">
                <a:solidFill>
                  <a:srgbClr val="0078D4"/>
                </a:solidFill>
                <a:latin typeface="Calibri"/>
              </a:rPr>
              <a:t>Workload Health</a:t>
            </a:r>
          </a:p>
        </p:txBody>
      </p:sp>
      <p:sp>
        <p:nvSpPr>
          <p:cNvPr id="62" name="Rounded Rectangle 61"/>
          <p:cNvSpPr/>
          <p:nvPr/>
        </p:nvSpPr>
        <p:spPr>
          <a:xfrm>
            <a:off x="10485120" y="3657600"/>
            <a:ext cx="990600" cy="384048"/>
          </a:xfrm>
          <a:prstGeom prst="roundRect">
            <a:avLst>
              <a:gd name="adj" fmla="val 18000"/>
            </a:avLst>
          </a:prstGeom>
          <a:solidFill>
            <a:srgbClr val="FFFFFF"/>
          </a:solidFill>
          <a:ln w="9525">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485120" y="3703320"/>
            <a:ext cx="990600" cy="164592"/>
          </a:xfrm>
          <a:prstGeom prst="rect">
            <a:avLst/>
          </a:prstGeom>
          <a:noFill/>
        </p:spPr>
        <p:txBody>
          <a:bodyPr wrap="square" anchor="t" lIns="45720" rIns="45720" tIns="18288" bIns="18288">
            <a:spAutoFit/>
          </a:bodyPr>
          <a:lstStyle/>
          <a:p>
            <a:pPr algn="ctr"/>
            <a:r>
              <a:rPr sz="800" b="1">
                <a:solidFill>
                  <a:srgbClr val="0078D4"/>
                </a:solidFill>
                <a:latin typeface="Calibri"/>
              </a:rPr>
              <a:t>Contextual Support</a:t>
            </a:r>
          </a:p>
        </p:txBody>
      </p:sp>
      <p:sp>
        <p:nvSpPr>
          <p:cNvPr id="64" name="Rounded Rectangle 63"/>
          <p:cNvSpPr/>
          <p:nvPr/>
        </p:nvSpPr>
        <p:spPr>
          <a:xfrm>
            <a:off x="8321040" y="4114800"/>
            <a:ext cx="1531620" cy="274320"/>
          </a:xfrm>
          <a:prstGeom prst="roundRect">
            <a:avLst>
              <a:gd name="adj" fmla="val 18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321040" y="4151376"/>
            <a:ext cx="1531620" cy="201168"/>
          </a:xfrm>
          <a:prstGeom prst="rect">
            <a:avLst/>
          </a:prstGeom>
          <a:noFill/>
        </p:spPr>
        <p:txBody>
          <a:bodyPr wrap="square" anchor="t" lIns="45720" rIns="45720" tIns="18288" bIns="18288">
            <a:spAutoFit/>
          </a:bodyPr>
          <a:lstStyle/>
          <a:p>
            <a:pPr algn="ctr"/>
            <a:r>
              <a:rPr sz="950" b="1">
                <a:solidFill>
                  <a:srgbClr val="FFFFFF"/>
                </a:solidFill>
                <a:latin typeface="Calibri"/>
              </a:rPr>
              <a:t>Proactive</a:t>
            </a:r>
          </a:p>
        </p:txBody>
      </p:sp>
      <p:sp>
        <p:nvSpPr>
          <p:cNvPr id="66" name="Rounded Rectangle 65"/>
          <p:cNvSpPr/>
          <p:nvPr/>
        </p:nvSpPr>
        <p:spPr>
          <a:xfrm>
            <a:off x="9944100" y="4114800"/>
            <a:ext cx="1531620" cy="274320"/>
          </a:xfrm>
          <a:prstGeom prst="roundRect">
            <a:avLst>
              <a:gd name="adj" fmla="val 18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944100" y="4151376"/>
            <a:ext cx="1531620" cy="201168"/>
          </a:xfrm>
          <a:prstGeom prst="rect">
            <a:avLst/>
          </a:prstGeom>
          <a:noFill/>
        </p:spPr>
        <p:txBody>
          <a:bodyPr wrap="square" anchor="t" lIns="45720" rIns="45720" tIns="18288" bIns="18288">
            <a:spAutoFit/>
          </a:bodyPr>
          <a:lstStyle/>
          <a:p>
            <a:pPr algn="ctr"/>
            <a:r>
              <a:rPr sz="950" b="1">
                <a:solidFill>
                  <a:srgbClr val="FFFFFF"/>
                </a:solidFill>
                <a:latin typeface="Calibri"/>
              </a:rPr>
              <a:t>Reactive</a:t>
            </a:r>
          </a:p>
        </p:txBody>
      </p:sp>
      <p:sp>
        <p:nvSpPr>
          <p:cNvPr id="68" name="Rounded Rectangle 67"/>
          <p:cNvSpPr/>
          <p:nvPr/>
        </p:nvSpPr>
        <p:spPr>
          <a:xfrm>
            <a:off x="8321040" y="4480560"/>
            <a:ext cx="3154680" cy="329184"/>
          </a:xfrm>
          <a:prstGeom prst="roundRect">
            <a:avLst>
              <a:gd name="adj" fmla="val 18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321040" y="4526280"/>
            <a:ext cx="3154680" cy="274320"/>
          </a:xfrm>
          <a:prstGeom prst="rect">
            <a:avLst/>
          </a:prstGeom>
          <a:noFill/>
        </p:spPr>
        <p:txBody>
          <a:bodyPr wrap="square" anchor="t" lIns="45720" rIns="45720" tIns="18288" bIns="18288">
            <a:spAutoFit/>
          </a:bodyPr>
          <a:lstStyle/>
          <a:p>
            <a:pPr algn="ctr"/>
            <a:r>
              <a:rPr sz="1050" b="1">
                <a:solidFill>
                  <a:srgbClr val="FFFFFF"/>
                </a:solidFill>
                <a:latin typeface="Calibri"/>
              </a:rPr>
              <a:t>Quality · Resiliency · Security</a:t>
            </a:r>
          </a:p>
        </p:txBody>
      </p:sp>
      <p:sp>
        <p:nvSpPr>
          <p:cNvPr id="70" name="Rounded Rectangle 69"/>
          <p:cNvSpPr/>
          <p:nvPr/>
        </p:nvSpPr>
        <p:spPr>
          <a:xfrm>
            <a:off x="365760" y="5925312"/>
            <a:ext cx="11430000" cy="457200"/>
          </a:xfrm>
          <a:prstGeom prst="roundRect">
            <a:avLst>
              <a:gd name="adj" fmla="val 18000"/>
            </a:avLst>
          </a:prstGeom>
          <a:solidFill>
            <a:srgbClr val="1A2540"/>
          </a:solidFill>
          <a:ln w="9525">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7200" y="5980176"/>
            <a:ext cx="2743200" cy="164592"/>
          </a:xfrm>
          <a:prstGeom prst="rect">
            <a:avLst/>
          </a:prstGeom>
          <a:noFill/>
        </p:spPr>
        <p:txBody>
          <a:bodyPr wrap="square" anchor="t" lIns="45720" rIns="45720" tIns="18288" bIns="18288">
            <a:spAutoFit/>
          </a:bodyPr>
          <a:lstStyle/>
          <a:p>
            <a:pPr algn="l"/>
            <a:r>
              <a:rPr sz="900" b="1">
                <a:solidFill>
                  <a:srgbClr val="94A3B8"/>
                </a:solidFill>
                <a:latin typeface="Consolas"/>
              </a:rPr>
              <a:t>AGENT INTEROP</a:t>
            </a:r>
          </a:p>
        </p:txBody>
      </p:sp>
      <p:sp>
        <p:nvSpPr>
          <p:cNvPr id="72" name="Rounded Rectangle 71"/>
          <p:cNvSpPr/>
          <p:nvPr/>
        </p:nvSpPr>
        <p:spPr>
          <a:xfrm>
            <a:off x="3108960" y="5971032"/>
            <a:ext cx="2286000" cy="320040"/>
          </a:xfrm>
          <a:prstGeom prst="roundRect">
            <a:avLst>
              <a:gd name="adj" fmla="val 50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900" b="1">
                <a:solidFill>
                  <a:srgbClr val="2DD4BF"/>
                </a:solidFill>
                <a:latin typeface="Consolas"/>
              </a:rPr>
              <a:t>MCP · MS → Oracle</a:t>
            </a:r>
          </a:p>
        </p:txBody>
      </p:sp>
      <p:sp>
        <p:nvSpPr>
          <p:cNvPr id="73" name="Rounded Rectangle 72"/>
          <p:cNvSpPr/>
          <p:nvPr/>
        </p:nvSpPr>
        <p:spPr>
          <a:xfrm>
            <a:off x="5577840" y="5971032"/>
            <a:ext cx="2468880" cy="320040"/>
          </a:xfrm>
          <a:prstGeom prst="roundRect">
            <a:avLst>
              <a:gd name="adj" fmla="val 50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900" b="1">
                <a:solidFill>
                  <a:srgbClr val="0078D4"/>
                </a:solidFill>
                <a:latin typeface="Consolas"/>
              </a:rPr>
              <a:t>Fabric Mirror · Oracle → MS</a:t>
            </a:r>
          </a:p>
        </p:txBody>
      </p:sp>
      <p:sp>
        <p:nvSpPr>
          <p:cNvPr id="74" name="Rounded Rectangle 73"/>
          <p:cNvSpPr/>
          <p:nvPr/>
        </p:nvSpPr>
        <p:spPr>
          <a:xfrm>
            <a:off x="8229600" y="5971032"/>
            <a:ext cx="2286000" cy="320040"/>
          </a:xfrm>
          <a:prstGeom prst="roundRect">
            <a:avLst>
              <a:gd name="adj" fmla="val 50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900" b="1">
                <a:solidFill>
                  <a:srgbClr val="C74634"/>
                </a:solidFill>
                <a:latin typeface="Consolas"/>
              </a:rPr>
              <a:t>A2A · Bidirectional</a:t>
            </a:r>
          </a:p>
        </p:txBody>
      </p:sp>
      <p:sp>
        <p:nvSpPr>
          <p:cNvPr id="75" name="TextBox 74"/>
          <p:cNvSpPr txBox="1"/>
          <p:nvPr/>
        </p:nvSpPr>
        <p:spPr>
          <a:xfrm>
            <a:off x="457200" y="6181344"/>
            <a:ext cx="2743200" cy="164592"/>
          </a:xfrm>
          <a:prstGeom prst="rect">
            <a:avLst/>
          </a:prstGeom>
          <a:noFill/>
        </p:spPr>
        <p:txBody>
          <a:bodyPr wrap="square" anchor="t" lIns="45720" rIns="45720" tIns="18288" bIns="18288">
            <a:spAutoFit/>
          </a:bodyPr>
          <a:lstStyle/>
          <a:p>
            <a:pPr algn="l"/>
            <a:r>
              <a:rPr sz="850" b="0">
                <a:solidFill>
                  <a:srgbClr val="94A3B8"/>
                </a:solidFill>
                <a:latin typeface="Consolas"/>
              </a:rPr>
              <a:t>BETWEEN STACKS</a:t>
            </a:r>
          </a:p>
        </p:txBody>
      </p:sp>
      <p:sp>
        <p:nvSpPr>
          <p:cNvPr id="76" name="Rounded Rectangle 75"/>
          <p:cNvSpPr/>
          <p:nvPr/>
        </p:nvSpPr>
        <p:spPr>
          <a:xfrm>
            <a:off x="365760" y="6473952"/>
            <a:ext cx="11430000" cy="384048"/>
          </a:xfrm>
          <a:prstGeom prst="roundRect">
            <a:avLst>
              <a:gd name="adj" fmla="val 18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65760" y="6519672"/>
            <a:ext cx="11430000" cy="292608"/>
          </a:xfrm>
          <a:prstGeom prst="rect">
            <a:avLst/>
          </a:prstGeom>
          <a:noFill/>
        </p:spPr>
        <p:txBody>
          <a:bodyPr wrap="square" anchor="t" lIns="45720" rIns="45720" tIns="18288" bIns="18288">
            <a:spAutoFit/>
          </a:bodyPr>
          <a:lstStyle/>
          <a:p>
            <a:pPr algn="ctr"/>
            <a:r>
              <a:rPr sz="1100" b="1">
                <a:solidFill>
                  <a:srgbClr val="FFFFFF"/>
                </a:solidFill>
                <a:latin typeface="Consolas"/>
              </a:rPr>
              <a:t>FRONTIER FIRM  ·  agent-augmented work  ·  data-grounded decisions  ·  cross-stack interop  ·  governed by default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20040"/>
          </a:xfrm>
          <a:prstGeom prst="rect">
            <a:avLst/>
          </a:prstGeom>
          <a:noFill/>
        </p:spPr>
        <p:txBody>
          <a:bodyPr wrap="square" anchor="t" lIns="45720" rIns="45720" tIns="18288" bIns="18288">
            <a:spAutoFit/>
          </a:bodyPr>
          <a:lstStyle/>
          <a:p>
            <a:pPr algn="l"/>
            <a:r>
              <a:rPr sz="1100" b="0">
                <a:solidFill>
                  <a:srgbClr val="2DD4BF"/>
                </a:solidFill>
                <a:latin typeface="Consolas"/>
              </a:rPr>
              <a:t>JOINT AGENT ECOSYSTEM</a:t>
            </a:r>
          </a:p>
        </p:txBody>
      </p:sp>
      <p:sp>
        <p:nvSpPr>
          <p:cNvPr id="4" name="TextBox 3"/>
          <p:cNvSpPr txBox="1"/>
          <p:nvPr/>
        </p:nvSpPr>
        <p:spPr>
          <a:xfrm>
            <a:off x="548640" y="731520"/>
            <a:ext cx="10972800" cy="548640"/>
          </a:xfrm>
          <a:prstGeom prst="rect">
            <a:avLst/>
          </a:prstGeom>
          <a:noFill/>
        </p:spPr>
        <p:txBody>
          <a:bodyPr wrap="square" anchor="t" lIns="45720" rIns="45720" tIns="18288" bIns="18288">
            <a:spAutoFit/>
          </a:bodyPr>
          <a:lstStyle/>
          <a:p>
            <a:pPr algn="l"/>
            <a:r>
              <a:rPr sz="2400" b="1">
                <a:solidFill>
                  <a:srgbClr val="FFFFFF"/>
                </a:solidFill>
                <a:latin typeface="Calibri"/>
              </a:rPr>
              <a:t>Microsoft and Oracle agents call each other as peers.</a:t>
            </a:r>
          </a:p>
        </p:txBody>
      </p:sp>
      <p:sp>
        <p:nvSpPr>
          <p:cNvPr id="5" name="TextBox 4"/>
          <p:cNvSpPr txBox="1"/>
          <p:nvPr/>
        </p:nvSpPr>
        <p:spPr>
          <a:xfrm>
            <a:off x="548640" y="1325880"/>
            <a:ext cx="11064240" cy="365760"/>
          </a:xfrm>
          <a:prstGeom prst="rect">
            <a:avLst/>
          </a:prstGeom>
          <a:noFill/>
        </p:spPr>
        <p:txBody>
          <a:bodyPr wrap="square" anchor="t" lIns="45720" rIns="45720" tIns="18288" bIns="18288">
            <a:spAutoFit/>
          </a:bodyPr>
          <a:lstStyle/>
          <a:p>
            <a:pPr algn="l"/>
            <a:r>
              <a:rPr sz="1200" b="0">
                <a:solidFill>
                  <a:srgbClr val="B0B7C4"/>
                </a:solidFill>
                <a:latin typeface="Calibri"/>
              </a:rPr>
              <a:t>Three interop lanes: MCP for tool handoffs, Fabric Mirror for the data plane, A2A for true peer-to-peer agent orchestration.</a:t>
            </a:r>
          </a:p>
        </p:txBody>
      </p:sp>
      <p:sp>
        <p:nvSpPr>
          <p:cNvPr id="6" name="Rounded Rectangle 5"/>
          <p:cNvSpPr/>
          <p:nvPr/>
        </p:nvSpPr>
        <p:spPr>
          <a:xfrm>
            <a:off x="548640" y="1920240"/>
            <a:ext cx="3749039" cy="420624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103120"/>
            <a:ext cx="1463040" cy="292608"/>
          </a:xfrm>
          <a:prstGeom prst="roundRect">
            <a:avLst>
              <a:gd name="adj" fmla="val 50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900" b="1">
                <a:solidFill>
                  <a:srgbClr val="2DD4BF"/>
                </a:solidFill>
                <a:latin typeface="Consolas"/>
              </a:rPr>
              <a:t>MS → Oracle</a:t>
            </a:r>
          </a:p>
        </p:txBody>
      </p:sp>
      <p:sp>
        <p:nvSpPr>
          <p:cNvPr id="8" name="TextBox 7"/>
          <p:cNvSpPr txBox="1"/>
          <p:nvPr/>
        </p:nvSpPr>
        <p:spPr>
          <a:xfrm>
            <a:off x="2286000" y="2121408"/>
            <a:ext cx="1828799" cy="274320"/>
          </a:xfrm>
          <a:prstGeom prst="rect">
            <a:avLst/>
          </a:prstGeom>
          <a:noFill/>
        </p:spPr>
        <p:txBody>
          <a:bodyPr wrap="square" anchor="t" lIns="45720" rIns="45720" tIns="18288" bIns="18288">
            <a:spAutoFit/>
          </a:bodyPr>
          <a:lstStyle/>
          <a:p>
            <a:pPr algn="r"/>
            <a:r>
              <a:rPr sz="850" b="0">
                <a:solidFill>
                  <a:srgbClr val="94A3B8"/>
                </a:solidFill>
                <a:latin typeface="Consolas"/>
              </a:rPr>
              <a:t>MODEL CONTEXT PROTOCOL</a:t>
            </a:r>
          </a:p>
        </p:txBody>
      </p:sp>
      <p:sp>
        <p:nvSpPr>
          <p:cNvPr id="9" name="TextBox 8"/>
          <p:cNvSpPr txBox="1"/>
          <p:nvPr/>
        </p:nvSpPr>
        <p:spPr>
          <a:xfrm>
            <a:off x="777240" y="2560320"/>
            <a:ext cx="3291839" cy="548640"/>
          </a:xfrm>
          <a:prstGeom prst="rect">
            <a:avLst/>
          </a:prstGeom>
          <a:noFill/>
        </p:spPr>
        <p:txBody>
          <a:bodyPr wrap="square" anchor="t" lIns="45720" rIns="45720" tIns="18288" bIns="18288">
            <a:spAutoFit/>
          </a:bodyPr>
          <a:lstStyle/>
          <a:p>
            <a:pPr algn="l"/>
            <a:r>
              <a:rPr sz="1600" b="1">
                <a:solidFill>
                  <a:srgbClr val="FFFFFF"/>
                </a:solidFill>
                <a:latin typeface="Calibri"/>
              </a:rPr>
              <a:t>MCP loop back to Oracle</a:t>
            </a:r>
          </a:p>
        </p:txBody>
      </p:sp>
      <p:sp>
        <p:nvSpPr>
          <p:cNvPr id="10" name="TextBox 9"/>
          <p:cNvSpPr txBox="1"/>
          <p:nvPr/>
        </p:nvSpPr>
        <p:spPr>
          <a:xfrm>
            <a:off x="777240" y="3291840"/>
            <a:ext cx="3291839" cy="1554480"/>
          </a:xfrm>
          <a:prstGeom prst="rect">
            <a:avLst/>
          </a:prstGeom>
          <a:noFill/>
        </p:spPr>
        <p:txBody>
          <a:bodyPr wrap="square" anchor="t" lIns="45720" rIns="45720" tIns="18288" bIns="18288">
            <a:spAutoFit/>
          </a:bodyPr>
          <a:lstStyle/>
          <a:p>
            <a:pPr algn="l"/>
            <a:r>
              <a:rPr sz="1200" b="0">
                <a:solidFill>
                  <a:srgbClr val="D9DDE5"/>
                </a:solidFill>
                <a:latin typeface="Calibri"/>
              </a:rPr>
              <a:t>Microsoft-side agent (Copilot / Foundry / A365) hands off to an Oracle Fusion AI Agent to execute a write-back, transaction, or policy-bound flow inside the Oracle estate.</a:t>
            </a:r>
          </a:p>
        </p:txBody>
      </p:sp>
      <p:cxnSp>
        <p:nvCxnSpPr>
          <p:cNvPr id="11" name="Connector 10"/>
          <p:cNvCxnSpPr/>
          <p:nvPr/>
        </p:nvCxnSpPr>
        <p:spPr>
          <a:xfrm>
            <a:off x="777240" y="4846320"/>
            <a:ext cx="3291839" cy="0"/>
          </a:xfrm>
          <a:prstGeom prst="line">
            <a:avLst/>
          </a:prstGeom>
          <a:ln w="6350">
            <a:solidFill>
              <a:srgbClr val="2DD4B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7240" y="4937760"/>
            <a:ext cx="3291839" cy="228600"/>
          </a:xfrm>
          <a:prstGeom prst="rect">
            <a:avLst/>
          </a:prstGeom>
          <a:noFill/>
        </p:spPr>
        <p:txBody>
          <a:bodyPr wrap="square" anchor="t" lIns="45720" rIns="45720" tIns="18288" bIns="18288">
            <a:spAutoFit/>
          </a:bodyPr>
          <a:lstStyle/>
          <a:p>
            <a:pPr algn="l"/>
            <a:r>
              <a:rPr sz="900" b="0">
                <a:solidFill>
                  <a:srgbClr val="94A3B8"/>
                </a:solidFill>
                <a:latin typeface="Consolas"/>
              </a:rPr>
              <a:t>EXAMPLE</a:t>
            </a:r>
          </a:p>
        </p:txBody>
      </p:sp>
      <p:sp>
        <p:nvSpPr>
          <p:cNvPr id="13" name="TextBox 12"/>
          <p:cNvSpPr txBox="1"/>
          <p:nvPr/>
        </p:nvSpPr>
        <p:spPr>
          <a:xfrm>
            <a:off x="777240" y="5166360"/>
            <a:ext cx="3291839" cy="914400"/>
          </a:xfrm>
          <a:prstGeom prst="rect">
            <a:avLst/>
          </a:prstGeom>
          <a:noFill/>
        </p:spPr>
        <p:txBody>
          <a:bodyPr wrap="square" anchor="t" lIns="45720" rIns="45720" tIns="18288" bIns="18288">
            <a:spAutoFit/>
          </a:bodyPr>
          <a:lstStyle/>
          <a:p>
            <a:pPr algn="l"/>
            <a:r>
              <a:rPr sz="1100" b="1">
                <a:solidFill>
                  <a:srgbClr val="2DD4BF"/>
                </a:solidFill>
                <a:latin typeface="Calibri"/>
              </a:rPr>
              <a:t>Foundry recommends 'dual-source 25% of Adriatica volume' → MCP handoff → Fusion AI Agent executes the PO change.</a:t>
            </a:r>
          </a:p>
        </p:txBody>
      </p:sp>
      <p:sp>
        <p:nvSpPr>
          <p:cNvPr id="14" name="Rounded Rectangle 13"/>
          <p:cNvSpPr/>
          <p:nvPr/>
        </p:nvSpPr>
        <p:spPr>
          <a:xfrm>
            <a:off x="4434839" y="1920240"/>
            <a:ext cx="3749039" cy="4206240"/>
          </a:xfrm>
          <a:prstGeom prst="roundRect">
            <a:avLst>
              <a:gd name="adj" fmla="val 4000"/>
            </a:avLst>
          </a:prstGeom>
          <a:solidFill>
            <a:srgbClr val="1A2540"/>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617719" y="2103120"/>
            <a:ext cx="1463040" cy="292608"/>
          </a:xfrm>
          <a:prstGeom prst="roundRect">
            <a:avLst>
              <a:gd name="adj" fmla="val 50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900" b="1">
                <a:solidFill>
                  <a:srgbClr val="0078D4"/>
                </a:solidFill>
                <a:latin typeface="Consolas"/>
              </a:rPr>
              <a:t>Oracle → MS</a:t>
            </a:r>
          </a:p>
        </p:txBody>
      </p:sp>
      <p:sp>
        <p:nvSpPr>
          <p:cNvPr id="16" name="TextBox 15"/>
          <p:cNvSpPr txBox="1"/>
          <p:nvPr/>
        </p:nvSpPr>
        <p:spPr>
          <a:xfrm>
            <a:off x="6172199" y="2121408"/>
            <a:ext cx="1828799" cy="274320"/>
          </a:xfrm>
          <a:prstGeom prst="rect">
            <a:avLst/>
          </a:prstGeom>
          <a:noFill/>
        </p:spPr>
        <p:txBody>
          <a:bodyPr wrap="square" anchor="t" lIns="45720" rIns="45720" tIns="18288" bIns="18288">
            <a:spAutoFit/>
          </a:bodyPr>
          <a:lstStyle/>
          <a:p>
            <a:pPr algn="r"/>
            <a:r>
              <a:rPr sz="850" b="0">
                <a:solidFill>
                  <a:srgbClr val="94A3B8"/>
                </a:solidFill>
                <a:latin typeface="Consolas"/>
              </a:rPr>
              <a:t>NATIVE FABRIC MIRRORING + GOLDENGATE</a:t>
            </a:r>
          </a:p>
        </p:txBody>
      </p:sp>
      <p:sp>
        <p:nvSpPr>
          <p:cNvPr id="17" name="TextBox 16"/>
          <p:cNvSpPr txBox="1"/>
          <p:nvPr/>
        </p:nvSpPr>
        <p:spPr>
          <a:xfrm>
            <a:off x="4663439" y="2560320"/>
            <a:ext cx="3291839" cy="548640"/>
          </a:xfrm>
          <a:prstGeom prst="rect">
            <a:avLst/>
          </a:prstGeom>
          <a:noFill/>
        </p:spPr>
        <p:txBody>
          <a:bodyPr wrap="square" anchor="t" lIns="45720" rIns="45720" tIns="18288" bIns="18288">
            <a:spAutoFit/>
          </a:bodyPr>
          <a:lstStyle/>
          <a:p>
            <a:pPr algn="l"/>
            <a:r>
              <a:rPr sz="1600" b="1">
                <a:solidFill>
                  <a:srgbClr val="FFFFFF"/>
                </a:solidFill>
                <a:latin typeface="Calibri"/>
              </a:rPr>
              <a:t>Fabric Mirror (data plane)</a:t>
            </a:r>
          </a:p>
        </p:txBody>
      </p:sp>
      <p:sp>
        <p:nvSpPr>
          <p:cNvPr id="18" name="TextBox 17"/>
          <p:cNvSpPr txBox="1"/>
          <p:nvPr/>
        </p:nvSpPr>
        <p:spPr>
          <a:xfrm>
            <a:off x="4663439" y="3291840"/>
            <a:ext cx="3291839" cy="1554480"/>
          </a:xfrm>
          <a:prstGeom prst="rect">
            <a:avLst/>
          </a:prstGeom>
          <a:noFill/>
        </p:spPr>
        <p:txBody>
          <a:bodyPr wrap="square" anchor="t" lIns="45720" rIns="45720" tIns="18288" bIns="18288">
            <a:spAutoFit/>
          </a:bodyPr>
          <a:lstStyle/>
          <a:p>
            <a:pPr algn="l"/>
            <a:r>
              <a:rPr sz="1200" b="0">
                <a:solidFill>
                  <a:srgbClr val="D9DDE5"/>
                </a:solidFill>
                <a:latin typeface="Calibri"/>
              </a:rPr>
              <a:t>Oracle data of record streams into OneLake in near-real-time. Microsoft-side agents ground on the Fabric semantic model without ever copying tables.</a:t>
            </a:r>
          </a:p>
        </p:txBody>
      </p:sp>
      <p:cxnSp>
        <p:nvCxnSpPr>
          <p:cNvPr id="19" name="Connector 18"/>
          <p:cNvCxnSpPr/>
          <p:nvPr/>
        </p:nvCxnSpPr>
        <p:spPr>
          <a:xfrm>
            <a:off x="4663439" y="4846320"/>
            <a:ext cx="3291839" cy="0"/>
          </a:xfrm>
          <a:prstGeom prst="line">
            <a:avLst/>
          </a:prstGeom>
          <a:ln w="6350">
            <a:solidFill>
              <a:srgbClr val="0078D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63439" y="4937760"/>
            <a:ext cx="3291839" cy="228600"/>
          </a:xfrm>
          <a:prstGeom prst="rect">
            <a:avLst/>
          </a:prstGeom>
          <a:noFill/>
        </p:spPr>
        <p:txBody>
          <a:bodyPr wrap="square" anchor="t" lIns="45720" rIns="45720" tIns="18288" bIns="18288">
            <a:spAutoFit/>
          </a:bodyPr>
          <a:lstStyle/>
          <a:p>
            <a:pPr algn="l"/>
            <a:r>
              <a:rPr sz="900" b="0">
                <a:solidFill>
                  <a:srgbClr val="94A3B8"/>
                </a:solidFill>
                <a:latin typeface="Consolas"/>
              </a:rPr>
              <a:t>EXAMPLE</a:t>
            </a:r>
          </a:p>
        </p:txBody>
      </p:sp>
      <p:sp>
        <p:nvSpPr>
          <p:cNvPr id="21" name="TextBox 20"/>
          <p:cNvSpPr txBox="1"/>
          <p:nvPr/>
        </p:nvSpPr>
        <p:spPr>
          <a:xfrm>
            <a:off x="4663439" y="5166360"/>
            <a:ext cx="3291839" cy="914400"/>
          </a:xfrm>
          <a:prstGeom prst="rect">
            <a:avLst/>
          </a:prstGeom>
          <a:noFill/>
        </p:spPr>
        <p:txBody>
          <a:bodyPr wrap="square" anchor="t" lIns="45720" rIns="45720" tIns="18288" bIns="18288">
            <a:spAutoFit/>
          </a:bodyPr>
          <a:lstStyle/>
          <a:p>
            <a:pPr algn="l"/>
            <a:r>
              <a:rPr sz="1100" b="1">
                <a:solidFill>
                  <a:srgbClr val="0078D4"/>
                </a:solidFill>
                <a:latin typeface="Calibri"/>
              </a:rPr>
              <a:t>Direct Lake query against mirrored Fusion SCM tables — sub-second-fresh, fully governed.</a:t>
            </a:r>
          </a:p>
        </p:txBody>
      </p:sp>
      <p:sp>
        <p:nvSpPr>
          <p:cNvPr id="22" name="Rounded Rectangle 21"/>
          <p:cNvSpPr/>
          <p:nvPr/>
        </p:nvSpPr>
        <p:spPr>
          <a:xfrm>
            <a:off x="8321038" y="1920240"/>
            <a:ext cx="3749039" cy="4206240"/>
          </a:xfrm>
          <a:prstGeom prst="roundRect">
            <a:avLst>
              <a:gd name="adj" fmla="val 4000"/>
            </a:avLst>
          </a:prstGeom>
          <a:solidFill>
            <a:srgbClr val="1A2540"/>
          </a:solidFill>
          <a:ln w="12700">
            <a:solidFill>
              <a:srgbClr val="C74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503918" y="2103120"/>
            <a:ext cx="1463040" cy="292608"/>
          </a:xfrm>
          <a:prstGeom prst="roundRect">
            <a:avLst>
              <a:gd name="adj" fmla="val 50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900" b="1">
                <a:solidFill>
                  <a:srgbClr val="C74634"/>
                </a:solidFill>
                <a:latin typeface="Consolas"/>
              </a:rPr>
              <a:t>Bidirectional</a:t>
            </a:r>
          </a:p>
        </p:txBody>
      </p:sp>
      <p:sp>
        <p:nvSpPr>
          <p:cNvPr id="24" name="TextBox 23"/>
          <p:cNvSpPr txBox="1"/>
          <p:nvPr/>
        </p:nvSpPr>
        <p:spPr>
          <a:xfrm>
            <a:off x="10058398" y="2121408"/>
            <a:ext cx="1828799" cy="274320"/>
          </a:xfrm>
          <a:prstGeom prst="rect">
            <a:avLst/>
          </a:prstGeom>
          <a:noFill/>
        </p:spPr>
        <p:txBody>
          <a:bodyPr wrap="square" anchor="t" lIns="45720" rIns="45720" tIns="18288" bIns="18288">
            <a:spAutoFit/>
          </a:bodyPr>
          <a:lstStyle/>
          <a:p>
            <a:pPr algn="r"/>
            <a:r>
              <a:rPr sz="850" b="0">
                <a:solidFill>
                  <a:srgbClr val="94A3B8"/>
                </a:solidFill>
                <a:latin typeface="Consolas"/>
              </a:rPr>
              <a:t>A2A · OPENLINEAGE · OAUTH 2.0</a:t>
            </a:r>
          </a:p>
        </p:txBody>
      </p:sp>
      <p:sp>
        <p:nvSpPr>
          <p:cNvPr id="25" name="TextBox 24"/>
          <p:cNvSpPr txBox="1"/>
          <p:nvPr/>
        </p:nvSpPr>
        <p:spPr>
          <a:xfrm>
            <a:off x="8549638" y="2560320"/>
            <a:ext cx="3291839" cy="548640"/>
          </a:xfrm>
          <a:prstGeom prst="rect">
            <a:avLst/>
          </a:prstGeom>
          <a:noFill/>
        </p:spPr>
        <p:txBody>
          <a:bodyPr wrap="square" anchor="t" lIns="45720" rIns="45720" tIns="18288" bIns="18288">
            <a:spAutoFit/>
          </a:bodyPr>
          <a:lstStyle/>
          <a:p>
            <a:pPr algn="l"/>
            <a:r>
              <a:rPr sz="1600" b="1">
                <a:solidFill>
                  <a:srgbClr val="FFFFFF"/>
                </a:solidFill>
                <a:latin typeface="Calibri"/>
              </a:rPr>
              <a:t>Agent-to-Agent (A2A) handoff</a:t>
            </a:r>
          </a:p>
        </p:txBody>
      </p:sp>
      <p:sp>
        <p:nvSpPr>
          <p:cNvPr id="26" name="TextBox 25"/>
          <p:cNvSpPr txBox="1"/>
          <p:nvPr/>
        </p:nvSpPr>
        <p:spPr>
          <a:xfrm>
            <a:off x="8549638" y="3291840"/>
            <a:ext cx="3291839" cy="1554480"/>
          </a:xfrm>
          <a:prstGeom prst="rect">
            <a:avLst/>
          </a:prstGeom>
          <a:noFill/>
        </p:spPr>
        <p:txBody>
          <a:bodyPr wrap="square" anchor="t" lIns="45720" rIns="45720" tIns="18288" bIns="18288">
            <a:spAutoFit/>
          </a:bodyPr>
          <a:lstStyle/>
          <a:p>
            <a:pPr algn="l"/>
            <a:r>
              <a:rPr sz="1200" b="0">
                <a:solidFill>
                  <a:srgbClr val="D9DDE5"/>
                </a:solidFill>
                <a:latin typeface="Calibri"/>
              </a:rPr>
              <a:t>Microsoft agents and Oracle Fusion AI Agents call each other as peers. Cross-domain workflows in a single chat thread.</a:t>
            </a:r>
          </a:p>
        </p:txBody>
      </p:sp>
      <p:cxnSp>
        <p:nvCxnSpPr>
          <p:cNvPr id="27" name="Connector 26"/>
          <p:cNvCxnSpPr/>
          <p:nvPr/>
        </p:nvCxnSpPr>
        <p:spPr>
          <a:xfrm>
            <a:off x="8549638" y="4846320"/>
            <a:ext cx="3291839" cy="0"/>
          </a:xfrm>
          <a:prstGeom prst="line">
            <a:avLst/>
          </a:prstGeom>
          <a:ln w="6350">
            <a:solidFill>
              <a:srgbClr val="C74634"/>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549638" y="4937760"/>
            <a:ext cx="3291839" cy="228600"/>
          </a:xfrm>
          <a:prstGeom prst="rect">
            <a:avLst/>
          </a:prstGeom>
          <a:noFill/>
        </p:spPr>
        <p:txBody>
          <a:bodyPr wrap="square" anchor="t" lIns="45720" rIns="45720" tIns="18288" bIns="18288">
            <a:spAutoFit/>
          </a:bodyPr>
          <a:lstStyle/>
          <a:p>
            <a:pPr algn="l"/>
            <a:r>
              <a:rPr sz="900" b="0">
                <a:solidFill>
                  <a:srgbClr val="94A3B8"/>
                </a:solidFill>
                <a:latin typeface="Consolas"/>
              </a:rPr>
              <a:t>EXAMPLE</a:t>
            </a:r>
          </a:p>
        </p:txBody>
      </p:sp>
      <p:sp>
        <p:nvSpPr>
          <p:cNvPr id="29" name="TextBox 28"/>
          <p:cNvSpPr txBox="1"/>
          <p:nvPr/>
        </p:nvSpPr>
        <p:spPr>
          <a:xfrm>
            <a:off x="8549638" y="5166360"/>
            <a:ext cx="3291839" cy="914400"/>
          </a:xfrm>
          <a:prstGeom prst="rect">
            <a:avLst/>
          </a:prstGeom>
          <a:noFill/>
        </p:spPr>
        <p:txBody>
          <a:bodyPr wrap="square" anchor="t" lIns="45720" rIns="45720" tIns="18288" bIns="18288">
            <a:spAutoFit/>
          </a:bodyPr>
          <a:lstStyle/>
          <a:p>
            <a:pPr algn="l"/>
            <a:r>
              <a:rPr sz="1100" b="1">
                <a:solidFill>
                  <a:srgbClr val="C74634"/>
                </a:solidFill>
                <a:latin typeface="Calibri"/>
              </a:rPr>
              <a:t>Work IQ + Foundry + Fusion HCM agents collaborate to fill an open req and update the requisition.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20040"/>
          </a:xfrm>
          <a:prstGeom prst="rect">
            <a:avLst/>
          </a:prstGeom>
          <a:noFill/>
        </p:spPr>
        <p:txBody>
          <a:bodyPr wrap="square" anchor="t" lIns="45720" rIns="45720" tIns="18288" bIns="18288">
            <a:spAutoFit/>
          </a:bodyPr>
          <a:lstStyle/>
          <a:p>
            <a:pPr algn="l"/>
            <a:r>
              <a:rPr sz="1100" b="0">
                <a:solidFill>
                  <a:srgbClr val="2DD4BF"/>
                </a:solidFill>
                <a:latin typeface="Consolas"/>
              </a:rPr>
              <a:t>WORKLOAD VIRTUAL INSTANCE  ·  THE UNIT OF AIOPS</a:t>
            </a:r>
          </a:p>
        </p:txBody>
      </p:sp>
      <p:sp>
        <p:nvSpPr>
          <p:cNvPr id="4" name="TextBox 3"/>
          <p:cNvSpPr txBox="1"/>
          <p:nvPr/>
        </p:nvSpPr>
        <p:spPr>
          <a:xfrm>
            <a:off x="548640" y="731520"/>
            <a:ext cx="10972800" cy="548640"/>
          </a:xfrm>
          <a:prstGeom prst="rect">
            <a:avLst/>
          </a:prstGeom>
          <a:noFill/>
        </p:spPr>
        <p:txBody>
          <a:bodyPr wrap="square" anchor="t" lIns="45720" rIns="45720" tIns="18288" bIns="18288">
            <a:spAutoFit/>
          </a:bodyPr>
          <a:lstStyle/>
          <a:p>
            <a:pPr algn="l"/>
            <a:r>
              <a:rPr sz="2400" b="1">
                <a:solidFill>
                  <a:srgbClr val="FFFFFF"/>
                </a:solidFill>
                <a:latin typeface="Calibri"/>
              </a:rPr>
              <a:t>The Workload Virtual Instance becomes the new unit of AIOps.</a:t>
            </a:r>
          </a:p>
        </p:txBody>
      </p:sp>
      <p:sp>
        <p:nvSpPr>
          <p:cNvPr id="5" name="Rounded Rectangle 4"/>
          <p:cNvSpPr/>
          <p:nvPr/>
        </p:nvSpPr>
        <p:spPr>
          <a:xfrm>
            <a:off x="548640" y="1691640"/>
            <a:ext cx="2606040" cy="182880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74520"/>
            <a:ext cx="2240280" cy="320040"/>
          </a:xfrm>
          <a:prstGeom prst="rect">
            <a:avLst/>
          </a:prstGeom>
          <a:noFill/>
        </p:spPr>
        <p:txBody>
          <a:bodyPr wrap="square" anchor="t" lIns="45720" rIns="45720" tIns="18288" bIns="18288">
            <a:spAutoFit/>
          </a:bodyPr>
          <a:lstStyle/>
          <a:p>
            <a:pPr algn="l"/>
            <a:r>
              <a:rPr sz="950" b="1">
                <a:solidFill>
                  <a:srgbClr val="2DD4BF"/>
                </a:solidFill>
                <a:latin typeface="Consolas"/>
              </a:rPr>
              <a:t>SPANS RESOURCE GROUPS</a:t>
            </a:r>
          </a:p>
        </p:txBody>
      </p:sp>
      <p:sp>
        <p:nvSpPr>
          <p:cNvPr id="7" name="TextBox 6"/>
          <p:cNvSpPr txBox="1"/>
          <p:nvPr/>
        </p:nvSpPr>
        <p:spPr>
          <a:xfrm>
            <a:off x="731520" y="2286000"/>
            <a:ext cx="2240280" cy="1051560"/>
          </a:xfrm>
          <a:prstGeom prst="rect">
            <a:avLst/>
          </a:prstGeom>
          <a:noFill/>
        </p:spPr>
        <p:txBody>
          <a:bodyPr wrap="square" anchor="t" lIns="45720" rIns="45720" tIns="18288" bIns="18288">
            <a:spAutoFit/>
          </a:bodyPr>
          <a:lstStyle/>
          <a:p>
            <a:pPr algn="l"/>
            <a:r>
              <a:rPr sz="1150" b="0">
                <a:solidFill>
                  <a:srgbClr val="D9DDE5"/>
                </a:solidFill>
                <a:latin typeface="Calibri"/>
              </a:rPr>
              <a:t>Logical envelope around everything one workload needs — across resource groups + subscriptions.</a:t>
            </a:r>
          </a:p>
        </p:txBody>
      </p:sp>
      <p:sp>
        <p:nvSpPr>
          <p:cNvPr id="8" name="Rounded Rectangle 7"/>
          <p:cNvSpPr/>
          <p:nvPr/>
        </p:nvSpPr>
        <p:spPr>
          <a:xfrm>
            <a:off x="3291840" y="1691640"/>
            <a:ext cx="2606040" cy="182880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1874520"/>
            <a:ext cx="2240280" cy="320040"/>
          </a:xfrm>
          <a:prstGeom prst="rect">
            <a:avLst/>
          </a:prstGeom>
          <a:noFill/>
        </p:spPr>
        <p:txBody>
          <a:bodyPr wrap="square" anchor="t" lIns="45720" rIns="45720" tIns="18288" bIns="18288">
            <a:spAutoFit/>
          </a:bodyPr>
          <a:lstStyle/>
          <a:p>
            <a:pPr algn="l"/>
            <a:r>
              <a:rPr sz="950" b="1">
                <a:solidFill>
                  <a:srgbClr val="2DD4BF"/>
                </a:solidFill>
                <a:latin typeface="Consolas"/>
              </a:rPr>
              <a:t>UNIT OF AIOPS</a:t>
            </a:r>
          </a:p>
        </p:txBody>
      </p:sp>
      <p:sp>
        <p:nvSpPr>
          <p:cNvPr id="10" name="TextBox 9"/>
          <p:cNvSpPr txBox="1"/>
          <p:nvPr/>
        </p:nvSpPr>
        <p:spPr>
          <a:xfrm>
            <a:off x="3474720" y="2286000"/>
            <a:ext cx="2240280" cy="1051560"/>
          </a:xfrm>
          <a:prstGeom prst="rect">
            <a:avLst/>
          </a:prstGeom>
          <a:noFill/>
        </p:spPr>
        <p:txBody>
          <a:bodyPr wrap="square" anchor="t" lIns="45720" rIns="45720" tIns="18288" bIns="18288">
            <a:spAutoFit/>
          </a:bodyPr>
          <a:lstStyle/>
          <a:p>
            <a:pPr algn="l"/>
            <a:r>
              <a:rPr sz="1150" b="0">
                <a:solidFill>
                  <a:srgbClr val="D9DDE5"/>
                </a:solidFill>
                <a:latin typeface="Calibri"/>
              </a:rPr>
              <a:t>Agents target the WVI. Health, drift, RCA, remediation reasoned at the workload boundary.</a:t>
            </a:r>
          </a:p>
        </p:txBody>
      </p:sp>
      <p:sp>
        <p:nvSpPr>
          <p:cNvPr id="11" name="Rounded Rectangle 10"/>
          <p:cNvSpPr/>
          <p:nvPr/>
        </p:nvSpPr>
        <p:spPr>
          <a:xfrm>
            <a:off x="548640" y="3657600"/>
            <a:ext cx="2606040" cy="182880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840480"/>
            <a:ext cx="2240280" cy="320040"/>
          </a:xfrm>
          <a:prstGeom prst="rect">
            <a:avLst/>
          </a:prstGeom>
          <a:noFill/>
        </p:spPr>
        <p:txBody>
          <a:bodyPr wrap="square" anchor="t" lIns="45720" rIns="45720" tIns="18288" bIns="18288">
            <a:spAutoFit/>
          </a:bodyPr>
          <a:lstStyle/>
          <a:p>
            <a:pPr algn="l"/>
            <a:r>
              <a:rPr sz="950" b="1">
                <a:solidFill>
                  <a:srgbClr val="2DD4BF"/>
                </a:solidFill>
                <a:latin typeface="Consolas"/>
              </a:rPr>
              <a:t>POLICY + GOVERNANCE ANCHOR</a:t>
            </a:r>
          </a:p>
        </p:txBody>
      </p:sp>
      <p:sp>
        <p:nvSpPr>
          <p:cNvPr id="13" name="TextBox 12"/>
          <p:cNvSpPr txBox="1"/>
          <p:nvPr/>
        </p:nvSpPr>
        <p:spPr>
          <a:xfrm>
            <a:off x="731520" y="4251960"/>
            <a:ext cx="2240280" cy="1051560"/>
          </a:xfrm>
          <a:prstGeom prst="rect">
            <a:avLst/>
          </a:prstGeom>
          <a:noFill/>
        </p:spPr>
        <p:txBody>
          <a:bodyPr wrap="square" anchor="t" lIns="45720" rIns="45720" tIns="18288" bIns="18288">
            <a:spAutoFit/>
          </a:bodyPr>
          <a:lstStyle/>
          <a:p>
            <a:pPr algn="l"/>
            <a:r>
              <a:rPr sz="1150" b="0">
                <a:solidFill>
                  <a:srgbClr val="D9DDE5"/>
                </a:solidFill>
                <a:latin typeface="Calibri"/>
              </a:rPr>
              <a:t>Compliance baselines, sovereign overlays, FedRAMP / IL5 profiles attach to the WVI.</a:t>
            </a:r>
          </a:p>
        </p:txBody>
      </p:sp>
      <p:sp>
        <p:nvSpPr>
          <p:cNvPr id="14" name="Rounded Rectangle 13"/>
          <p:cNvSpPr/>
          <p:nvPr/>
        </p:nvSpPr>
        <p:spPr>
          <a:xfrm>
            <a:off x="3291840" y="3657600"/>
            <a:ext cx="2606040" cy="182880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3840480"/>
            <a:ext cx="2240280" cy="320040"/>
          </a:xfrm>
          <a:prstGeom prst="rect">
            <a:avLst/>
          </a:prstGeom>
          <a:noFill/>
        </p:spPr>
        <p:txBody>
          <a:bodyPr wrap="square" anchor="t" lIns="45720" rIns="45720" tIns="18288" bIns="18288">
            <a:spAutoFit/>
          </a:bodyPr>
          <a:lstStyle/>
          <a:p>
            <a:pPr algn="l"/>
            <a:r>
              <a:rPr sz="950" b="1">
                <a:solidFill>
                  <a:srgbClr val="2DD4BF"/>
                </a:solidFill>
                <a:latin typeface="Consolas"/>
              </a:rPr>
              <a:t>OWNERSHIP CLARITY</a:t>
            </a:r>
          </a:p>
        </p:txBody>
      </p:sp>
      <p:sp>
        <p:nvSpPr>
          <p:cNvPr id="16" name="TextBox 15"/>
          <p:cNvSpPr txBox="1"/>
          <p:nvPr/>
        </p:nvSpPr>
        <p:spPr>
          <a:xfrm>
            <a:off x="3474720" y="4251960"/>
            <a:ext cx="2240280" cy="1051560"/>
          </a:xfrm>
          <a:prstGeom prst="rect">
            <a:avLst/>
          </a:prstGeom>
          <a:noFill/>
        </p:spPr>
        <p:txBody>
          <a:bodyPr wrap="square" anchor="t" lIns="45720" rIns="45720" tIns="18288" bIns="18288">
            <a:spAutoFit/>
          </a:bodyPr>
          <a:lstStyle/>
          <a:p>
            <a:pPr algn="l"/>
            <a:r>
              <a:rPr sz="1150" b="0">
                <a:solidFill>
                  <a:srgbClr val="D9DDE5"/>
                </a:solidFill>
                <a:latin typeface="Calibri"/>
              </a:rPr>
              <a:t>One workload, one owner, one SLA. No ambiguity when an agent flags an incident.</a:t>
            </a:r>
          </a:p>
        </p:txBody>
      </p:sp>
      <p:sp>
        <p:nvSpPr>
          <p:cNvPr id="17" name="Rounded Rectangle 16"/>
          <p:cNvSpPr/>
          <p:nvPr/>
        </p:nvSpPr>
        <p:spPr>
          <a:xfrm>
            <a:off x="5943600" y="1691640"/>
            <a:ext cx="5669280" cy="3794760"/>
          </a:xfrm>
          <a:prstGeom prst="roundRect">
            <a:avLst>
              <a:gd name="adj" fmla="val 5000"/>
            </a:avLst>
          </a:prstGeom>
          <a:solidFill>
            <a:srgbClr val="2DD4BF"/>
          </a:solidFill>
          <a:ln w="19050">
            <a:solidFill>
              <a:srgbClr val="2DD4BF"/>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26480" y="1783080"/>
            <a:ext cx="1463040" cy="274320"/>
          </a:xfrm>
          <a:prstGeom prst="roundRect">
            <a:avLst>
              <a:gd name="adj" fmla="val 50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lIns="54864" rIns="54864" tIns="18288" bIns="18288"/>
          <a:lstStyle/>
          <a:p>
            <a:pPr algn="ctr"/>
            <a:r>
              <a:rPr sz="900" b="1">
                <a:solidFill>
                  <a:srgbClr val="2DD4BF"/>
                </a:solidFill>
                <a:latin typeface="Consolas"/>
              </a:rPr>
              <a:t>WVI · AIOps</a:t>
            </a:r>
          </a:p>
        </p:txBody>
      </p:sp>
      <p:sp>
        <p:nvSpPr>
          <p:cNvPr id="19" name="Rounded Rectangle 18"/>
          <p:cNvSpPr/>
          <p:nvPr/>
        </p:nvSpPr>
        <p:spPr>
          <a:xfrm>
            <a:off x="6217920" y="2194560"/>
            <a:ext cx="5120640" cy="384048"/>
          </a:xfrm>
          <a:prstGeom prst="roundRect">
            <a:avLst>
              <a:gd name="adj" fmla="val 18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2249424"/>
            <a:ext cx="5120640" cy="292608"/>
          </a:xfrm>
          <a:prstGeom prst="rect">
            <a:avLst/>
          </a:prstGeom>
          <a:noFill/>
        </p:spPr>
        <p:txBody>
          <a:bodyPr wrap="square" anchor="t" lIns="45720" rIns="45720" tIns="18288" bIns="18288">
            <a:spAutoFit/>
          </a:bodyPr>
          <a:lstStyle/>
          <a:p>
            <a:pPr algn="ctr"/>
            <a:r>
              <a:rPr sz="1150" b="1">
                <a:solidFill>
                  <a:srgbClr val="FFFFFF"/>
                </a:solidFill>
                <a:latin typeface="Calibri"/>
              </a:rPr>
              <a:t>Proactive + reactive issue prevention</a:t>
            </a:r>
          </a:p>
        </p:txBody>
      </p:sp>
      <p:sp>
        <p:nvSpPr>
          <p:cNvPr id="21" name="Rounded Rectangle 20"/>
          <p:cNvSpPr/>
          <p:nvPr/>
        </p:nvSpPr>
        <p:spPr>
          <a:xfrm>
            <a:off x="6217920" y="2670048"/>
            <a:ext cx="2491740" cy="502920"/>
          </a:xfrm>
          <a:prstGeom prst="roundRect">
            <a:avLst>
              <a:gd name="adj" fmla="val 18000"/>
            </a:avLst>
          </a:prstGeom>
          <a:solidFill>
            <a:srgbClr val="0078D4"/>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2715768"/>
            <a:ext cx="2491740" cy="228600"/>
          </a:xfrm>
          <a:prstGeom prst="rect">
            <a:avLst/>
          </a:prstGeom>
          <a:noFill/>
        </p:spPr>
        <p:txBody>
          <a:bodyPr wrap="square" anchor="t" lIns="45720" rIns="45720" tIns="18288" bIns="18288">
            <a:spAutoFit/>
          </a:bodyPr>
          <a:lstStyle/>
          <a:p>
            <a:pPr algn="ctr"/>
            <a:r>
              <a:rPr sz="1100" b="1">
                <a:solidFill>
                  <a:srgbClr val="FFFFFF"/>
                </a:solidFill>
                <a:latin typeface="Calibri"/>
              </a:rPr>
              <a:t>Config Drift Agent</a:t>
            </a:r>
          </a:p>
        </p:txBody>
      </p:sp>
      <p:sp>
        <p:nvSpPr>
          <p:cNvPr id="23" name="TextBox 22"/>
          <p:cNvSpPr txBox="1"/>
          <p:nvPr/>
        </p:nvSpPr>
        <p:spPr>
          <a:xfrm>
            <a:off x="6217920" y="2944368"/>
            <a:ext cx="2491740" cy="201168"/>
          </a:xfrm>
          <a:prstGeom prst="rect">
            <a:avLst/>
          </a:prstGeom>
          <a:noFill/>
        </p:spPr>
        <p:txBody>
          <a:bodyPr wrap="square" anchor="t" lIns="45720" rIns="45720" tIns="18288" bIns="18288">
            <a:spAutoFit/>
          </a:bodyPr>
          <a:lstStyle/>
          <a:p>
            <a:pPr algn="ctr"/>
            <a:r>
              <a:rPr sz="850" b="0">
                <a:solidFill>
                  <a:srgbClr val="0078D4"/>
                </a:solidFill>
                <a:latin typeface="Consolas"/>
              </a:rPr>
              <a:t>PROACTIVE</a:t>
            </a:r>
          </a:p>
        </p:txBody>
      </p:sp>
      <p:sp>
        <p:nvSpPr>
          <p:cNvPr id="24" name="Rounded Rectangle 23"/>
          <p:cNvSpPr/>
          <p:nvPr/>
        </p:nvSpPr>
        <p:spPr>
          <a:xfrm>
            <a:off x="8846820" y="2670048"/>
            <a:ext cx="2491740" cy="502920"/>
          </a:xfrm>
          <a:prstGeom prst="roundRect">
            <a:avLst>
              <a:gd name="adj" fmla="val 18000"/>
            </a:avLst>
          </a:prstGeom>
          <a:solidFill>
            <a:srgbClr val="C74634"/>
          </a:solidFill>
          <a:ln w="9525">
            <a:solidFill>
              <a:srgbClr val="C746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46820" y="2715768"/>
            <a:ext cx="2491740" cy="228600"/>
          </a:xfrm>
          <a:prstGeom prst="rect">
            <a:avLst/>
          </a:prstGeom>
          <a:noFill/>
        </p:spPr>
        <p:txBody>
          <a:bodyPr wrap="square" anchor="t" lIns="45720" rIns="45720" tIns="18288" bIns="18288">
            <a:spAutoFit/>
          </a:bodyPr>
          <a:lstStyle/>
          <a:p>
            <a:pPr algn="ctr"/>
            <a:r>
              <a:rPr sz="1100" b="1">
                <a:solidFill>
                  <a:srgbClr val="FFFFFF"/>
                </a:solidFill>
                <a:latin typeface="Calibri"/>
              </a:rPr>
              <a:t>Troubleshooting + RCA</a:t>
            </a:r>
          </a:p>
        </p:txBody>
      </p:sp>
      <p:sp>
        <p:nvSpPr>
          <p:cNvPr id="26" name="TextBox 25"/>
          <p:cNvSpPr txBox="1"/>
          <p:nvPr/>
        </p:nvSpPr>
        <p:spPr>
          <a:xfrm>
            <a:off x="8846820" y="2944368"/>
            <a:ext cx="2491740" cy="201168"/>
          </a:xfrm>
          <a:prstGeom prst="rect">
            <a:avLst/>
          </a:prstGeom>
          <a:noFill/>
        </p:spPr>
        <p:txBody>
          <a:bodyPr wrap="square" anchor="t" lIns="45720" rIns="45720" tIns="18288" bIns="18288">
            <a:spAutoFit/>
          </a:bodyPr>
          <a:lstStyle/>
          <a:p>
            <a:pPr algn="ctr"/>
            <a:r>
              <a:rPr sz="850" b="0">
                <a:solidFill>
                  <a:srgbClr val="C74634"/>
                </a:solidFill>
                <a:latin typeface="Consolas"/>
              </a:rPr>
              <a:t>REACTIVE</a:t>
            </a:r>
          </a:p>
        </p:txBody>
      </p:sp>
      <p:sp>
        <p:nvSpPr>
          <p:cNvPr id="27" name="Rounded Rectangle 26"/>
          <p:cNvSpPr/>
          <p:nvPr/>
        </p:nvSpPr>
        <p:spPr>
          <a:xfrm>
            <a:off x="6217920" y="3264408"/>
            <a:ext cx="5120640" cy="384048"/>
          </a:xfrm>
          <a:prstGeom prst="roundRect">
            <a:avLst>
              <a:gd name="adj" fmla="val 18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0" y="3319272"/>
            <a:ext cx="5120640" cy="292608"/>
          </a:xfrm>
          <a:prstGeom prst="rect">
            <a:avLst/>
          </a:prstGeom>
          <a:noFill/>
        </p:spPr>
        <p:txBody>
          <a:bodyPr wrap="square" anchor="t" lIns="45720" rIns="45720" tIns="18288" bIns="18288">
            <a:spAutoFit/>
          </a:bodyPr>
          <a:lstStyle/>
          <a:p>
            <a:pPr algn="ctr"/>
            <a:r>
              <a:rPr sz="1200" b="1">
                <a:solidFill>
                  <a:srgbClr val="FFFFFF"/>
                </a:solidFill>
                <a:latin typeface="Calibri"/>
              </a:rPr>
              <a:t>Common Agent Platform</a:t>
            </a:r>
          </a:p>
        </p:txBody>
      </p:sp>
      <p:sp>
        <p:nvSpPr>
          <p:cNvPr id="29" name="Rounded Rectangle 28"/>
          <p:cNvSpPr/>
          <p:nvPr/>
        </p:nvSpPr>
        <p:spPr>
          <a:xfrm>
            <a:off x="6217920" y="3739896"/>
            <a:ext cx="1615440" cy="438912"/>
          </a:xfrm>
          <a:prstGeom prst="roundRect">
            <a:avLst>
              <a:gd name="adj" fmla="val 18000"/>
            </a:avLst>
          </a:prstGeom>
          <a:solidFill>
            <a:srgbClr val="FFFFFF"/>
          </a:solidFill>
          <a:ln w="9525">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3794760"/>
            <a:ext cx="1615440" cy="164592"/>
          </a:xfrm>
          <a:prstGeom prst="rect">
            <a:avLst/>
          </a:prstGeom>
          <a:noFill/>
        </p:spPr>
        <p:txBody>
          <a:bodyPr wrap="square" anchor="t" lIns="45720" rIns="45720" tIns="18288" bIns="18288">
            <a:spAutoFit/>
          </a:bodyPr>
          <a:lstStyle/>
          <a:p>
            <a:pPr algn="ctr"/>
            <a:r>
              <a:rPr sz="900" b="1">
                <a:solidFill>
                  <a:srgbClr val="0078D4"/>
                </a:solidFill>
                <a:latin typeface="Calibri"/>
              </a:rPr>
              <a:t>Configuration Validation</a:t>
            </a:r>
          </a:p>
        </p:txBody>
      </p:sp>
      <p:sp>
        <p:nvSpPr>
          <p:cNvPr id="31" name="Rounded Rectangle 30"/>
          <p:cNvSpPr/>
          <p:nvPr/>
        </p:nvSpPr>
        <p:spPr>
          <a:xfrm>
            <a:off x="7970520" y="3739896"/>
            <a:ext cx="1615440" cy="438912"/>
          </a:xfrm>
          <a:prstGeom prst="roundRect">
            <a:avLst>
              <a:gd name="adj" fmla="val 18000"/>
            </a:avLst>
          </a:prstGeom>
          <a:solidFill>
            <a:srgbClr val="FFFFFF"/>
          </a:solidFill>
          <a:ln w="9525">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70520" y="3794760"/>
            <a:ext cx="1615440" cy="164592"/>
          </a:xfrm>
          <a:prstGeom prst="rect">
            <a:avLst/>
          </a:prstGeom>
          <a:noFill/>
        </p:spPr>
        <p:txBody>
          <a:bodyPr wrap="square" anchor="t" lIns="45720" rIns="45720" tIns="18288" bIns="18288">
            <a:spAutoFit/>
          </a:bodyPr>
          <a:lstStyle/>
          <a:p>
            <a:pPr algn="ctr"/>
            <a:r>
              <a:rPr sz="900" b="1">
                <a:solidFill>
                  <a:srgbClr val="0078D4"/>
                </a:solidFill>
                <a:latin typeface="Calibri"/>
              </a:rPr>
              <a:t>Workload Health</a:t>
            </a:r>
          </a:p>
        </p:txBody>
      </p:sp>
      <p:sp>
        <p:nvSpPr>
          <p:cNvPr id="33" name="Rounded Rectangle 32"/>
          <p:cNvSpPr/>
          <p:nvPr/>
        </p:nvSpPr>
        <p:spPr>
          <a:xfrm>
            <a:off x="9723120" y="3739896"/>
            <a:ext cx="1615440" cy="438912"/>
          </a:xfrm>
          <a:prstGeom prst="roundRect">
            <a:avLst>
              <a:gd name="adj" fmla="val 18000"/>
            </a:avLst>
          </a:prstGeom>
          <a:solidFill>
            <a:srgbClr val="FFFFFF"/>
          </a:solidFill>
          <a:ln w="9525">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23120" y="3794760"/>
            <a:ext cx="1615440" cy="164592"/>
          </a:xfrm>
          <a:prstGeom prst="rect">
            <a:avLst/>
          </a:prstGeom>
          <a:noFill/>
        </p:spPr>
        <p:txBody>
          <a:bodyPr wrap="square" anchor="t" lIns="45720" rIns="45720" tIns="18288" bIns="18288">
            <a:spAutoFit/>
          </a:bodyPr>
          <a:lstStyle/>
          <a:p>
            <a:pPr algn="ctr"/>
            <a:r>
              <a:rPr sz="900" b="1">
                <a:solidFill>
                  <a:srgbClr val="0078D4"/>
                </a:solidFill>
                <a:latin typeface="Calibri"/>
              </a:rPr>
              <a:t>Contextual Support</a:t>
            </a:r>
          </a:p>
        </p:txBody>
      </p:sp>
      <p:sp>
        <p:nvSpPr>
          <p:cNvPr id="35" name="Rounded Rectangle 34"/>
          <p:cNvSpPr/>
          <p:nvPr/>
        </p:nvSpPr>
        <p:spPr>
          <a:xfrm>
            <a:off x="6217920" y="4251960"/>
            <a:ext cx="5120640" cy="384048"/>
          </a:xfrm>
          <a:prstGeom prst="roundRect">
            <a:avLst>
              <a:gd name="adj" fmla="val 18000"/>
            </a:avLst>
          </a:prstGeom>
          <a:solidFill>
            <a:srgbClr val="2DD4BF"/>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4306824"/>
            <a:ext cx="5120640" cy="292608"/>
          </a:xfrm>
          <a:prstGeom prst="rect">
            <a:avLst/>
          </a:prstGeom>
          <a:noFill/>
        </p:spPr>
        <p:txBody>
          <a:bodyPr wrap="square" anchor="t" lIns="45720" rIns="45720" tIns="18288" bIns="18288">
            <a:spAutoFit/>
          </a:bodyPr>
          <a:lstStyle/>
          <a:p>
            <a:pPr algn="ctr"/>
            <a:r>
              <a:rPr sz="1200" b="1">
                <a:solidFill>
                  <a:srgbClr val="FFFFFF"/>
                </a:solidFill>
                <a:latin typeface="Calibri"/>
              </a:rPr>
              <a:t>Quality · Resiliency · Security</a:t>
            </a:r>
          </a:p>
        </p:txBody>
      </p:sp>
      <p:sp>
        <p:nvSpPr>
          <p:cNvPr id="37" name="TextBox 36"/>
          <p:cNvSpPr txBox="1"/>
          <p:nvPr/>
        </p:nvSpPr>
        <p:spPr>
          <a:xfrm>
            <a:off x="548640" y="5669280"/>
            <a:ext cx="11064240" cy="822960"/>
          </a:xfrm>
          <a:prstGeom prst="rect">
            <a:avLst/>
          </a:prstGeom>
          <a:noFill/>
        </p:spPr>
        <p:txBody>
          <a:bodyPr wrap="square" anchor="t" lIns="45720" rIns="45720" tIns="18288" bIns="18288">
            <a:spAutoFit/>
          </a:bodyPr>
          <a:lstStyle/>
          <a:p>
            <a:pPr algn="l"/>
            <a:r>
              <a:rPr sz="1250" b="0">
                <a:solidFill>
                  <a:srgbClr val="D9DDE5"/>
                </a:solidFill>
                <a:latin typeface="Calibri"/>
              </a:rPr>
              <a:t>Drift caught before incidents. RCA at machine speed. WVI-level rollups replace dashboard sprawl. The on-call rotation is quieter — and what fires is grounded.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20040"/>
          </a:xfrm>
          <a:prstGeom prst="rect">
            <a:avLst/>
          </a:prstGeom>
          <a:noFill/>
        </p:spPr>
        <p:txBody>
          <a:bodyPr wrap="square" anchor="t" lIns="45720" rIns="45720" tIns="18288" bIns="18288">
            <a:spAutoFit/>
          </a:bodyPr>
          <a:lstStyle/>
          <a:p>
            <a:pPr algn="l"/>
            <a:r>
              <a:rPr sz="1100" b="0">
                <a:solidFill>
                  <a:srgbClr val="FFD600"/>
                </a:solidFill>
                <a:latin typeface="Consolas"/>
              </a:rPr>
              <a:t>THE UNIFIED OUTCOME</a:t>
            </a:r>
          </a:p>
        </p:txBody>
      </p:sp>
      <p:sp>
        <p:nvSpPr>
          <p:cNvPr id="4" name="TextBox 3"/>
          <p:cNvSpPr txBox="1"/>
          <p:nvPr/>
        </p:nvSpPr>
        <p:spPr>
          <a:xfrm>
            <a:off x="548640" y="731520"/>
            <a:ext cx="10972800" cy="548640"/>
          </a:xfrm>
          <a:prstGeom prst="rect">
            <a:avLst/>
          </a:prstGeom>
          <a:noFill/>
        </p:spPr>
        <p:txBody>
          <a:bodyPr wrap="square" anchor="t" lIns="45720" rIns="45720" tIns="18288" bIns="18288">
            <a:spAutoFit/>
          </a:bodyPr>
          <a:lstStyle/>
          <a:p>
            <a:pPr algn="l"/>
            <a:r>
              <a:rPr sz="2400" b="1">
                <a:solidFill>
                  <a:srgbClr val="FFFFFF"/>
                </a:solidFill>
                <a:latin typeface="Calibri"/>
              </a:rPr>
              <a:t>What the frontier firm looks like — across four stakeholder lenses.</a:t>
            </a:r>
          </a:p>
        </p:txBody>
      </p:sp>
      <p:sp>
        <p:nvSpPr>
          <p:cNvPr id="5" name="Rounded Rectangle 4"/>
          <p:cNvSpPr/>
          <p:nvPr/>
        </p:nvSpPr>
        <p:spPr>
          <a:xfrm>
            <a:off x="548640" y="1691640"/>
            <a:ext cx="5486400" cy="2331720"/>
          </a:xfrm>
          <a:prstGeom prst="roundRect">
            <a:avLst>
              <a:gd name="adj" fmla="val 4000"/>
            </a:avLst>
          </a:prstGeom>
          <a:solidFill>
            <a:srgbClr val="1A2540"/>
          </a:solidFill>
          <a:ln w="12700">
            <a:solidFill>
              <a:srgbClr val="FFD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92808"/>
            <a:ext cx="5029200" cy="320040"/>
          </a:xfrm>
          <a:prstGeom prst="rect">
            <a:avLst/>
          </a:prstGeom>
          <a:noFill/>
        </p:spPr>
        <p:txBody>
          <a:bodyPr wrap="square" anchor="t" lIns="45720" rIns="45720" tIns="18288" bIns="18288">
            <a:spAutoFit/>
          </a:bodyPr>
          <a:lstStyle/>
          <a:p>
            <a:pPr algn="l"/>
            <a:r>
              <a:rPr sz="1050" b="1">
                <a:solidFill>
                  <a:srgbClr val="FFD600"/>
                </a:solidFill>
                <a:latin typeface="Consolas"/>
              </a:rPr>
              <a:t>FOR THE KNOWLEDGE WORKER</a:t>
            </a:r>
          </a:p>
        </p:txBody>
      </p:sp>
      <p:sp>
        <p:nvSpPr>
          <p:cNvPr id="7" name="TextBox 6"/>
          <p:cNvSpPr txBox="1"/>
          <p:nvPr/>
        </p:nvSpPr>
        <p:spPr>
          <a:xfrm>
            <a:off x="777240" y="2240280"/>
            <a:ext cx="5029200" cy="320040"/>
          </a:xfrm>
          <a:prstGeom prst="rect">
            <a:avLst/>
          </a:prstGeom>
          <a:noFill/>
        </p:spPr>
        <p:txBody>
          <a:bodyPr wrap="square" anchor="t" lIns="45720" rIns="45720" tIns="18288" bIns="18288">
            <a:spAutoFit/>
          </a:bodyPr>
          <a:lstStyle/>
          <a:p>
            <a:pPr algn="l"/>
            <a:r>
              <a:rPr sz="1100" b="0">
                <a:solidFill>
                  <a:srgbClr val="94A3B8"/>
                </a:solidFill>
                <a:latin typeface="Consolas"/>
              </a:rPr>
              <a:t>Operators · planners · finance · supply-chain · HR · sales</a:t>
            </a:r>
          </a:p>
        </p:txBody>
      </p:sp>
      <p:cxnSp>
        <p:nvCxnSpPr>
          <p:cNvPr id="8" name="Connector 7"/>
          <p:cNvCxnSpPr/>
          <p:nvPr/>
        </p:nvCxnSpPr>
        <p:spPr>
          <a:xfrm>
            <a:off x="777240" y="2606040"/>
            <a:ext cx="5029200" cy="0"/>
          </a:xfrm>
          <a:prstGeom prst="line">
            <a:avLst/>
          </a:prstGeom>
          <a:ln w="6350">
            <a:solidFill>
              <a:srgbClr val="FFD60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2743200"/>
            <a:ext cx="5029200" cy="1097280"/>
          </a:xfrm>
          <a:prstGeom prst="rect">
            <a:avLst/>
          </a:prstGeom>
          <a:noFill/>
        </p:spPr>
        <p:txBody>
          <a:bodyPr wrap="square" anchor="t" lIns="45720" rIns="45720" tIns="18288" bIns="18288">
            <a:spAutoFit/>
          </a:bodyPr>
          <a:lstStyle/>
          <a:p>
            <a:pPr algn="l"/>
            <a:r>
              <a:rPr sz="1300" b="0">
                <a:solidFill>
                  <a:srgbClr val="D9DDE5"/>
                </a:solidFill>
                <a:latin typeface="Calibri"/>
              </a:rPr>
              <a:t>Agents draft the email, the Teams message, the PO change. Decision in the calendar before the meeting. Hours back per worker per week.</a:t>
            </a:r>
          </a:p>
        </p:txBody>
      </p:sp>
      <p:sp>
        <p:nvSpPr>
          <p:cNvPr id="10" name="Rounded Rectangle 9"/>
          <p:cNvSpPr/>
          <p:nvPr/>
        </p:nvSpPr>
        <p:spPr>
          <a:xfrm>
            <a:off x="6217920" y="1691640"/>
            <a:ext cx="5486400" cy="2331720"/>
          </a:xfrm>
          <a:prstGeom prst="roundRect">
            <a:avLst>
              <a:gd name="adj" fmla="val 4000"/>
            </a:avLst>
          </a:prstGeom>
          <a:solidFill>
            <a:srgbClr val="1A2540"/>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892808"/>
            <a:ext cx="5029200" cy="320040"/>
          </a:xfrm>
          <a:prstGeom prst="rect">
            <a:avLst/>
          </a:prstGeom>
          <a:noFill/>
        </p:spPr>
        <p:txBody>
          <a:bodyPr wrap="square" anchor="t" lIns="45720" rIns="45720" tIns="18288" bIns="18288">
            <a:spAutoFit/>
          </a:bodyPr>
          <a:lstStyle/>
          <a:p>
            <a:pPr algn="l"/>
            <a:r>
              <a:rPr sz="1050" b="1">
                <a:solidFill>
                  <a:srgbClr val="0078D4"/>
                </a:solidFill>
                <a:latin typeface="Consolas"/>
              </a:rPr>
              <a:t>FOR THE INFRA OPERATOR</a:t>
            </a:r>
          </a:p>
        </p:txBody>
      </p:sp>
      <p:sp>
        <p:nvSpPr>
          <p:cNvPr id="12" name="TextBox 11"/>
          <p:cNvSpPr txBox="1"/>
          <p:nvPr/>
        </p:nvSpPr>
        <p:spPr>
          <a:xfrm>
            <a:off x="6446520" y="2240280"/>
            <a:ext cx="5029200" cy="320040"/>
          </a:xfrm>
          <a:prstGeom prst="rect">
            <a:avLst/>
          </a:prstGeom>
          <a:noFill/>
        </p:spPr>
        <p:txBody>
          <a:bodyPr wrap="square" anchor="t" lIns="45720" rIns="45720" tIns="18288" bIns="18288">
            <a:spAutoFit/>
          </a:bodyPr>
          <a:lstStyle/>
          <a:p>
            <a:pPr algn="l"/>
            <a:r>
              <a:rPr sz="1100" b="0">
                <a:solidFill>
                  <a:srgbClr val="94A3B8"/>
                </a:solidFill>
                <a:latin typeface="Consolas"/>
              </a:rPr>
              <a:t>SREs · platform engineers · ops leads · security</a:t>
            </a:r>
          </a:p>
        </p:txBody>
      </p:sp>
      <p:cxnSp>
        <p:nvCxnSpPr>
          <p:cNvPr id="13" name="Connector 12"/>
          <p:cNvCxnSpPr/>
          <p:nvPr/>
        </p:nvCxnSpPr>
        <p:spPr>
          <a:xfrm>
            <a:off x="6446520" y="2606040"/>
            <a:ext cx="5029200" cy="0"/>
          </a:xfrm>
          <a:prstGeom prst="line">
            <a:avLst/>
          </a:prstGeom>
          <a:ln w="6350">
            <a:solidFill>
              <a:srgbClr val="0078D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46520" y="2743200"/>
            <a:ext cx="5029200" cy="1097280"/>
          </a:xfrm>
          <a:prstGeom prst="rect">
            <a:avLst/>
          </a:prstGeom>
          <a:noFill/>
        </p:spPr>
        <p:txBody>
          <a:bodyPr wrap="square" anchor="t" lIns="45720" rIns="45720" tIns="18288" bIns="18288">
            <a:spAutoFit/>
          </a:bodyPr>
          <a:lstStyle/>
          <a:p>
            <a:pPr algn="l"/>
            <a:r>
              <a:rPr sz="1300" b="0">
                <a:solidFill>
                  <a:srgbClr val="D9DDE5"/>
                </a:solidFill>
                <a:latin typeface="Calibri"/>
              </a:rPr>
              <a:t>Drift caught before incidents. RCA at machine speed. WVI rollups replace dashboard sprawl. Quieter on-call. Grounded incidents.</a:t>
            </a:r>
          </a:p>
        </p:txBody>
      </p:sp>
      <p:sp>
        <p:nvSpPr>
          <p:cNvPr id="15" name="Rounded Rectangle 14"/>
          <p:cNvSpPr/>
          <p:nvPr/>
        </p:nvSpPr>
        <p:spPr>
          <a:xfrm>
            <a:off x="548640" y="4206240"/>
            <a:ext cx="5486400" cy="233172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407408"/>
            <a:ext cx="5029200" cy="320040"/>
          </a:xfrm>
          <a:prstGeom prst="rect">
            <a:avLst/>
          </a:prstGeom>
          <a:noFill/>
        </p:spPr>
        <p:txBody>
          <a:bodyPr wrap="square" anchor="t" lIns="45720" rIns="45720" tIns="18288" bIns="18288">
            <a:spAutoFit/>
          </a:bodyPr>
          <a:lstStyle/>
          <a:p>
            <a:pPr algn="l"/>
            <a:r>
              <a:rPr sz="1050" b="1">
                <a:solidFill>
                  <a:srgbClr val="2DD4BF"/>
                </a:solidFill>
                <a:latin typeface="Consolas"/>
              </a:rPr>
              <a:t>FOR THE BUSINESS LEADER</a:t>
            </a:r>
          </a:p>
        </p:txBody>
      </p:sp>
      <p:sp>
        <p:nvSpPr>
          <p:cNvPr id="17" name="TextBox 16"/>
          <p:cNvSpPr txBox="1"/>
          <p:nvPr/>
        </p:nvSpPr>
        <p:spPr>
          <a:xfrm>
            <a:off x="777240" y="4754880"/>
            <a:ext cx="5029200" cy="320040"/>
          </a:xfrm>
          <a:prstGeom prst="rect">
            <a:avLst/>
          </a:prstGeom>
          <a:noFill/>
        </p:spPr>
        <p:txBody>
          <a:bodyPr wrap="square" anchor="t" lIns="45720" rIns="45720" tIns="18288" bIns="18288">
            <a:spAutoFit/>
          </a:bodyPr>
          <a:lstStyle/>
          <a:p>
            <a:pPr algn="l"/>
            <a:r>
              <a:rPr sz="1100" b="0">
                <a:solidFill>
                  <a:srgbClr val="94A3B8"/>
                </a:solidFill>
                <a:latin typeface="Consolas"/>
              </a:rPr>
              <a:t>CEOs · COOs · CIOs · BU leaders</a:t>
            </a:r>
          </a:p>
        </p:txBody>
      </p:sp>
      <p:cxnSp>
        <p:nvCxnSpPr>
          <p:cNvPr id="18" name="Connector 17"/>
          <p:cNvCxnSpPr/>
          <p:nvPr/>
        </p:nvCxnSpPr>
        <p:spPr>
          <a:xfrm>
            <a:off x="777240" y="5120640"/>
            <a:ext cx="5029200" cy="0"/>
          </a:xfrm>
          <a:prstGeom prst="line">
            <a:avLst/>
          </a:prstGeom>
          <a:ln w="6350">
            <a:solidFill>
              <a:srgbClr val="2DD4B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77240" y="5257800"/>
            <a:ext cx="5029200" cy="1097280"/>
          </a:xfrm>
          <a:prstGeom prst="rect">
            <a:avLst/>
          </a:prstGeom>
          <a:noFill/>
        </p:spPr>
        <p:txBody>
          <a:bodyPr wrap="square" anchor="t" lIns="45720" rIns="45720" tIns="18288" bIns="18288">
            <a:spAutoFit/>
          </a:bodyPr>
          <a:lstStyle/>
          <a:p>
            <a:pPr algn="l"/>
            <a:r>
              <a:rPr sz="1300" b="0">
                <a:solidFill>
                  <a:srgbClr val="D9DDE5"/>
                </a:solidFill>
                <a:latin typeface="Calibri"/>
              </a:rPr>
              <a:t>A frontier firm: agent-augmented, data-grounded, cross-stack, governed by default. Measurable productivity, cost-to-serve, risk reduction.</a:t>
            </a:r>
          </a:p>
        </p:txBody>
      </p:sp>
      <p:sp>
        <p:nvSpPr>
          <p:cNvPr id="20" name="Rounded Rectangle 19"/>
          <p:cNvSpPr/>
          <p:nvPr/>
        </p:nvSpPr>
        <p:spPr>
          <a:xfrm>
            <a:off x="6217920" y="4206240"/>
            <a:ext cx="5486400" cy="2331720"/>
          </a:xfrm>
          <a:prstGeom prst="roundRect">
            <a:avLst>
              <a:gd name="adj" fmla="val 4000"/>
            </a:avLst>
          </a:prstGeom>
          <a:solidFill>
            <a:srgbClr val="1A2540"/>
          </a:solidFill>
          <a:ln w="12700">
            <a:solidFill>
              <a:srgbClr val="C74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407408"/>
            <a:ext cx="5029200" cy="320040"/>
          </a:xfrm>
          <a:prstGeom prst="rect">
            <a:avLst/>
          </a:prstGeom>
          <a:noFill/>
        </p:spPr>
        <p:txBody>
          <a:bodyPr wrap="square" anchor="t" lIns="45720" rIns="45720" tIns="18288" bIns="18288">
            <a:spAutoFit/>
          </a:bodyPr>
          <a:lstStyle/>
          <a:p>
            <a:pPr algn="l"/>
            <a:r>
              <a:rPr sz="1050" b="1">
                <a:solidFill>
                  <a:srgbClr val="C74634"/>
                </a:solidFill>
                <a:latin typeface="Consolas"/>
              </a:rPr>
              <a:t>FOR THE REGULATOR / AUDITOR</a:t>
            </a:r>
          </a:p>
        </p:txBody>
      </p:sp>
      <p:sp>
        <p:nvSpPr>
          <p:cNvPr id="22" name="TextBox 21"/>
          <p:cNvSpPr txBox="1"/>
          <p:nvPr/>
        </p:nvSpPr>
        <p:spPr>
          <a:xfrm>
            <a:off x="6446520" y="4754880"/>
            <a:ext cx="5029200" cy="320040"/>
          </a:xfrm>
          <a:prstGeom prst="rect">
            <a:avLst/>
          </a:prstGeom>
          <a:noFill/>
        </p:spPr>
        <p:txBody>
          <a:bodyPr wrap="square" anchor="t" lIns="45720" rIns="45720" tIns="18288" bIns="18288">
            <a:spAutoFit/>
          </a:bodyPr>
          <a:lstStyle/>
          <a:p>
            <a:pPr algn="l"/>
            <a:r>
              <a:rPr sz="1100" b="0">
                <a:solidFill>
                  <a:srgbClr val="94A3B8"/>
                </a:solidFill>
                <a:latin typeface="Consolas"/>
              </a:rPr>
              <a:t>Risk · compliance · audit · sovereign authorities</a:t>
            </a:r>
          </a:p>
        </p:txBody>
      </p:sp>
      <p:cxnSp>
        <p:nvCxnSpPr>
          <p:cNvPr id="23" name="Connector 22"/>
          <p:cNvCxnSpPr/>
          <p:nvPr/>
        </p:nvCxnSpPr>
        <p:spPr>
          <a:xfrm>
            <a:off x="6446520" y="5120640"/>
            <a:ext cx="5029200" cy="0"/>
          </a:xfrm>
          <a:prstGeom prst="line">
            <a:avLst/>
          </a:prstGeom>
          <a:ln w="6350">
            <a:solidFill>
              <a:srgbClr val="C7463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46520" y="5257800"/>
            <a:ext cx="5029200" cy="1097280"/>
          </a:xfrm>
          <a:prstGeom prst="rect">
            <a:avLst/>
          </a:prstGeom>
          <a:noFill/>
        </p:spPr>
        <p:txBody>
          <a:bodyPr wrap="square" anchor="t" lIns="45720" rIns="45720" tIns="18288" bIns="18288">
            <a:spAutoFit/>
          </a:bodyPr>
          <a:lstStyle/>
          <a:p>
            <a:pPr algn="l"/>
            <a:r>
              <a:rPr sz="1300" b="0">
                <a:solidFill>
                  <a:srgbClr val="D9DDE5"/>
                </a:solidFill>
                <a:latin typeface="Calibri"/>
              </a:rPr>
              <a:t>End-to-end lineage from Oracle source to Copilot answer. Data Safe → Purview. Every agent action carries citation + policy evidence.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320040"/>
          </a:xfrm>
          <a:prstGeom prst="rect">
            <a:avLst/>
          </a:prstGeom>
          <a:noFill/>
        </p:spPr>
        <p:txBody>
          <a:bodyPr wrap="square" anchor="t" lIns="45720" rIns="45720" tIns="18288" bIns="18288">
            <a:spAutoFit/>
          </a:bodyPr>
          <a:lstStyle/>
          <a:p>
            <a:pPr algn="l"/>
            <a:r>
              <a:rPr sz="1100" b="0">
                <a:solidFill>
                  <a:srgbClr val="2DD4BF"/>
                </a:solidFill>
                <a:latin typeface="Consolas"/>
              </a:rPr>
              <a:t>THE ASK  ·  FOUR COMMITS · ONE PER WORKSTREAM · ONE JOINT</a:t>
            </a:r>
          </a:p>
        </p:txBody>
      </p:sp>
      <p:sp>
        <p:nvSpPr>
          <p:cNvPr id="4" name="TextBox 3"/>
          <p:cNvSpPr txBox="1"/>
          <p:nvPr/>
        </p:nvSpPr>
        <p:spPr>
          <a:xfrm>
            <a:off x="548640" y="731520"/>
            <a:ext cx="10972800" cy="548640"/>
          </a:xfrm>
          <a:prstGeom prst="rect">
            <a:avLst/>
          </a:prstGeom>
          <a:noFill/>
        </p:spPr>
        <p:txBody>
          <a:bodyPr wrap="square" anchor="t" lIns="45720" rIns="45720" tIns="18288" bIns="18288">
            <a:spAutoFit/>
          </a:bodyPr>
          <a:lstStyle/>
          <a:p>
            <a:pPr algn="l"/>
            <a:r>
              <a:rPr sz="2400" b="1">
                <a:solidFill>
                  <a:srgbClr val="FFFFFF"/>
                </a:solidFill>
                <a:latin typeface="Calibri"/>
              </a:rPr>
              <a:t>Four commits to ship this in the next 12 months.</a:t>
            </a:r>
          </a:p>
        </p:txBody>
      </p:sp>
      <p:sp>
        <p:nvSpPr>
          <p:cNvPr id="5" name="Rounded Rectangle 4"/>
          <p:cNvSpPr/>
          <p:nvPr/>
        </p:nvSpPr>
        <p:spPr>
          <a:xfrm>
            <a:off x="548640" y="1691640"/>
            <a:ext cx="5486400" cy="201168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20"/>
            <a:ext cx="5029200" cy="320040"/>
          </a:xfrm>
          <a:prstGeom prst="rect">
            <a:avLst/>
          </a:prstGeom>
          <a:noFill/>
        </p:spPr>
        <p:txBody>
          <a:bodyPr wrap="square" anchor="t" lIns="45720" rIns="45720" tIns="18288" bIns="18288">
            <a:spAutoFit/>
          </a:bodyPr>
          <a:lstStyle/>
          <a:p>
            <a:pPr algn="l"/>
            <a:r>
              <a:rPr sz="1050" b="1">
                <a:solidFill>
                  <a:srgbClr val="2DD4BF"/>
                </a:solidFill>
                <a:latin typeface="Consolas"/>
              </a:rPr>
              <a:t>COMMIT · DATA ESTATE LANDING ZONES</a:t>
            </a:r>
          </a:p>
        </p:txBody>
      </p:sp>
      <p:sp>
        <p:nvSpPr>
          <p:cNvPr id="7" name="TextBox 6"/>
          <p:cNvSpPr txBox="1"/>
          <p:nvPr/>
        </p:nvSpPr>
        <p:spPr>
          <a:xfrm>
            <a:off x="777240" y="2240280"/>
            <a:ext cx="5029200" cy="1280160"/>
          </a:xfrm>
          <a:prstGeom prst="rect">
            <a:avLst/>
          </a:prstGeom>
          <a:noFill/>
        </p:spPr>
        <p:txBody>
          <a:bodyPr wrap="square" anchor="t" lIns="45720" rIns="45720" tIns="18288" bIns="18288">
            <a:spAutoFit/>
          </a:bodyPr>
          <a:lstStyle/>
          <a:p>
            <a:pPr algn="l"/>
            <a:r>
              <a:rPr sz="1250" b="0">
                <a:solidFill>
                  <a:srgbClr val="D9DDE5"/>
                </a:solidFill>
                <a:latin typeface="Calibri"/>
              </a:rPr>
              <a:t>Productised OD@A landing zones per industry. Joint Oracle Cloud Lift + Microsoft funding for the first three lighthouse customers per vertical.</a:t>
            </a:r>
          </a:p>
        </p:txBody>
      </p:sp>
      <p:sp>
        <p:nvSpPr>
          <p:cNvPr id="8" name="Rounded Rectangle 7"/>
          <p:cNvSpPr/>
          <p:nvPr/>
        </p:nvSpPr>
        <p:spPr>
          <a:xfrm>
            <a:off x="6217920" y="1691640"/>
            <a:ext cx="5486400" cy="201168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74520"/>
            <a:ext cx="5029200" cy="320040"/>
          </a:xfrm>
          <a:prstGeom prst="rect">
            <a:avLst/>
          </a:prstGeom>
          <a:noFill/>
        </p:spPr>
        <p:txBody>
          <a:bodyPr wrap="square" anchor="t" lIns="45720" rIns="45720" tIns="18288" bIns="18288">
            <a:spAutoFit/>
          </a:bodyPr>
          <a:lstStyle/>
          <a:p>
            <a:pPr algn="l"/>
            <a:r>
              <a:rPr sz="1050" b="1">
                <a:solidFill>
                  <a:srgbClr val="2DD4BF"/>
                </a:solidFill>
                <a:latin typeface="Consolas"/>
              </a:rPr>
              <a:t>COMMIT · MICROSOFT AGENT FRAMEWORK ADOPTION</a:t>
            </a:r>
          </a:p>
        </p:txBody>
      </p:sp>
      <p:sp>
        <p:nvSpPr>
          <p:cNvPr id="10" name="TextBox 9"/>
          <p:cNvSpPr txBox="1"/>
          <p:nvPr/>
        </p:nvSpPr>
        <p:spPr>
          <a:xfrm>
            <a:off x="6446520" y="2240280"/>
            <a:ext cx="5029200" cy="1280160"/>
          </a:xfrm>
          <a:prstGeom prst="rect">
            <a:avLst/>
          </a:prstGeom>
          <a:noFill/>
        </p:spPr>
        <p:txBody>
          <a:bodyPr wrap="square" anchor="t" lIns="45720" rIns="45720" tIns="18288" bIns="18288">
            <a:spAutoFit/>
          </a:bodyPr>
          <a:lstStyle/>
          <a:p>
            <a:pPr algn="l"/>
            <a:r>
              <a:rPr sz="1250" b="0">
                <a:solidFill>
                  <a:srgbClr val="D9DDE5"/>
                </a:solidFill>
                <a:latin typeface="Calibri"/>
              </a:rPr>
              <a:t>Microsoft Agent Framework as the canonical build path; A2A + MCP as the canonical interop standards with Oracle Fusion AI Agents. Reference architectures co-published.</a:t>
            </a:r>
          </a:p>
        </p:txBody>
      </p:sp>
      <p:sp>
        <p:nvSpPr>
          <p:cNvPr id="11" name="Rounded Rectangle 10"/>
          <p:cNvSpPr/>
          <p:nvPr/>
        </p:nvSpPr>
        <p:spPr>
          <a:xfrm>
            <a:off x="548640" y="3886200"/>
            <a:ext cx="5486400" cy="201168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069080"/>
            <a:ext cx="5029200" cy="320040"/>
          </a:xfrm>
          <a:prstGeom prst="rect">
            <a:avLst/>
          </a:prstGeom>
          <a:noFill/>
        </p:spPr>
        <p:txBody>
          <a:bodyPr wrap="square" anchor="t" lIns="45720" rIns="45720" tIns="18288" bIns="18288">
            <a:spAutoFit/>
          </a:bodyPr>
          <a:lstStyle/>
          <a:p>
            <a:pPr algn="l"/>
            <a:r>
              <a:rPr sz="1050" b="1">
                <a:solidFill>
                  <a:srgbClr val="2DD4BF"/>
                </a:solidFill>
                <a:latin typeface="Consolas"/>
              </a:rPr>
              <a:t>COMMIT · WVI + AIOPS PLATFORM</a:t>
            </a:r>
          </a:p>
        </p:txBody>
      </p:sp>
      <p:sp>
        <p:nvSpPr>
          <p:cNvPr id="13" name="TextBox 12"/>
          <p:cNvSpPr txBox="1"/>
          <p:nvPr/>
        </p:nvSpPr>
        <p:spPr>
          <a:xfrm>
            <a:off x="777240" y="4434840"/>
            <a:ext cx="5029200" cy="1280160"/>
          </a:xfrm>
          <a:prstGeom prst="rect">
            <a:avLst/>
          </a:prstGeom>
          <a:noFill/>
        </p:spPr>
        <p:txBody>
          <a:bodyPr wrap="square" anchor="t" lIns="45720" rIns="45720" tIns="18288" bIns="18288">
            <a:spAutoFit/>
          </a:bodyPr>
          <a:lstStyle/>
          <a:p>
            <a:pPr algn="l"/>
            <a:r>
              <a:rPr sz="1250" b="0">
                <a:solidFill>
                  <a:srgbClr val="D9DDE5"/>
                </a:solidFill>
                <a:latin typeface="Calibri"/>
              </a:rPr>
              <a:t>Workload Virtual Instance as a productised Azure construct. Common Agent Platform shipping Config Drift, Troubleshooting &amp; RCA agents on a Quality / Resiliency / Security foundation.</a:t>
            </a:r>
          </a:p>
        </p:txBody>
      </p:sp>
      <p:sp>
        <p:nvSpPr>
          <p:cNvPr id="14" name="Rounded Rectangle 13"/>
          <p:cNvSpPr/>
          <p:nvPr/>
        </p:nvSpPr>
        <p:spPr>
          <a:xfrm>
            <a:off x="6217920" y="3886200"/>
            <a:ext cx="5486400" cy="2011680"/>
          </a:xfrm>
          <a:prstGeom prst="roundRect">
            <a:avLst>
              <a:gd name="adj" fmla="val 4000"/>
            </a:avLst>
          </a:prstGeom>
          <a:solidFill>
            <a:srgbClr val="1A2540"/>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069080"/>
            <a:ext cx="5029200" cy="320040"/>
          </a:xfrm>
          <a:prstGeom prst="rect">
            <a:avLst/>
          </a:prstGeom>
          <a:noFill/>
        </p:spPr>
        <p:txBody>
          <a:bodyPr wrap="square" anchor="t" lIns="45720" rIns="45720" tIns="18288" bIns="18288">
            <a:spAutoFit/>
          </a:bodyPr>
          <a:lstStyle/>
          <a:p>
            <a:pPr algn="l"/>
            <a:r>
              <a:rPr sz="1050" b="1">
                <a:solidFill>
                  <a:srgbClr val="2DD4BF"/>
                </a:solidFill>
                <a:latin typeface="Consolas"/>
              </a:rPr>
              <a:t>COMMIT · JOINT CUSTOMER ADVISORY BOARD</a:t>
            </a:r>
          </a:p>
        </p:txBody>
      </p:sp>
      <p:sp>
        <p:nvSpPr>
          <p:cNvPr id="16" name="TextBox 15"/>
          <p:cNvSpPr txBox="1"/>
          <p:nvPr/>
        </p:nvSpPr>
        <p:spPr>
          <a:xfrm>
            <a:off x="6446520" y="4434840"/>
            <a:ext cx="5029200" cy="1280160"/>
          </a:xfrm>
          <a:prstGeom prst="rect">
            <a:avLst/>
          </a:prstGeom>
          <a:noFill/>
        </p:spPr>
        <p:txBody>
          <a:bodyPr wrap="square" anchor="t" lIns="45720" rIns="45720" tIns="18288" bIns="18288">
            <a:spAutoFit/>
          </a:bodyPr>
          <a:lstStyle/>
          <a:p>
            <a:pPr algn="l"/>
            <a:r>
              <a:rPr sz="1250" b="0">
                <a:solidFill>
                  <a:srgbClr val="D9DDE5"/>
                </a:solidFill>
                <a:latin typeface="Calibri"/>
              </a:rPr>
              <a:t>Standing CAB across all three workstreams. Quarterly cadence, 10+ named customers across FSI, Manufacturing, Retail, and Public Sector by end of Year 1.</a:t>
            </a:r>
          </a:p>
        </p:txBody>
      </p:sp>
      <p:sp>
        <p:nvSpPr>
          <p:cNvPr id="17" name="Rounded Rectangle 16"/>
          <p:cNvSpPr/>
          <p:nvPr/>
        </p:nvSpPr>
        <p:spPr>
          <a:xfrm>
            <a:off x="548640" y="6035040"/>
            <a:ext cx="11064240" cy="548640"/>
          </a:xfrm>
          <a:prstGeom prst="roundRect">
            <a:avLst>
              <a:gd name="adj" fmla="val 4000"/>
            </a:avLst>
          </a:prstGeom>
          <a:solidFill>
            <a:srgbClr val="1A2540"/>
          </a:solidFill>
          <a:ln w="2222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6126480"/>
            <a:ext cx="10607040" cy="365760"/>
          </a:xfrm>
          <a:prstGeom prst="rect">
            <a:avLst/>
          </a:prstGeom>
          <a:noFill/>
        </p:spPr>
        <p:txBody>
          <a:bodyPr wrap="square" anchor="t" lIns="45720" rIns="45720" tIns="18288" bIns="18288">
            <a:spAutoFit/>
          </a:bodyPr>
          <a:lstStyle/>
          <a:p>
            <a:pPr algn="l"/>
            <a:r>
              <a:rPr sz="1150" b="1">
                <a:solidFill>
                  <a:srgbClr val="2DD4BF"/>
                </a:solidFill>
                <a:latin typeface="Consolas"/>
              </a:rPr>
              <a:t>THE BET  ·  Make Azure the destination Oracle workloads land on, the place their apps modernise on top of, and the surface their agents run from.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