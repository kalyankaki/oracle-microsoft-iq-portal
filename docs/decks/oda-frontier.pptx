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74634"/>
                </a:solidFill>
                <a:latin typeface="Consolas"/>
              </a:rPr>
              <a:t>OD@A  ·  ANCHOR FOR FRONTIER TRANSFORMATION  ·  ORACLE × 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Oracle Database@Azure
is where every Oracle workload's
modernisation lands.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D9DDE5"/>
                </a:solidFill>
                <a:latin typeface="Calibri"/>
              </a:rPr>
              <a:t>The agentic alliance compounds value from a stable anchor — and OD@A is the anchor.
This deck walks the end-to-end customer journey, the cloud-path decision tree, the technical stack, the consumption story, and what we need from Microsoft leadership to make OD@A the default destination for Oracle workloads.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nsolas"/>
              </a:rPr>
              <a:t>Oracle anchors data of record on OD@A.  ·  Microsoft extends the worker surface through Copilot.  ·  Together: frontier transformation.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WHY OD@A IS THE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Four anchor properties — together, they make OD@A inevitable.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233172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74520"/>
            <a:ext cx="320040" cy="32004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78D4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56232"/>
            <a:ext cx="4709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Lowest-latency Fabric mirror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51206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9DDE5"/>
                </a:solidFill>
                <a:latin typeface="Calibri"/>
              </a:rPr>
              <a:t>Native Fabric Mirroring for OD@A (Ignite '25) gives the agent sub-second-fresh Oracle data without leaving Azure.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3291840"/>
            <a:ext cx="5029200" cy="0"/>
          </a:xfrm>
          <a:prstGeom prst="line">
            <a:avLst/>
          </a:prstGeom>
          <a:ln w="63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355848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59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Calibri"/>
              </a:rPr>
              <a:t>No replication tax. No third-party connector. Oracle data behaves as if it were native Azure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486400" cy="233172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C74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1874520"/>
            <a:ext cx="320040" cy="32004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74634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56232"/>
            <a:ext cx="4709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Oracle-native features preserved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51206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9DDE5"/>
                </a:solidFill>
                <a:latin typeface="Calibri"/>
              </a:rPr>
              <a:t>Exadata, Autonomous Database, RAC, Data Guard — all run unchanged on OD@A.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46520" y="3291840"/>
            <a:ext cx="5029200" cy="0"/>
          </a:xfrm>
          <a:prstGeom prst="line">
            <a:avLst/>
          </a:prstGeom>
          <a:ln w="635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46520" y="3355848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566159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4634"/>
                </a:solidFill>
                <a:latin typeface="Calibri"/>
              </a:rPr>
              <a:t>Same SQL, DBA workflows, backup/recovery, and licensing. Migration is move-and-modernise, not rewrite.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5486400" cy="233172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389120"/>
            <a:ext cx="320040" cy="32004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D600"/>
                </a:solidFill>
                <a:latin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370832"/>
            <a:ext cx="4709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No lift-and-shift mental tax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51206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9DDE5"/>
                </a:solidFill>
                <a:latin typeface="Calibri"/>
              </a:rPr>
              <a:t>Azure datacentres, jointly operated. One support call, one bill, one SLA.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5806440"/>
            <a:ext cx="5029200" cy="0"/>
          </a:xfrm>
          <a:prstGeom prst="line">
            <a:avLst/>
          </a:prstGeom>
          <a:ln w="6350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5870448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80759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  <a:latin typeface="Calibri"/>
              </a:rPr>
              <a:t>Arc + Entra + native peering make the seam between OD@A and the rest of Azure invisible to the worker.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06240"/>
            <a:ext cx="5486400" cy="233172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0" y="4389120"/>
            <a:ext cx="320040" cy="32004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DD4BF"/>
                </a:solidFill>
                <a:latin typeface="Consola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370832"/>
            <a:ext cx="4709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Consumption flywheel scales with depth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92040"/>
            <a:ext cx="51206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9DDE5"/>
                </a:solidFill>
                <a:latin typeface="Calibri"/>
              </a:rPr>
              <a:t>Every modernised workload lights up Exadata ratecards, GoldenGate, Fabric, Foundry, and Copilot — five revenue lines.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46520" y="5806440"/>
            <a:ext cx="5029200" cy="0"/>
          </a:xfrm>
          <a:prstGeom prst="line">
            <a:avLst/>
          </a:prstGeom>
          <a:ln w="63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46520" y="5870448"/>
            <a:ext cx="51206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6080759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OD@A compounds with Fabric, Foundry, and Copilot rather than competing with them.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528816"/>
            <a:ext cx="10972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Reference: /oda-frontier  ·  Anchor properties · §2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onsolas"/>
              </a:rPr>
              <a:t>THE CUSTOMER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Five stages. One anchor. Every workload converges on OD@A.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212848" cy="27432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94A3B8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84708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847088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D9DDE5"/>
                </a:solidFill>
                <a:latin typeface="Calibri"/>
              </a:rPr>
              <a:t>Inventory the on-prem Oracle estate — workloads, versions, dependencies, sensitive data, licence posture.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62272"/>
            <a:ext cx="2212848" cy="1097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52928" y="1828800"/>
            <a:ext cx="2212848" cy="27432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011680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468880"/>
            <a:ext cx="184708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971800"/>
            <a:ext cx="1847088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D9DDE5"/>
                </a:solidFill>
                <a:latin typeface="Calibri"/>
              </a:rPr>
              <a:t>Per-workload destination across four paths: OD@A, OCI, Azure DB for PostgreSQL, hybrid.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4462272"/>
            <a:ext cx="2212848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57216" y="1828800"/>
            <a:ext cx="2212848" cy="27432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C74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6" y="2011680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74634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68880"/>
            <a:ext cx="184708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Migrate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971800"/>
            <a:ext cx="1847088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D9DDE5"/>
                </a:solidFill>
                <a:latin typeface="Calibri"/>
              </a:rPr>
              <a:t>ZDM-led migration · DMS re-platform · upgrade to compliant version on landing.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7216" y="4462272"/>
            <a:ext cx="2212848" cy="10972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61504" y="1828800"/>
            <a:ext cx="2212848" cy="27432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4384" y="2011680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D600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384" y="2468880"/>
            <a:ext cx="184708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Modernise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4" y="2971800"/>
            <a:ext cx="1847088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D9DDE5"/>
                </a:solidFill>
                <a:latin typeface="Calibri"/>
              </a:rPr>
              <a:t>Apps move to AKS / App Service / Functions. Data of record stays anchored on OD@A.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61504" y="4462272"/>
            <a:ext cx="2212848" cy="10972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65792" y="1828800"/>
            <a:ext cx="2212848" cy="27432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8672" y="2011680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2468880"/>
            <a:ext cx="1847088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Activate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971800"/>
            <a:ext cx="1847088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D9DDE5"/>
                </a:solidFill>
                <a:latin typeface="Calibri"/>
              </a:rPr>
              <a:t>Light up Fabric IQ + Foundry IQ + Work IQ on top. Agents grounded on Oracle data, surfaced in Copilot.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65792" y="4462272"/>
            <a:ext cx="2212848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94560" y="4937760"/>
            <a:ext cx="7772400" cy="118872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C74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5102352"/>
            <a:ext cx="7772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Oracle Database@Azure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577840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50" b="0">
                <a:solidFill>
                  <a:srgbClr val="D9DDE5"/>
                </a:solidFill>
                <a:latin typeface="Calibri"/>
              </a:rPr>
              <a:t>Exadata · Autonomous · Database Service — Oracle on Azure datacentres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583387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4634"/>
                </a:solidFill>
                <a:latin typeface="Consolas"/>
              </a:rPr>
              <a:t>ANCHOR  ·  EVERY STAGE CONVERGES HERE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28816"/>
            <a:ext cx="10972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Reference: /oda-frontier  ·  Customer journey · §3-4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74634"/>
                </a:solidFill>
                <a:latin typeface="Consolas"/>
              </a:rPr>
              <a:t>THE CLOUD-PATH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Four legitimate destinations. OD@A is the anchor; the rest are honest peer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B0B7C4"/>
                </a:solidFill>
                <a:latin typeface="Calibri"/>
              </a:rPr>
              <a:t>The honest framing — and the only credible way to position Azure as THE destination for Oracle workloads — is to give every workload a destination that actually fits.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3832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28575">
            <a:solidFill>
              <a:srgbClr val="C74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1945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9525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C74634"/>
                </a:solidFill>
                <a:latin typeface="Consolas"/>
              </a:rPr>
              <a:t>ANCHOR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19072" y="21945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9525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C74634"/>
                </a:solidFill>
                <a:latin typeface="Consolas"/>
              </a:rPr>
              <a:t>OD@A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60320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Oracle Database@Azure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37560"/>
            <a:ext cx="31089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onsolas"/>
              </a:rPr>
              <a:t>BEST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557016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9DDE5"/>
                </a:solidFill>
                <a:latin typeface="Calibri"/>
              </a:rPr>
              <a:t>Oracle-faithful workloads — Exadata, Autonomous, RAC, Data Guard — that need Azure as home with zero re-platform.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97680"/>
            <a:ext cx="31089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onsolas"/>
              </a:rPr>
              <a:t>WHAT'S PRESERVED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517136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9DDE5"/>
                </a:solidFill>
                <a:latin typeface="Calibri"/>
              </a:rPr>
              <a:t>All Oracle-native features, DBA workflows, licensing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257800"/>
            <a:ext cx="31089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onsolas"/>
              </a:rPr>
              <a:t>AZURE REVENUE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477256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4634"/>
                </a:solidFill>
                <a:latin typeface="Calibri"/>
              </a:rPr>
              <a:t>OD@A consumption (Exadata ratecards) + downstream Fabric / Foundry / Copilot pull-through.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011680"/>
            <a:ext cx="24688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87952" y="2194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0078D4"/>
                </a:solidFill>
                <a:latin typeface="Consolas"/>
              </a:rPr>
              <a:t>PEER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2560320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Oracle DB on OCI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3337560"/>
            <a:ext cx="21945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onsolas"/>
              </a:rPr>
              <a:t>BEST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7952" y="3557016"/>
            <a:ext cx="21945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9DDE5"/>
                </a:solidFill>
                <a:latin typeface="Calibri"/>
              </a:rPr>
              <a:t>Multicloud customers, sovereign workloads, deep OCI investments.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4297680"/>
            <a:ext cx="21945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onsolas"/>
              </a:rPr>
              <a:t>WHAT'S PRESERVED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4517136"/>
            <a:ext cx="21945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9DDE5"/>
                </a:solidFill>
                <a:latin typeface="Calibri"/>
              </a:rPr>
              <a:t>OCI-native services + tooling; full second-cloud SLA.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5257800"/>
            <a:ext cx="21945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onsolas"/>
              </a:rPr>
              <a:t>AZURE REVENUE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2" y="5477256"/>
            <a:ext cx="21945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078D4"/>
                </a:solidFill>
                <a:latin typeface="Calibri"/>
              </a:rPr>
              <a:t>Fabric + Foundry + Copilot via shortcuts / GoldenGate.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011680"/>
            <a:ext cx="24688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48272" y="2194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 w="9525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FFD600"/>
                </a:solidFill>
                <a:latin typeface="Consolas"/>
              </a:rPr>
              <a:t>PEER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2560320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Azure DB for 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3337560"/>
            <a:ext cx="21945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onsolas"/>
              </a:rPr>
              <a:t>BEST FOR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557016"/>
            <a:ext cx="21945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9DDE5"/>
                </a:solidFill>
                <a:latin typeface="Calibri"/>
              </a:rPr>
              <a:t>Open-source-compatible workloads where re-platform is the right answer.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297680"/>
            <a:ext cx="21945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onsolas"/>
              </a:rPr>
              <a:t>WHAT'S PRESERVED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4517136"/>
            <a:ext cx="21945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9DDE5"/>
                </a:solidFill>
                <a:latin typeface="Calibri"/>
              </a:rPr>
              <a:t>Application logic (with schema conversion); cloud-native ops.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5257800"/>
            <a:ext cx="21945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onsolas"/>
              </a:rPr>
              <a:t>AZURE REVENUE 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5477256"/>
            <a:ext cx="21945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Calibri"/>
              </a:rPr>
              <a:t>Azure PG consumption + downstream Fabric / Foundry / Copilot.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2011680"/>
            <a:ext cx="2468880" cy="4206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308592" y="2194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94A3B8"/>
                </a:solidFill>
                <a:latin typeface="Consolas"/>
              </a:rPr>
              <a:t>PEER 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2560320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Stay on-prem (hybrid)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3337560"/>
            <a:ext cx="21945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onsolas"/>
              </a:rPr>
              <a:t>BEST FOR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3557016"/>
            <a:ext cx="21945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9DDE5"/>
                </a:solidFill>
                <a:latin typeface="Calibri"/>
              </a:rPr>
              <a:t>Stranded, regulated, or sovereign workloads that cannot leave the datacentre.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4297680"/>
            <a:ext cx="21945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onsolas"/>
              </a:rPr>
              <a:t>WHAT'S PRESERVED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8592" y="4517136"/>
            <a:ext cx="21945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9DDE5"/>
                </a:solidFill>
                <a:latin typeface="Calibri"/>
              </a:rPr>
              <a:t>On-prem investment, data-residency posture, regulatory scope.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5257800"/>
            <a:ext cx="21945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onsolas"/>
              </a:rPr>
              <a:t>AZURE REVENUE 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5477256"/>
            <a:ext cx="21945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Fabric capacity + GoldenGate + Foundry + Copilot via hybrid mirror.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528816"/>
            <a:ext cx="10972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Reference: /oda-frontier  ·  Cloud-path matrix · §5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78D4"/>
                </a:solidFill>
                <a:latin typeface="Consola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End-to-end stack: estate at the bottom, OD@A in the middle, IQ stack on top.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596128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Consolas"/>
              </a:rPr>
              <a:t>VALUE LAYER · AGENTIC IQ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D9DDE5"/>
                </a:solidFill>
                <a:latin typeface="Calibri"/>
              </a:rPr>
              <a:t>Fabric Mirror  ·  Fabric IQ  ·  Foundry IQ  ·  Work IQ  ·  Microsoft Copilot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36008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45736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Consolas"/>
              </a:rPr>
              <a:t>APP MODERNISATION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20056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D9DDE5"/>
                </a:solidFill>
                <a:latin typeface="Calibri"/>
              </a:rPr>
              <a:t>AKS  ·  App Service  ·  Functions  ·  Entra ID  ·  Key Vault  ·  Application Insights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85616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28575">
            <a:solidFill>
              <a:srgbClr val="C74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895344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4634"/>
                </a:solidFill>
                <a:latin typeface="Consolas"/>
              </a:rPr>
              <a:t>CLOUD LANDING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169664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Oracle Database@Azure (ANCHOR)   |   Oracle DB on OCI   |   Azure DB for PostgreSQL   |   On-prem (hybrid mirror)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35224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044952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078D4"/>
                </a:solidFill>
                <a:latin typeface="Consolas"/>
              </a:rPr>
              <a:t>MIGRATION + UPGRADE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319272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D9DDE5"/>
                </a:solidFill>
                <a:latin typeface="Calibri"/>
              </a:rPr>
              <a:t>Azure Migrate  ·  Oracle ZDM  ·  GoldenGate  ·  Azure DMS  ·  Compliant-version upgrade gates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084832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194560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onsolas"/>
              </a:rPr>
              <a:t>CUSTOMER ESTATE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46888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D9DDE5"/>
                </a:solidFill>
                <a:latin typeface="Calibri"/>
              </a:rPr>
              <a:t>Exadata  ·  RAC + Data Guard  ·  Database Appliance  ·  On-prem Fusion Apps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7336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onsolas"/>
              </a:rPr>
              <a:t>Governance band runs laterally: Oracle Data Safe + Audit Vault  ↔  Microsoft Purview  —  lineage end-to-end.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28816"/>
            <a:ext cx="10972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Reference: /oda-frontier  ·  Technical architecture · §6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onsolas"/>
              </a:rPr>
              <a:t>THE CONSUMPTION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Each stage of the journey lights up a distinct revenue line on both sides.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onsolas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5544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078D4"/>
                </a:solidFill>
                <a:latin typeface="Consolas"/>
              </a:rPr>
              <a:t>MICROSOFT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5544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4634"/>
                </a:solidFill>
                <a:latin typeface="Consolas"/>
              </a:rPr>
              <a:t>ORACLE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554480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onsolas"/>
              </a:rPr>
              <a:t>STAGE ACCENT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883664"/>
            <a:ext cx="1106424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2011680"/>
            <a:ext cx="11064240" cy="73152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94A3B8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94560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176272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78D4"/>
                </a:solidFill>
                <a:latin typeface="Calibri"/>
              </a:rPr>
              <a:t>Azure Migrate · Purview scan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74634"/>
                </a:solidFill>
                <a:latin typeface="Calibri"/>
              </a:rPr>
              <a:t>Cloud Lift Services engagement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221284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94A3B8"/>
                </a:solidFill>
                <a:latin typeface="Consolas"/>
              </a:rPr>
              <a:t>ACT · 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078D4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971800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953512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78D4"/>
                </a:solidFill>
                <a:latin typeface="Calibri"/>
              </a:rPr>
              <a:t>Microsoft + partner architecture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953512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74634"/>
                </a:solidFill>
                <a:latin typeface="Calibri"/>
              </a:rPr>
              <a:t>Joint architecture council engagement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99008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0078D4"/>
                </a:solidFill>
                <a:latin typeface="Consolas"/>
              </a:rPr>
              <a:t>ACT ·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11064240" cy="73152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3075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C74634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749040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Migrate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30752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78D4"/>
                </a:solidFill>
                <a:latin typeface="Calibri"/>
              </a:rPr>
              <a:t>Azure DMS · ASR · target compute on landing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730752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74634"/>
                </a:solidFill>
                <a:latin typeface="Calibri"/>
              </a:rPr>
              <a:t>ZDM · GoldenGate · Cloud Lift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376732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9525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C74634"/>
                </a:solidFill>
                <a:latin typeface="Consolas"/>
              </a:rPr>
              <a:t>ACT · MIGRATE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0799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526280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Modernise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507992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78D4"/>
                </a:solidFill>
                <a:latin typeface="Calibri"/>
              </a:rPr>
              <a:t>AKS · App Service · Functions · Entra · Key Vault · App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507992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74634"/>
                </a:solidFill>
                <a:latin typeface="Calibri"/>
              </a:rPr>
              <a:t>OD@A consumption — Exadata · Autonomous · DB 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454456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 w="9525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FFD600"/>
                </a:solidFill>
                <a:latin typeface="Consolas"/>
              </a:rPr>
              <a:t>ACT · MODERNISE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8523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onsola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303520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Activate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285232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78D4"/>
                </a:solidFill>
                <a:latin typeface="Calibri"/>
              </a:rPr>
              <a:t>Fabric · OneLake · Foundry · Agent 365 · Copilot · Purview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5285232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74634"/>
                </a:solidFill>
                <a:latin typeface="Calibri"/>
              </a:rPr>
              <a:t>Fusion AI Agents · Audit Vault · Data Safe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532180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>
                <a:solidFill>
                  <a:srgbClr val="2DD4BF"/>
                </a:solidFill>
                <a:latin typeface="Consolas"/>
              </a:rPr>
              <a:t>ACT · ACTIVATE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Stages 4 (modernise) and 5 (activate) are the compounding lines. OD@A consumption rises as more apps modernise on top; IQ-stack consumption rises as more workloads activate. Neither cannibalises the other.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28816"/>
            <a:ext cx="10972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Reference: /oda-frontier  ·  Consumption story · §7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D600"/>
                </a:solidFill>
                <a:latin typeface="Consolas"/>
              </a:rPr>
              <a:t>THE EXEC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lighting up OD@A as the anchor requires from Microsoft leadership.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48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38528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Name an OD@A landing-zone owner per industry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1206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FSI, Manufacturing, Retail, Public Sector — one named technical sponsor each, accountable for the per-vertical reference architecture and the first three customer landings.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48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D600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938528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Fund the discovery accelerator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51206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Co-funded with Oracle Cloud Lift. Productised assessment that returns workload inventory, sensitivity catalogue, and per-workload destination recommendation in under 30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548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Lock the cloud-path decision tree as the standard sales 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51206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Make the four-path matrix (OD@A · OCI · Azure PG · hybrid) the canonical answer when the field is asked 'what does Microsoft recommend?' for an Oracle workload.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2700">
            <a:solidFill>
              <a:srgbClr val="C74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548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74634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950208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Partner co-funded migration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80"/>
            <a:ext cx="51206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D9DDE5"/>
                </a:solidFill>
                <a:latin typeface="Calibri"/>
              </a:rPr>
              <a:t>Accenture, Deloitte, EY, Capgemini packaged offers for ZDM-led migrations. Bundle with Cloud Lift credits and Universal Cloud Credits where they apply.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6072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5216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D600"/>
                </a:solidFill>
                <a:latin typeface="Consolas"/>
              </a:rPr>
              <a:t>THE BET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D9DDE5"/>
                </a:solidFill>
                <a:latin typeface="Calibri"/>
              </a:rPr>
              <a:t>Make OD@A the default destination Microsoft recommends for Oracle workloads, and the agentic IQ stack the default activation layer on top. Every other path remains available — OD@A is the anchor that compounds with Fabric, Foundry, Copilot, and Purview.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