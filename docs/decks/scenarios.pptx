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D600"/>
                </a:solidFill>
                <a:latin typeface="Consolas"/>
              </a:rPr>
              <a:t>THE ENTERPRISE AGENT ALLIANCE  ·  ORACLE × 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Same Oracle data.
Same prompt.
Four very different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97280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9DDE5"/>
                </a:solidFill>
                <a:latin typeface="Calibri"/>
              </a:rPr>
              <a:t>Three real-world scenarios — Supply Chain, Workforce, Customer Health — and how Microsoft Copilot's answer evolves as Fabric IQ, Foundry IQ, and Work IQ are layered on top of Oracle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nsolas"/>
              </a:rPr>
              <a:t>Oracle anchors data of record where it's deployed.  ·  Microsoft extends the worker surface.  ·  Together: agentic transformation.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HOW TO READ THESE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Each scenario asks the same question across four tiers.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Consolas"/>
              </a:rPr>
              <a:t>T0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93392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860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nsolas"/>
              </a:rPr>
              <a:t>Lookup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93392"/>
            <a:ext cx="4937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Knows where Oracle data lives. Describes tables. Cannot interpret.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19" y="1993392"/>
            <a:ext cx="3017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$0 incremental decision value. Foundation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5351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078D4"/>
                </a:solidFill>
                <a:latin typeface="Consolas"/>
              </a:rPr>
              <a:t>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953512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+ Fabric IQ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4612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0078D4"/>
                </a:solidFill>
                <a:latin typeface="Consolas"/>
              </a:rPr>
              <a:t>Insight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53512"/>
            <a:ext cx="4937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Joins the semantic model. Quantifies, aggregates, trends.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953512"/>
            <a:ext cx="3017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78D4"/>
                </a:solidFill>
                <a:latin typeface="Calibri"/>
              </a:rPr>
              <a:t>Defensible numbers without SQL. Reporting goes from days to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4904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D600"/>
                </a:solidFill>
                <a:latin typeface="Consolas"/>
              </a:rPr>
              <a:t>T2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13632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+ Foundry IQ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0624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D600"/>
                </a:solidFill>
                <a:latin typeface="Consolas"/>
              </a:rPr>
              <a:t>Decision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913632"/>
            <a:ext cx="4937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Reasons across the data. Ranks moves with projected $-impact and grounded citations.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3913632"/>
            <a:ext cx="3017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D600"/>
                </a:solidFill>
                <a:latin typeface="Calibri"/>
              </a:rPr>
              <a:t>Replaces an analyst week with a conversation.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7375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onsolas"/>
              </a:rPr>
              <a:t>T3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873752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+ Work IQ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16636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onsolas"/>
              </a:rPr>
              <a:t>Execution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873752"/>
            <a:ext cx="4937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Personalised via Microsoft Graph. Drafts the email, the Teams message, the meeting agenda.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4873752"/>
            <a:ext cx="3017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The decision is in the calendar before the meeting starts.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By Tier 3, the agent isn't reporting on the business — it's running parts of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0078D4"/>
                </a:solidFill>
                <a:latin typeface="Consolas"/>
              </a:rPr>
              <a:t>ORACLE FUSION SCM  · 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Scenario 1 — Supply Chain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D9DDE5"/>
                </a:solidFill>
                <a:latin typeface="Calibri"/>
              </a:rPr>
              <a:t>“What's our Q3 supply chain risk exposure in EMEA, and which suppliers should we de-risk first?”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59152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onsolas"/>
              </a:rPr>
              <a:t>T0  · 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Lookup 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3154680"/>
            <a:ext cx="2368296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324612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DELIVERS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47472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Lists the Oracle SCM tables that hold suppliers, POs, and delivery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93776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BUSINESS 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66360"/>
            <a:ext cx="23774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Foundation in place — Oracle data is mirrored and ready, but answers stay generic.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19456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2359152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078D4"/>
                </a:solidFill>
                <a:latin typeface="Consolas"/>
              </a:rPr>
              <a:t>T1  ·  + Fabric IQ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Insight 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47872" y="3154680"/>
            <a:ext cx="2368296" cy="0"/>
          </a:xfrm>
          <a:prstGeom prst="line">
            <a:avLst/>
          </a:prstGeom>
          <a:ln w="63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47872" y="324612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DELIVERS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47472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$47.2M EMEA exposure quantified across 84 suppliers; OTD has fallen to 87%.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493776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BUSINESS BENEFIT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5166360"/>
            <a:ext cx="23774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Calibri"/>
              </a:rPr>
              <a:t>Risk visibility moves from anecdotes to a defensible number, instantly.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9456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359152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D600"/>
                </a:solidFill>
                <a:latin typeface="Consolas"/>
              </a:rPr>
              <a:t>T2  ·  + Foundry IQ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Decision agent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82512" y="3154680"/>
            <a:ext cx="2368296" cy="0"/>
          </a:xfrm>
          <a:prstGeom prst="line">
            <a:avLst/>
          </a:prstGeom>
          <a:ln w="635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82512" y="324612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DELIVERS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47472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5 prioritised de-risk plays with $18.6M mitigatable inside Q3. First move: dual-source 25% of Adriatica volume.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93776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BUSINESS BENEFIT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166360"/>
            <a:ext cx="23774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  <a:latin typeface="Calibri"/>
              </a:rPr>
              <a:t>Action plan with projected savings — no analyst week required.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219456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7152" y="2359152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Consolas"/>
              </a:rPr>
              <a:t>T3  ·  + Work IQ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Execution agent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17152" y="3154680"/>
            <a:ext cx="2368296" cy="0"/>
          </a:xfrm>
          <a:prstGeom prst="line">
            <a:avLst/>
          </a:prstGeom>
          <a:ln w="63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217152" y="324612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DELIVERS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347472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Email to Maria drafted; Teams ping to Tomás drafted; tomorrow's 10am EMEA ops agenda pre-filled.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493776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BUSINESS BENEFIT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5166360"/>
            <a:ext cx="23774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Decisions executed at the speed of a chat; supplier risk doesn't wait a week.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D600"/>
                </a:solidFill>
                <a:latin typeface="Consolas"/>
              </a:rPr>
              <a:t>ORACLE FUSION HCM  ·  RECRUITING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Scenario 2 — Workforce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D9DDE5"/>
                </a:solidFill>
                <a:latin typeface="Calibri"/>
              </a:rPr>
              <a:t>“Summarise open requisitions on my team and flag any at risk of missing the fiscal-year close.”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59152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onsolas"/>
              </a:rPr>
              <a:t>T0  · 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Lookup 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3154680"/>
            <a:ext cx="2368296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324612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DELIVERS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47472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Names the HCM tables for requisitions, pipeline, and offers.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93776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BUSINESS 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66360"/>
            <a:ext cx="23774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Knows the data exists — but can't yet resolve which reqs are 'on your team.'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19456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2359152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078D4"/>
                </a:solidFill>
                <a:latin typeface="Consolas"/>
              </a:rPr>
              <a:t>T1  ·  + Fabric IQ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Insight 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47872" y="3154680"/>
            <a:ext cx="2368296" cy="0"/>
          </a:xfrm>
          <a:prstGeom prst="line">
            <a:avLst/>
          </a:prstGeom>
          <a:ln w="63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47872" y="324612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DELIVERS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47472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14 open reqs · 5 at FY-close risk · pipeline coverage has fallen to 3.4×.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493776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BUSINESS BENEFIT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5166360"/>
            <a:ext cx="23774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Calibri"/>
              </a:rPr>
              <a:t>FY hiring health visible on one screen, scoped to your org rollup.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9456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359152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D600"/>
                </a:solidFill>
                <a:latin typeface="Consolas"/>
              </a:rPr>
              <a:t>T2  ·  + Foundry IQ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Decision agent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82512" y="3154680"/>
            <a:ext cx="2368296" cy="0"/>
          </a:xfrm>
          <a:prstGeom prst="line">
            <a:avLst/>
          </a:prstGeom>
          <a:ln w="635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82512" y="324612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DELIVERS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47472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Per-req recommendation: re-scope, push to offer, or open to internal mobility.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93776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BUSINESS BENEFIT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166360"/>
            <a:ext cx="23774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  <a:latin typeface="Calibri"/>
              </a:rPr>
              <a:t>Hiring plan that actually closes by FY end — projected close rate +18 pts.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219456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7152" y="2359152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Consolas"/>
              </a:rPr>
              <a:t>T3  ·  + Work IQ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Execution agent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17152" y="3154680"/>
            <a:ext cx="2368296" cy="0"/>
          </a:xfrm>
          <a:prstGeom prst="line">
            <a:avLst/>
          </a:prstGeom>
          <a:ln w="63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217152" y="324612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DELIVERS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347472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Friday review with Diego pre-filled; 1:1 agenda for Aisha (EM candidate) drafted.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493776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BUSINESS BENEFIT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5166360"/>
            <a:ext cx="23774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Manager time goes to deciding, not to prepping pre-reads.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onsolas"/>
              </a:rPr>
              <a:t>ORACLE FUSION CX  · 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Scenario 3 — Customer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D9DDE5"/>
                </a:solidFill>
                <a:latin typeface="Calibri"/>
              </a:rPr>
              <a:t>“Which accounts in my book are showing churn signals, and what's the recommended next play for each?”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59152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onsolas"/>
              </a:rPr>
              <a:t>T0  · 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Lookup 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3154680"/>
            <a:ext cx="2368296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324612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DELIVERS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47472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Points at the CX tables for accounts, health, and service requests.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93776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BUSINESS 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66360"/>
            <a:ext cx="23774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Foundation only — can't yet score churn or scope to your book of business.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19456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2359152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078D4"/>
                </a:solidFill>
                <a:latin typeface="Consolas"/>
              </a:rPr>
              <a:t>T1  ·  + Fabric IQ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Insight 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47872" y="3154680"/>
            <a:ext cx="2368296" cy="0"/>
          </a:xfrm>
          <a:prstGeom prst="line">
            <a:avLst/>
          </a:prstGeom>
          <a:ln w="63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47872" y="324612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DELIVERS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47472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32 accounts · 4 at risk · $6.0M ARR exposed.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493776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BUSINESS BENEFIT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5166360"/>
            <a:ext cx="23774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Calibri"/>
              </a:rPr>
              <a:t>Churn risk surfaces early, with the dollars attached.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9456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359152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D600"/>
                </a:solidFill>
                <a:latin typeface="Consolas"/>
              </a:rPr>
              <a:t>T2  ·  + Foundry IQ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Decision agent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82512" y="3154680"/>
            <a:ext cx="2368296" cy="0"/>
          </a:xfrm>
          <a:prstGeom prst="line">
            <a:avLst/>
          </a:prstGeom>
          <a:ln w="635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82512" y="324612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DELIVERS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47472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Right play per account; $4.6M of the $6.0M is recoverable.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93776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BUSINESS BENEFIT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166360"/>
            <a:ext cx="23774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  <a:latin typeface="Calibri"/>
              </a:rPr>
              <a:t>CSMs lead with the highest-yield save play, not a generic check-in.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219456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7152" y="2359152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Consolas"/>
              </a:rPr>
              <a:t>T3  ·  + Work IQ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Execution agent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17152" y="3154680"/>
            <a:ext cx="2368296" cy="0"/>
          </a:xfrm>
          <a:prstGeom prst="line">
            <a:avLst/>
          </a:prstGeom>
          <a:ln w="63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217152" y="324612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DELIVERS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347472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Northwind QBR pre-loaded with the value review; Contoso CXO call prep with Liam ready.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4937760"/>
            <a:ext cx="23774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BUSINESS BENEFIT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5166360"/>
            <a:ext cx="23774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The save motion is in the calendar before the customer calls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onsolas"/>
              </a:rPr>
              <a:t>THE COMPOUNDING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Most agentic projects ship at Tier 1 — they report, but never 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D9DDE5"/>
                </a:solidFill>
                <a:latin typeface="Calibri"/>
              </a:rPr>
              <a:t>Microsoft and Oracle together ship the full progression.
Oracle anchors the data of record where it's deployed.
Microsoft extends the worker surface where the work actually happens.
Together: the agent isn't reporting on the business — it's running parts of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12064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9525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>
                <a:solidFill>
                  <a:srgbClr val="C74634"/>
                </a:solidFill>
                <a:latin typeface="Consolas"/>
              </a:rPr>
              <a:t>ORACLE  ·  Data of record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512064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>
                <a:solidFill>
                  <a:srgbClr val="0078D4"/>
                </a:solidFill>
                <a:latin typeface="Consolas"/>
              </a:rPr>
              <a:t>MICROSOFT  ·  System of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512064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952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>
                <a:solidFill>
                  <a:srgbClr val="2DD4BF"/>
                </a:solidFill>
                <a:latin typeface="Consolas"/>
              </a:rPr>
              <a:t>AGENTIC TRANSFORMATION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